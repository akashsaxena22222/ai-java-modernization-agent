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7" d="100"/>
          <a:sy n="57" d="100"/>
        </p:scale>
        <p:origin x="592" y="3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framing. Say: this is a demo of an AI-powered agent that helps modernize legacy Java applications. Today I'll show what already works, walk through a live workflow, and then share the longer-term vision of a multi-agent platform. The visual on the right is the whole story in one picture: a legacy application goes in, the agent analyzes, plans, transforms and validates, and a modern application comes out with its business behavior preserved. Keep this slide to about 45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problem. Most enterprises still run business-critical Java on outdated runtimes and frameworks. The code is tightly coupled, the analysis is manual, and the real fear is silent regressions — something that compiles fine but behaves differently. Testing and validation then take longer than the migration itself. Land the bottom banner: modernization is a four-stage discipline — analyze, plan, transform in a controlled way, then validate. Everything else in this deck maps to those four stages.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implementation — everything on this slide exists and runs today. The user points the tool at a legacy Java project directory. It scans the project, analyzes the code and structure, identifies the Java version, frameworks and legacy concerns, and produces a modernization assessment report. The report lists the issues found, the modifications required, recommended solutions, and considerations to weigh. Stress the CURRENT STATE label: nothing here is aspirational.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demo against. Walk left to right: input is simply a legacy Java project directory. Processing is five steps — scan files, identify Java and configuration files, analyze the version and frameworks, detect legacy patterns and dependencies, then generate findings. Output is a single modernization report with project details, detected technologies, identified issues, a recommended migration approach, and the risks and dependencies. Then switch to the live application or drop screenshots into the placeholder area at the bottom.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gears here — everything from this point forward is the vision, not what is built. Explain the ambition: instead of one assessment agent, a platform of specialized agents that each do one thing well and collaborate. Walk the six principles briefly, then land the banner on traceability — for enterprise adoption, being able to explain and review every change matters as much as making it. Repeat clearly that these are design principles we are working toward.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architecture slide — take your time. Five specialized agents. Agent 1, Testing, establishes the baseline: strategy, test cases, and recorded results before anything changes. Agent 2 scans the project, versions, frameworks and dependencies. Agent 3 adds a security assessment that is reusable elsewhere. Agent 4 consumes all of those reports and produces a real migration plan with phases, blockers and a target stack. Agent 5 executes the plan — updates versions, dependencies and code, builds, fixes failures and rebuilds, always within defined safety controls. Then close on the bottom banner: the Testing Agent comes back, re-runs the baseline scenarios and compares results. A green build is not the finish line; passing validation 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top to bottom, one line each. The important point is the two teal boxes: the Testing Agent appears twice — once before migration to capture a baseline, and once after to re-run exactly the same scenarios. The comparison step between them is what turns 'it builds' into 'it still behaves correctly'. The final output is a modernization validation report that a technical lead can actually sign off on. Note on the right that each stage hands the next a structured artifact, which leads into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integration model. If agents only talk to each other in free-form messages, nothing is auditable and nothing is reusable. Instead each agent reads from and writes to a shared artifact repository — a common context layer. The ten artifacts at the bottom are the contract between agents: analysis reports, dependency inventory, security assessment, baseline strategy and results, the migration plan, the change log, build results, post-migration results, and the final validation report. This is also what gives you traceability and lets a human step in at any point.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extensibility argument. The core platform owns orchestration, shared artifacts, the agent registry and the safety controls, and exposes one standard agent interface. Anything that can read artifacts and write artifacts can be plugged in. Then point at the nine candidates — API compatibility, database and SQL, SOAP to REST, configuration, performance, observability, cloud readiness, licensing, documentation. Be explicit that these are candidates: none are built. The value is that adding any of them does not require redesigning the platform.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wins over risk-conscious stakeholders. Group the controls by when they apply: before changes, analysis is read-only, approval is explicit, and file-system access is restricted. During changes, everything is under version control with checkpoints, backups and rollback, and the build is validated. Before we call anything done, tests must pass, high-risk changes get human review, and there is a full audit trail. Nothing goes to production unverified. Finish on the dark banner: a successful compile is not proof of correctness — that is exactly why the Testing Agent exists.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honestly: these are expected benefits of the design, not measured results — I have not run this at production scale yet. The headline ones for this audience are reduced manual analysis effort, much faster assessment, structured and dependency-aware migration planning, and regression detection through baseline comparison. The extensible architecture point matters to architects: the same platform adapts to different modernization scenarios rather than being a one-off tool.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makes the sequencing explicit. Phase 1, assessment, is where we are today — scanning, static analysis, findings and the AI-assisted report all work. Phase 2 adds the specialized analysis agents, including dependency, security and testing. Phase 3 brings consolidated planning and sequencing. Phase 4 is the controlled migration itself with the build-and-fix cycle and human approval gates. Phase 5 closes the loop with re-run baseline tests and a final validation report. Note the labels under each phase: only Phase 1 is current state, everything else is future vision.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five principles, in order: analyze before modifying, plan before migrating, validate before declaring success, preserve business behavior, and build capabilities that are reusable and pluggable. Restate the split one last time — the assessment agent works today, the multi-agent platform is the direction. Then end on the line: from legacy code understanding to validated modernization. Open the floor for questions on architecture, safety controls, or where they would want to pilot this first.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6778997"/>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Left panel">
            <a:extLst>
              <a:ext uri="{C183D7F6-B498-43B3-948B-1728B52AA6E4}">
                <adec:decorative xmlns:adec="http://schemas.microsoft.com/office/drawing/2017/decorative" val="1"/>
              </a:ext>
            </a:extLst>
          </p:cNvPr>
          <p:cNvSpPr/>
          <p:nvPr/>
        </p:nvSpPr>
        <p:spPr>
          <a:xfrm>
            <a:off x="0" y="0"/>
            <a:ext cx="5074920" cy="5143500"/>
          </a:xfrm>
          <a:prstGeom prst="rect">
            <a:avLst/>
          </a:prstGeom>
          <a:solidFill>
            <a:srgbClr val="FFFFFF"/>
          </a:solidFill>
          <a:ln w="12700">
            <a:solidFill>
              <a:srgbClr val="FFFFFF"/>
            </a:solidFill>
            <a:prstDash val="solid"/>
          </a:ln>
        </p:spPr>
        <p:txBody>
          <a:bodyPr/>
          <a:lstStyle/>
          <a:p>
            <a:endParaRPr lang="en-US"/>
          </a:p>
        </p:txBody>
      </p:sp>
      <p:sp>
        <p:nvSpPr>
          <p:cNvPr id="3" name="Right navy panel">
            <a:extLst>
              <a:ext uri="{C183D7F6-B498-43B3-948B-1728B52AA6E4}">
                <adec:decorative xmlns:adec="http://schemas.microsoft.com/office/drawing/2017/decorative" val="1"/>
              </a:ext>
            </a:extLst>
          </p:cNvPr>
          <p:cNvSpPr/>
          <p:nvPr/>
        </p:nvSpPr>
        <p:spPr>
          <a:xfrm>
            <a:off x="5074920" y="0"/>
            <a:ext cx="4069080" cy="5143500"/>
          </a:xfrm>
          <a:prstGeom prst="rect">
            <a:avLst/>
          </a:prstGeom>
          <a:solidFill>
            <a:srgbClr val="0F2540"/>
          </a:solidFill>
          <a:ln w="12700">
            <a:solidFill>
              <a:srgbClr val="0F2540"/>
            </a:solidFill>
            <a:prstDash val="solid"/>
          </a:ln>
        </p:spPr>
        <p:txBody>
          <a:bodyPr/>
          <a:lstStyle/>
          <a:p>
            <a:endParaRPr lang="en-US"/>
          </a:p>
        </p:txBody>
      </p:sp>
      <p:sp>
        <p:nvSpPr>
          <p:cNvPr id="4" name="Accent rule">
            <a:extLst>
              <a:ext uri="{C183D7F6-B498-43B3-948B-1728B52AA6E4}">
                <adec:decorative xmlns:adec="http://schemas.microsoft.com/office/drawing/2017/decorative" val="1"/>
              </a:ext>
            </a:extLst>
          </p:cNvPr>
          <p:cNvSpPr/>
          <p:nvPr/>
        </p:nvSpPr>
        <p:spPr>
          <a:xfrm>
            <a:off x="640080" y="1024128"/>
            <a:ext cx="822960" cy="54864"/>
          </a:xfrm>
          <a:prstGeom prst="rect">
            <a:avLst/>
          </a:prstGeom>
          <a:solidFill>
            <a:srgbClr val="1F6FEB"/>
          </a:solidFill>
          <a:ln w="12700">
            <a:solidFill>
              <a:srgbClr val="1F6FEB"/>
            </a:solidFill>
            <a:prstDash val="solid"/>
          </a:ln>
        </p:spPr>
        <p:txBody>
          <a:bodyPr/>
          <a:lstStyle/>
          <a:p>
            <a:endParaRPr lang="en-US"/>
          </a:p>
        </p:txBody>
      </p:sp>
      <p:sp>
        <p:nvSpPr>
          <p:cNvPr id="5" name="Text 3"/>
          <p:cNvSpPr/>
          <p:nvPr/>
        </p:nvSpPr>
        <p:spPr>
          <a:xfrm>
            <a:off x="640080" y="658368"/>
            <a:ext cx="4023360" cy="274320"/>
          </a:xfrm>
          <a:prstGeom prst="rect">
            <a:avLst/>
          </a:prstGeom>
          <a:noFill/>
          <a:ln/>
        </p:spPr>
        <p:txBody>
          <a:bodyPr wrap="square" lIns="0" tIns="0" rIns="0" bIns="0" rtlCol="0" anchor="ctr"/>
          <a:lstStyle/>
          <a:p>
            <a:pPr marL="0" indent="0">
              <a:buNone/>
            </a:pPr>
            <a:r>
              <a:rPr lang="en-US" sz="1050" b="1" kern="0" spc="200" dirty="0">
                <a:solidFill>
                  <a:srgbClr val="1F6FEB"/>
                </a:solidFill>
                <a:latin typeface="Segoe UI" pitchFamily="34" charset="0"/>
                <a:ea typeface="Segoe UI" pitchFamily="34" charset="-122"/>
                <a:cs typeface="Segoe UI" pitchFamily="34" charset="-120"/>
              </a:rPr>
              <a:t>ENTERPRISE TECHNOLOGY DEMO</a:t>
            </a:r>
            <a:endParaRPr lang="en-US" sz="1050" dirty="0"/>
          </a:p>
        </p:txBody>
      </p:sp>
      <p:sp>
        <p:nvSpPr>
          <p:cNvPr id="6" name="Text 4"/>
          <p:cNvSpPr/>
          <p:nvPr/>
        </p:nvSpPr>
        <p:spPr>
          <a:xfrm>
            <a:off x="640080" y="1298448"/>
            <a:ext cx="4114800" cy="1371600"/>
          </a:xfrm>
          <a:prstGeom prst="rect">
            <a:avLst/>
          </a:prstGeom>
          <a:noFill/>
          <a:ln/>
        </p:spPr>
        <p:txBody>
          <a:bodyPr wrap="square" lIns="0" tIns="0" rIns="0" bIns="0" rtlCol="0" anchor="ctr"/>
          <a:lstStyle/>
          <a:p>
            <a:pPr marL="0" indent="0">
              <a:lnSpc>
                <a:spcPct val="105000"/>
              </a:lnSpc>
              <a:buNone/>
            </a:pPr>
            <a:r>
              <a:rPr lang="en-US" sz="3200" b="1" dirty="0">
                <a:solidFill>
                  <a:srgbClr val="0F2540"/>
                </a:solidFill>
                <a:latin typeface="Segoe UI" pitchFamily="34" charset="0"/>
                <a:ea typeface="Segoe UI" pitchFamily="34" charset="-122"/>
                <a:cs typeface="Segoe UI" pitchFamily="34" charset="-120"/>
              </a:rPr>
              <a:t>AI-Powered Java</a:t>
            </a:r>
            <a:endParaRPr lang="en-US" sz="3200" dirty="0"/>
          </a:p>
          <a:p>
            <a:pPr marL="0" indent="0">
              <a:lnSpc>
                <a:spcPct val="105000"/>
              </a:lnSpc>
              <a:buNone/>
            </a:pPr>
            <a:r>
              <a:rPr lang="en-US" sz="3200" b="1" dirty="0">
                <a:solidFill>
                  <a:srgbClr val="0F2540"/>
                </a:solidFill>
                <a:latin typeface="Segoe UI" pitchFamily="34" charset="0"/>
                <a:ea typeface="Segoe UI" pitchFamily="34" charset="-122"/>
                <a:cs typeface="Segoe UI" pitchFamily="34" charset="-120"/>
              </a:rPr>
              <a:t>Modernization Agent</a:t>
            </a:r>
            <a:endParaRPr lang="en-US" sz="3200" dirty="0"/>
          </a:p>
        </p:txBody>
      </p:sp>
      <p:sp>
        <p:nvSpPr>
          <p:cNvPr id="7" name="Text 5"/>
          <p:cNvSpPr/>
          <p:nvPr/>
        </p:nvSpPr>
        <p:spPr>
          <a:xfrm>
            <a:off x="640080" y="2788920"/>
            <a:ext cx="4114800" cy="731520"/>
          </a:xfrm>
          <a:prstGeom prst="rect">
            <a:avLst/>
          </a:prstGeom>
          <a:noFill/>
          <a:ln/>
        </p:spPr>
        <p:txBody>
          <a:bodyPr wrap="square" lIns="0" tIns="0" rIns="0" bIns="0" rtlCol="0" anchor="ctr"/>
          <a:lstStyle/>
          <a:p>
            <a:pPr marL="0" indent="0">
              <a:lnSpc>
                <a:spcPct val="120000"/>
              </a:lnSpc>
              <a:buNone/>
            </a:pPr>
            <a:r>
              <a:rPr lang="en-US" sz="1400" dirty="0">
                <a:solidFill>
                  <a:srgbClr val="44546A"/>
                </a:solidFill>
                <a:latin typeface="Segoe UI" pitchFamily="34" charset="0"/>
                <a:ea typeface="Segoe UI" pitchFamily="34" charset="-122"/>
                <a:cs typeface="Segoe UI" pitchFamily="34" charset="-120"/>
              </a:rPr>
              <a:t>From Legacy Code Analysis to Automated,</a:t>
            </a:r>
            <a:endParaRPr lang="en-US" sz="1400" dirty="0"/>
          </a:p>
          <a:p>
            <a:pPr marL="0" indent="0">
              <a:lnSpc>
                <a:spcPct val="120000"/>
              </a:lnSpc>
              <a:buNone/>
            </a:pPr>
            <a:r>
              <a:rPr lang="en-US" sz="1400" dirty="0">
                <a:solidFill>
                  <a:srgbClr val="44546A"/>
                </a:solidFill>
                <a:latin typeface="Segoe UI" pitchFamily="34" charset="0"/>
                <a:ea typeface="Segoe UI" pitchFamily="34" charset="-122"/>
                <a:cs typeface="Segoe UI" pitchFamily="34" charset="-120"/>
              </a:rPr>
              <a:t>Validated Modernization</a:t>
            </a:r>
            <a:endParaRPr lang="en-US" sz="1400" dirty="0"/>
          </a:p>
        </p:txBody>
      </p:sp>
      <p:sp>
        <p:nvSpPr>
          <p:cNvPr id="8" name="Text 6"/>
          <p:cNvSpPr/>
          <p:nvPr/>
        </p:nvSpPr>
        <p:spPr>
          <a:xfrm>
            <a:off x="640080" y="3977640"/>
            <a:ext cx="4023360" cy="548640"/>
          </a:xfrm>
          <a:prstGeom prst="rect">
            <a:avLst/>
          </a:prstGeom>
          <a:noFill/>
          <a:ln/>
        </p:spPr>
        <p:txBody>
          <a:bodyPr wrap="square" lIns="0" tIns="0" rIns="0" bIns="0" rtlCol="0" anchor="ctr"/>
          <a:lstStyle/>
          <a:p>
            <a:pPr marL="0" indent="0">
              <a:buNone/>
            </a:pPr>
            <a:r>
              <a:rPr lang="en-US" sz="950" dirty="0">
                <a:solidFill>
                  <a:srgbClr val="8A9AAC"/>
                </a:solidFill>
                <a:latin typeface="Segoe UI" pitchFamily="34" charset="0"/>
                <a:ea typeface="Segoe UI" pitchFamily="34" charset="-122"/>
                <a:cs typeface="Segoe UI" pitchFamily="34" charset="-120"/>
              </a:rPr>
              <a:t>For software architects, Java technical leads, and engineering stakeholders</a:t>
            </a:r>
            <a:endParaRPr lang="en-US" sz="950" dirty="0"/>
          </a:p>
        </p:txBody>
      </p:sp>
      <p:sp>
        <p:nvSpPr>
          <p:cNvPr id="9" name="Legacy state box">
            <a:extLst>
              <a:ext uri="{C183D7F6-B498-43B3-948B-1728B52AA6E4}">
                <adec:decorative xmlns:adec="http://schemas.microsoft.com/office/drawing/2017/decorative" val="1"/>
              </a:ext>
            </a:extLst>
          </p:cNvPr>
          <p:cNvSpPr/>
          <p:nvPr/>
        </p:nvSpPr>
        <p:spPr>
          <a:xfrm>
            <a:off x="5532120" y="868680"/>
            <a:ext cx="3154680" cy="777240"/>
          </a:xfrm>
          <a:prstGeom prst="rect">
            <a:avLst/>
          </a:prstGeom>
          <a:solidFill>
            <a:srgbClr val="1B3454"/>
          </a:solidFill>
          <a:ln w="12700">
            <a:solidFill>
              <a:srgbClr val="2F4A6E"/>
            </a:solidFill>
            <a:prstDash val="solid"/>
          </a:ln>
        </p:spPr>
        <p:txBody>
          <a:bodyPr/>
          <a:lstStyle/>
          <a:p>
            <a:endParaRPr lang="en-US"/>
          </a:p>
        </p:txBody>
      </p:sp>
      <p:sp>
        <p:nvSpPr>
          <p:cNvPr id="10" name="Text 8"/>
          <p:cNvSpPr/>
          <p:nvPr/>
        </p:nvSpPr>
        <p:spPr>
          <a:xfrm>
            <a:off x="5669280" y="932688"/>
            <a:ext cx="2880360" cy="256032"/>
          </a:xfrm>
          <a:prstGeom prst="rect">
            <a:avLst/>
          </a:prstGeom>
          <a:noFill/>
          <a:ln/>
        </p:spPr>
        <p:txBody>
          <a:bodyPr wrap="square" lIns="0" tIns="0" rIns="0" bIns="0" rtlCol="0" anchor="ctr"/>
          <a:lstStyle/>
          <a:p>
            <a:pPr marL="0" indent="0">
              <a:buNone/>
            </a:pPr>
            <a:r>
              <a:rPr lang="en-US" sz="900" b="1" kern="0" spc="100" dirty="0">
                <a:solidFill>
                  <a:srgbClr val="9DC2F5"/>
                </a:solidFill>
                <a:latin typeface="Segoe UI" pitchFamily="34" charset="0"/>
                <a:ea typeface="Segoe UI" pitchFamily="34" charset="-122"/>
                <a:cs typeface="Segoe UI" pitchFamily="34" charset="-120"/>
              </a:rPr>
              <a:t>LEGACY JAVA APPLICATION</a:t>
            </a:r>
            <a:endParaRPr lang="en-US" sz="900" dirty="0"/>
          </a:p>
        </p:txBody>
      </p:sp>
      <p:sp>
        <p:nvSpPr>
          <p:cNvPr id="11" name="Text 9"/>
          <p:cNvSpPr/>
          <p:nvPr/>
        </p:nvSpPr>
        <p:spPr>
          <a:xfrm>
            <a:off x="5669280" y="1207008"/>
            <a:ext cx="2880360" cy="365760"/>
          </a:xfrm>
          <a:prstGeom prst="rect">
            <a:avLst/>
          </a:prstGeom>
          <a:noFill/>
          <a:ln/>
        </p:spPr>
        <p:txBody>
          <a:bodyPr wrap="square" lIns="0" tIns="0" rIns="0" bIns="0" rtlCol="0" anchor="ctr"/>
          <a:lstStyle/>
          <a:p>
            <a:pPr marL="0" indent="0">
              <a:buNone/>
            </a:pPr>
            <a:r>
              <a:rPr lang="en-US" sz="900" dirty="0">
                <a:solidFill>
                  <a:srgbClr val="B9CBE2"/>
                </a:solidFill>
                <a:latin typeface="Segoe UI" pitchFamily="34" charset="0"/>
                <a:ea typeface="Segoe UI" pitchFamily="34" charset="-122"/>
                <a:cs typeface="Segoe UI" pitchFamily="34" charset="-120"/>
              </a:rPr>
              <a:t>Old runtime  ·  legacy frameworks  ·  tight coupling</a:t>
            </a:r>
            <a:endParaRPr lang="en-US" sz="900" dirty="0"/>
          </a:p>
        </p:txBody>
      </p:sp>
      <p:sp>
        <p:nvSpPr>
          <p:cNvPr id="12" name="Flow connector">
            <a:extLst>
              <a:ext uri="{C183D7F6-B498-43B3-948B-1728B52AA6E4}">
                <adec:decorative xmlns:adec="http://schemas.microsoft.com/office/drawing/2017/decorative" val="1"/>
              </a:ext>
            </a:extLst>
          </p:cNvPr>
          <p:cNvSpPr/>
          <p:nvPr/>
        </p:nvSpPr>
        <p:spPr>
          <a:xfrm>
            <a:off x="7109460" y="1691640"/>
            <a:ext cx="0" cy="384048"/>
          </a:xfrm>
          <a:prstGeom prst="line">
            <a:avLst/>
          </a:prstGeom>
          <a:noFill/>
          <a:ln w="22225">
            <a:solidFill>
              <a:srgbClr val="4E8BE8"/>
            </a:solidFill>
            <a:prstDash val="solid"/>
            <a:tailEnd type="triangle"/>
          </a:ln>
        </p:spPr>
        <p:txBody>
          <a:bodyPr/>
          <a:lstStyle/>
          <a:p>
            <a:endParaRPr lang="en-US"/>
          </a:p>
        </p:txBody>
      </p:sp>
      <p:sp>
        <p:nvSpPr>
          <p:cNvPr id="13" name="Agent box">
            <a:extLst>
              <a:ext uri="{C183D7F6-B498-43B3-948B-1728B52AA6E4}">
                <adec:decorative xmlns:adec="http://schemas.microsoft.com/office/drawing/2017/decorative" val="1"/>
              </a:ext>
            </a:extLst>
          </p:cNvPr>
          <p:cNvSpPr/>
          <p:nvPr/>
        </p:nvSpPr>
        <p:spPr>
          <a:xfrm>
            <a:off x="5532120" y="2121408"/>
            <a:ext cx="3154680" cy="914400"/>
          </a:xfrm>
          <a:prstGeom prst="rect">
            <a:avLst/>
          </a:prstGeom>
          <a:solidFill>
            <a:srgbClr val="1F6FEB"/>
          </a:solidFill>
          <a:ln w="12700">
            <a:solidFill>
              <a:srgbClr val="4E8BE8"/>
            </a:solidFill>
            <a:prstDash val="solid"/>
          </a:ln>
        </p:spPr>
        <p:txBody>
          <a:bodyPr/>
          <a:lstStyle/>
          <a:p>
            <a:endParaRPr lang="en-US"/>
          </a:p>
        </p:txBody>
      </p:sp>
      <p:sp>
        <p:nvSpPr>
          <p:cNvPr id="14" name="Text 12"/>
          <p:cNvSpPr/>
          <p:nvPr/>
        </p:nvSpPr>
        <p:spPr>
          <a:xfrm>
            <a:off x="5669280" y="2212848"/>
            <a:ext cx="2880360" cy="274320"/>
          </a:xfrm>
          <a:prstGeom prst="rect">
            <a:avLst/>
          </a:prstGeom>
          <a:noFill/>
          <a:ln/>
        </p:spPr>
        <p:txBody>
          <a:bodyPr wrap="square" lIns="0" tIns="0" rIns="0" bIns="0" rtlCol="0" anchor="ctr"/>
          <a:lstStyle/>
          <a:p>
            <a:pPr marL="0" indent="0">
              <a:buNone/>
            </a:pPr>
            <a:r>
              <a:rPr lang="en-US" sz="1000" b="1" kern="0" spc="100" dirty="0">
                <a:solidFill>
                  <a:srgbClr val="FFFFFF"/>
                </a:solidFill>
                <a:latin typeface="Segoe UI" pitchFamily="34" charset="0"/>
                <a:ea typeface="Segoe UI" pitchFamily="34" charset="-122"/>
                <a:cs typeface="Segoe UI" pitchFamily="34" charset="-120"/>
              </a:rPr>
              <a:t>AI MODERNIZATION AGENT</a:t>
            </a:r>
            <a:endParaRPr lang="en-US" sz="1000" dirty="0"/>
          </a:p>
        </p:txBody>
      </p:sp>
      <p:sp>
        <p:nvSpPr>
          <p:cNvPr id="15" name="Text 13"/>
          <p:cNvSpPr/>
          <p:nvPr/>
        </p:nvSpPr>
        <p:spPr>
          <a:xfrm>
            <a:off x="5669280" y="2542032"/>
            <a:ext cx="2880360" cy="365760"/>
          </a:xfrm>
          <a:prstGeom prst="rect">
            <a:avLst/>
          </a:prstGeom>
          <a:noFill/>
          <a:ln/>
        </p:spPr>
        <p:txBody>
          <a:bodyPr wrap="square" lIns="0" tIns="0" rIns="0" bIns="0" rtlCol="0" anchor="ctr"/>
          <a:lstStyle/>
          <a:p>
            <a:pPr marL="0" indent="0">
              <a:buNone/>
            </a:pPr>
            <a:r>
              <a:rPr lang="en-US" sz="1000" dirty="0">
                <a:solidFill>
                  <a:srgbClr val="DCEAFF"/>
                </a:solidFill>
                <a:latin typeface="Segoe UI" pitchFamily="34" charset="0"/>
                <a:ea typeface="Segoe UI" pitchFamily="34" charset="-122"/>
                <a:cs typeface="Segoe UI" pitchFamily="34" charset="-120"/>
              </a:rPr>
              <a:t>Analyze  →  Plan  →  Transform  →  Validate</a:t>
            </a:r>
            <a:endParaRPr lang="en-US" sz="1000" dirty="0"/>
          </a:p>
        </p:txBody>
      </p:sp>
      <p:sp>
        <p:nvSpPr>
          <p:cNvPr id="16" name="Flow connector">
            <a:extLst>
              <a:ext uri="{C183D7F6-B498-43B3-948B-1728B52AA6E4}">
                <adec:decorative xmlns:adec="http://schemas.microsoft.com/office/drawing/2017/decorative" val="1"/>
              </a:ext>
            </a:extLst>
          </p:cNvPr>
          <p:cNvSpPr/>
          <p:nvPr/>
        </p:nvSpPr>
        <p:spPr>
          <a:xfrm>
            <a:off x="7109460" y="3081528"/>
            <a:ext cx="0" cy="384048"/>
          </a:xfrm>
          <a:prstGeom prst="line">
            <a:avLst/>
          </a:prstGeom>
          <a:noFill/>
          <a:ln w="22225">
            <a:solidFill>
              <a:srgbClr val="4E8BE8"/>
            </a:solidFill>
            <a:prstDash val="solid"/>
            <a:tailEnd type="triangle"/>
          </a:ln>
        </p:spPr>
        <p:txBody>
          <a:bodyPr/>
          <a:lstStyle/>
          <a:p>
            <a:endParaRPr lang="en-US"/>
          </a:p>
        </p:txBody>
      </p:sp>
      <p:sp>
        <p:nvSpPr>
          <p:cNvPr id="17" name="Modern state box">
            <a:extLst>
              <a:ext uri="{C183D7F6-B498-43B3-948B-1728B52AA6E4}">
                <adec:decorative xmlns:adec="http://schemas.microsoft.com/office/drawing/2017/decorative" val="1"/>
              </a:ext>
            </a:extLst>
          </p:cNvPr>
          <p:cNvSpPr/>
          <p:nvPr/>
        </p:nvSpPr>
        <p:spPr>
          <a:xfrm>
            <a:off x="5532120" y="3511296"/>
            <a:ext cx="3154680" cy="777240"/>
          </a:xfrm>
          <a:prstGeom prst="rect">
            <a:avLst/>
          </a:prstGeom>
          <a:solidFill>
            <a:srgbClr val="10333A"/>
          </a:solidFill>
          <a:ln w="12700">
            <a:solidFill>
              <a:srgbClr val="0E8F8F"/>
            </a:solidFill>
            <a:prstDash val="solid"/>
          </a:ln>
        </p:spPr>
        <p:txBody>
          <a:bodyPr/>
          <a:lstStyle/>
          <a:p>
            <a:endParaRPr lang="en-US"/>
          </a:p>
        </p:txBody>
      </p:sp>
      <p:sp>
        <p:nvSpPr>
          <p:cNvPr id="18" name="Text 16"/>
          <p:cNvSpPr/>
          <p:nvPr/>
        </p:nvSpPr>
        <p:spPr>
          <a:xfrm>
            <a:off x="5669280" y="3575304"/>
            <a:ext cx="2880360" cy="256032"/>
          </a:xfrm>
          <a:prstGeom prst="rect">
            <a:avLst/>
          </a:prstGeom>
          <a:noFill/>
          <a:ln/>
        </p:spPr>
        <p:txBody>
          <a:bodyPr wrap="square" lIns="0" tIns="0" rIns="0" bIns="0" rtlCol="0" anchor="ctr"/>
          <a:lstStyle/>
          <a:p>
            <a:pPr marL="0" indent="0">
              <a:buNone/>
            </a:pPr>
            <a:r>
              <a:rPr lang="en-US" sz="900" b="1" kern="0" spc="100" dirty="0">
                <a:solidFill>
                  <a:srgbClr val="5FD1D1"/>
                </a:solidFill>
                <a:latin typeface="Segoe UI" pitchFamily="34" charset="0"/>
                <a:ea typeface="Segoe UI" pitchFamily="34" charset="-122"/>
                <a:cs typeface="Segoe UI" pitchFamily="34" charset="-120"/>
              </a:rPr>
              <a:t>MODERN, VALIDATED APPLICATION</a:t>
            </a:r>
            <a:endParaRPr lang="en-US" sz="900" dirty="0"/>
          </a:p>
        </p:txBody>
      </p:sp>
      <p:sp>
        <p:nvSpPr>
          <p:cNvPr id="19" name="Text 17"/>
          <p:cNvSpPr/>
          <p:nvPr/>
        </p:nvSpPr>
        <p:spPr>
          <a:xfrm>
            <a:off x="5669280" y="3849624"/>
            <a:ext cx="2880360" cy="365760"/>
          </a:xfrm>
          <a:prstGeom prst="rect">
            <a:avLst/>
          </a:prstGeom>
          <a:noFill/>
          <a:ln/>
        </p:spPr>
        <p:txBody>
          <a:bodyPr wrap="square" lIns="0" tIns="0" rIns="0" bIns="0" rtlCol="0" anchor="ctr"/>
          <a:lstStyle/>
          <a:p>
            <a:pPr marL="0" indent="0">
              <a:buNone/>
            </a:pPr>
            <a:r>
              <a:rPr lang="en-US" sz="900" dirty="0">
                <a:solidFill>
                  <a:srgbClr val="A9D8D8"/>
                </a:solidFill>
                <a:latin typeface="Segoe UI" pitchFamily="34" charset="0"/>
                <a:ea typeface="Segoe UI" pitchFamily="34" charset="-122"/>
                <a:cs typeface="Segoe UI" pitchFamily="34" charset="-120"/>
              </a:rPr>
              <a:t>Current runtime  ·  updated stack  ·  behavior preserved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F6FEB"/>
          </a:solidFill>
          <a:ln w="12700">
            <a:solidFill>
              <a:srgbClr val="1F6FEB"/>
            </a:solidFill>
            <a:prstDash val="solid"/>
          </a:ln>
        </p:spPr>
        <p:txBody>
          <a:bodyPr/>
          <a:lstStyle/>
          <a:p>
            <a:endParaRPr lang="en-US"/>
          </a:p>
        </p:txBody>
      </p:sp>
      <p:sp>
        <p:nvSpPr>
          <p:cNvPr id="3" name="Text 1"/>
          <p:cNvSpPr/>
          <p:nvPr/>
        </p:nvSpPr>
        <p:spPr>
          <a:xfrm>
            <a:off x="411480" y="237744"/>
            <a:ext cx="548640" cy="411480"/>
          </a:xfrm>
          <a:prstGeom prst="rect">
            <a:avLst/>
          </a:prstGeom>
          <a:noFill/>
          <a:ln/>
        </p:spPr>
        <p:txBody>
          <a:bodyPr wrap="square" lIns="0" tIns="0" rIns="0" bIns="0" rtlCol="0" anchor="ctr"/>
          <a:lstStyle/>
          <a:p>
            <a:pPr marL="0" indent="0">
              <a:buNone/>
            </a:pPr>
            <a:r>
              <a:rPr lang="en-US" sz="2000" b="1" dirty="0">
                <a:solidFill>
                  <a:srgbClr val="9DC2F5"/>
                </a:solidFill>
                <a:latin typeface="Segoe UI" pitchFamily="34" charset="0"/>
                <a:ea typeface="Segoe UI" pitchFamily="34" charset="-122"/>
                <a:cs typeface="Segoe UI" pitchFamily="34" charset="-120"/>
              </a:rPr>
              <a:t>02</a:t>
            </a:r>
            <a:endParaRPr lang="en-US" sz="2000" dirty="0"/>
          </a:p>
        </p:txBody>
      </p:sp>
      <p:sp>
        <p:nvSpPr>
          <p:cNvPr id="4" name="Text 2"/>
          <p:cNvSpPr/>
          <p:nvPr/>
        </p:nvSpPr>
        <p:spPr>
          <a:xfrm>
            <a:off x="960120" y="219456"/>
            <a:ext cx="7772400" cy="457200"/>
          </a:xfrm>
          <a:prstGeom prst="rect">
            <a:avLst/>
          </a:prstGeom>
          <a:noFill/>
          <a:ln/>
        </p:spPr>
        <p:txBody>
          <a:bodyPr wrap="square" lIns="0" tIns="0" rIns="0" bIns="0" rtlCol="0" anchor="ctr"/>
          <a:lstStyle/>
          <a:p>
            <a:pPr marL="0" indent="0">
              <a:buNone/>
            </a:pPr>
            <a:r>
              <a:rPr lang="en-US" sz="2400" b="1" dirty="0">
                <a:solidFill>
                  <a:srgbClr val="0F2540"/>
                </a:solidFill>
                <a:latin typeface="Segoe UI" pitchFamily="34" charset="0"/>
                <a:ea typeface="Segoe UI" pitchFamily="34" charset="-122"/>
                <a:cs typeface="Segoe UI" pitchFamily="34" charset="-120"/>
              </a:rPr>
              <a:t>Why Legacy Java Modernization Is Hard</a:t>
            </a:r>
            <a:endParaRPr lang="en-US" sz="2400" dirty="0"/>
          </a:p>
        </p:txBody>
      </p:sp>
      <p:sp>
        <p:nvSpPr>
          <p:cNvPr id="5" name="Header rule">
            <a:extLst>
              <a:ext uri="{C183D7F6-B498-43B3-948B-1728B52AA6E4}">
                <adec:decorative xmlns:adec="http://schemas.microsoft.com/office/drawing/2017/decorative" val="1"/>
              </a:ext>
            </a:extLst>
          </p:cNvPr>
          <p:cNvSpPr/>
          <p:nvPr/>
        </p:nvSpPr>
        <p:spPr>
          <a:xfrm>
            <a:off x="411480" y="768096"/>
            <a:ext cx="8321040" cy="0"/>
          </a:xfrm>
          <a:prstGeom prst="line">
            <a:avLst/>
          </a:prstGeom>
          <a:noFill/>
          <a:ln w="12700">
            <a:solidFill>
              <a:srgbClr val="D6E2F2"/>
            </a:solidFill>
            <a:prstDash val="solid"/>
          </a:ln>
        </p:spPr>
        <p:txBody>
          <a:bodyPr/>
          <a:lstStyle/>
          <a:p>
            <a:endParaRPr lang="en-US"/>
          </a:p>
        </p:txBody>
      </p:sp>
      <p:sp>
        <p:nvSpPr>
          <p:cNvPr id="6" name="Card container">
            <a:extLst>
              <a:ext uri="{C183D7F6-B498-43B3-948B-1728B52AA6E4}">
                <adec:decorative xmlns:adec="http://schemas.microsoft.com/office/drawing/2017/decorative" val="1"/>
              </a:ext>
            </a:extLst>
          </p:cNvPr>
          <p:cNvSpPr/>
          <p:nvPr/>
        </p:nvSpPr>
        <p:spPr>
          <a:xfrm>
            <a:off x="411480" y="1005840"/>
            <a:ext cx="2679192" cy="98755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7" name="Card accent">
            <a:extLst>
              <a:ext uri="{C183D7F6-B498-43B3-948B-1728B52AA6E4}">
                <adec:decorative xmlns:adec="http://schemas.microsoft.com/office/drawing/2017/decorative" val="1"/>
              </a:ext>
            </a:extLst>
          </p:cNvPr>
          <p:cNvSpPr/>
          <p:nvPr/>
        </p:nvSpPr>
        <p:spPr>
          <a:xfrm>
            <a:off x="411480" y="1005840"/>
            <a:ext cx="54864" cy="987552"/>
          </a:xfrm>
          <a:prstGeom prst="rect">
            <a:avLst/>
          </a:prstGeom>
          <a:solidFill>
            <a:srgbClr val="1F6FEB"/>
          </a:solidFill>
          <a:ln w="12700">
            <a:solidFill>
              <a:srgbClr val="1F6FEB"/>
            </a:solidFill>
            <a:prstDash val="solid"/>
          </a:ln>
        </p:spPr>
        <p:txBody>
          <a:bodyPr/>
          <a:lstStyle/>
          <a:p>
            <a:endParaRPr lang="en-US"/>
          </a:p>
        </p:txBody>
      </p:sp>
      <p:sp>
        <p:nvSpPr>
          <p:cNvPr id="8" name="Text 6"/>
          <p:cNvSpPr/>
          <p:nvPr/>
        </p:nvSpPr>
        <p:spPr>
          <a:xfrm>
            <a:off x="594360" y="1115568"/>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Outdated Java versions</a:t>
            </a:r>
            <a:endParaRPr lang="en-US" sz="1250" dirty="0"/>
          </a:p>
        </p:txBody>
      </p:sp>
      <p:sp>
        <p:nvSpPr>
          <p:cNvPr id="9" name="Text 7"/>
          <p:cNvSpPr/>
          <p:nvPr/>
        </p:nvSpPr>
        <p:spPr>
          <a:xfrm>
            <a:off x="594360" y="1426464"/>
            <a:ext cx="2359152" cy="45720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Runtimes past end of support</a:t>
            </a:r>
            <a:endParaRPr lang="en-US" sz="950" dirty="0"/>
          </a:p>
        </p:txBody>
      </p:sp>
      <p:sp>
        <p:nvSpPr>
          <p:cNvPr id="10" name="Card container">
            <a:extLst>
              <a:ext uri="{C183D7F6-B498-43B3-948B-1728B52AA6E4}">
                <adec:decorative xmlns:adec="http://schemas.microsoft.com/office/drawing/2017/decorative" val="1"/>
              </a:ext>
            </a:extLst>
          </p:cNvPr>
          <p:cNvSpPr/>
          <p:nvPr/>
        </p:nvSpPr>
        <p:spPr>
          <a:xfrm>
            <a:off x="3227832" y="1005840"/>
            <a:ext cx="2679192" cy="98755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11" name="Card accent">
            <a:extLst>
              <a:ext uri="{C183D7F6-B498-43B3-948B-1728B52AA6E4}">
                <adec:decorative xmlns:adec="http://schemas.microsoft.com/office/drawing/2017/decorative" val="1"/>
              </a:ext>
            </a:extLst>
          </p:cNvPr>
          <p:cNvSpPr/>
          <p:nvPr/>
        </p:nvSpPr>
        <p:spPr>
          <a:xfrm>
            <a:off x="3227832" y="1005840"/>
            <a:ext cx="54864" cy="987552"/>
          </a:xfrm>
          <a:prstGeom prst="rect">
            <a:avLst/>
          </a:prstGeom>
          <a:solidFill>
            <a:srgbClr val="0B4AA2"/>
          </a:solidFill>
          <a:ln w="12700">
            <a:solidFill>
              <a:srgbClr val="0B4AA2"/>
            </a:solidFill>
            <a:prstDash val="solid"/>
          </a:ln>
        </p:spPr>
        <p:txBody>
          <a:bodyPr/>
          <a:lstStyle/>
          <a:p>
            <a:endParaRPr lang="en-US"/>
          </a:p>
        </p:txBody>
      </p:sp>
      <p:sp>
        <p:nvSpPr>
          <p:cNvPr id="12" name="Text 10"/>
          <p:cNvSpPr/>
          <p:nvPr/>
        </p:nvSpPr>
        <p:spPr>
          <a:xfrm>
            <a:off x="3410712" y="1115568"/>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Legacy frameworks</a:t>
            </a:r>
            <a:endParaRPr lang="en-US" sz="1250" dirty="0"/>
          </a:p>
        </p:txBody>
      </p:sp>
      <p:sp>
        <p:nvSpPr>
          <p:cNvPr id="13" name="Text 11"/>
          <p:cNvSpPr/>
          <p:nvPr/>
        </p:nvSpPr>
        <p:spPr>
          <a:xfrm>
            <a:off x="3410712" y="1426464"/>
            <a:ext cx="2359152" cy="45720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Old libraries and dependencies</a:t>
            </a:r>
            <a:endParaRPr lang="en-US" sz="950" dirty="0"/>
          </a:p>
        </p:txBody>
      </p:sp>
      <p:sp>
        <p:nvSpPr>
          <p:cNvPr id="14" name="Card container">
            <a:extLst>
              <a:ext uri="{C183D7F6-B498-43B3-948B-1728B52AA6E4}">
                <adec:decorative xmlns:adec="http://schemas.microsoft.com/office/drawing/2017/decorative" val="1"/>
              </a:ext>
            </a:extLst>
          </p:cNvPr>
          <p:cNvSpPr/>
          <p:nvPr/>
        </p:nvSpPr>
        <p:spPr>
          <a:xfrm>
            <a:off x="6044184" y="1005840"/>
            <a:ext cx="2679192" cy="98755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15" name="Card accent">
            <a:extLst>
              <a:ext uri="{C183D7F6-B498-43B3-948B-1728B52AA6E4}">
                <adec:decorative xmlns:adec="http://schemas.microsoft.com/office/drawing/2017/decorative" val="1"/>
              </a:ext>
            </a:extLst>
          </p:cNvPr>
          <p:cNvSpPr/>
          <p:nvPr/>
        </p:nvSpPr>
        <p:spPr>
          <a:xfrm>
            <a:off x="6044184" y="1005840"/>
            <a:ext cx="54864" cy="987552"/>
          </a:xfrm>
          <a:prstGeom prst="rect">
            <a:avLst/>
          </a:prstGeom>
          <a:solidFill>
            <a:srgbClr val="1F6FEB"/>
          </a:solidFill>
          <a:ln w="12700">
            <a:solidFill>
              <a:srgbClr val="1F6FEB"/>
            </a:solidFill>
            <a:prstDash val="solid"/>
          </a:ln>
        </p:spPr>
        <p:txBody>
          <a:bodyPr/>
          <a:lstStyle/>
          <a:p>
            <a:endParaRPr lang="en-US"/>
          </a:p>
        </p:txBody>
      </p:sp>
      <p:sp>
        <p:nvSpPr>
          <p:cNvPr id="16" name="Text 14"/>
          <p:cNvSpPr/>
          <p:nvPr/>
        </p:nvSpPr>
        <p:spPr>
          <a:xfrm>
            <a:off x="6227064" y="1115568"/>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Tightly coupled code</a:t>
            </a:r>
            <a:endParaRPr lang="en-US" sz="1250" dirty="0"/>
          </a:p>
        </p:txBody>
      </p:sp>
      <p:sp>
        <p:nvSpPr>
          <p:cNvPr id="17" name="Text 15"/>
          <p:cNvSpPr/>
          <p:nvPr/>
        </p:nvSpPr>
        <p:spPr>
          <a:xfrm>
            <a:off x="6227064" y="1426464"/>
            <a:ext cx="2359152" cy="45720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Complex, hard-to-isolate modules</a:t>
            </a:r>
            <a:endParaRPr lang="en-US" sz="950" dirty="0"/>
          </a:p>
        </p:txBody>
      </p:sp>
      <p:sp>
        <p:nvSpPr>
          <p:cNvPr id="18" name="Card container">
            <a:extLst>
              <a:ext uri="{C183D7F6-B498-43B3-948B-1728B52AA6E4}">
                <adec:decorative xmlns:adec="http://schemas.microsoft.com/office/drawing/2017/decorative" val="1"/>
              </a:ext>
            </a:extLst>
          </p:cNvPr>
          <p:cNvSpPr/>
          <p:nvPr/>
        </p:nvSpPr>
        <p:spPr>
          <a:xfrm>
            <a:off x="411480" y="2157984"/>
            <a:ext cx="2679192" cy="98755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19" name="Card accent">
            <a:extLst>
              <a:ext uri="{C183D7F6-B498-43B3-948B-1728B52AA6E4}">
                <adec:decorative xmlns:adec="http://schemas.microsoft.com/office/drawing/2017/decorative" val="1"/>
              </a:ext>
            </a:extLst>
          </p:cNvPr>
          <p:cNvSpPr/>
          <p:nvPr/>
        </p:nvSpPr>
        <p:spPr>
          <a:xfrm>
            <a:off x="411480" y="2157984"/>
            <a:ext cx="54864" cy="987552"/>
          </a:xfrm>
          <a:prstGeom prst="rect">
            <a:avLst/>
          </a:prstGeom>
          <a:solidFill>
            <a:srgbClr val="0B4AA2"/>
          </a:solidFill>
          <a:ln w="12700">
            <a:solidFill>
              <a:srgbClr val="0B4AA2"/>
            </a:solidFill>
            <a:prstDash val="solid"/>
          </a:ln>
        </p:spPr>
        <p:txBody>
          <a:bodyPr/>
          <a:lstStyle/>
          <a:p>
            <a:endParaRPr lang="en-US"/>
          </a:p>
        </p:txBody>
      </p:sp>
      <p:sp>
        <p:nvSpPr>
          <p:cNvPr id="20" name="Text 18"/>
          <p:cNvSpPr/>
          <p:nvPr/>
        </p:nvSpPr>
        <p:spPr>
          <a:xfrm>
            <a:off x="594360" y="2267712"/>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Manual analysis</a:t>
            </a:r>
            <a:endParaRPr lang="en-US" sz="1250" dirty="0"/>
          </a:p>
        </p:txBody>
      </p:sp>
      <p:sp>
        <p:nvSpPr>
          <p:cNvPr id="21" name="Text 19"/>
          <p:cNvSpPr/>
          <p:nvPr/>
        </p:nvSpPr>
        <p:spPr>
          <a:xfrm>
            <a:off x="594360" y="2578608"/>
            <a:ext cx="2359152" cy="45720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Dependency and code review by hand</a:t>
            </a:r>
            <a:endParaRPr lang="en-US" sz="950" dirty="0"/>
          </a:p>
        </p:txBody>
      </p:sp>
      <p:sp>
        <p:nvSpPr>
          <p:cNvPr id="22" name="Card container">
            <a:extLst>
              <a:ext uri="{C183D7F6-B498-43B3-948B-1728B52AA6E4}">
                <adec:decorative xmlns:adec="http://schemas.microsoft.com/office/drawing/2017/decorative" val="1"/>
              </a:ext>
            </a:extLst>
          </p:cNvPr>
          <p:cNvSpPr/>
          <p:nvPr/>
        </p:nvSpPr>
        <p:spPr>
          <a:xfrm>
            <a:off x="3227832" y="2157984"/>
            <a:ext cx="2679192" cy="98755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23" name="Card accent">
            <a:extLst>
              <a:ext uri="{C183D7F6-B498-43B3-948B-1728B52AA6E4}">
                <adec:decorative xmlns:adec="http://schemas.microsoft.com/office/drawing/2017/decorative" val="1"/>
              </a:ext>
            </a:extLst>
          </p:cNvPr>
          <p:cNvSpPr/>
          <p:nvPr/>
        </p:nvSpPr>
        <p:spPr>
          <a:xfrm>
            <a:off x="3227832" y="2157984"/>
            <a:ext cx="54864" cy="987552"/>
          </a:xfrm>
          <a:prstGeom prst="rect">
            <a:avLst/>
          </a:prstGeom>
          <a:solidFill>
            <a:srgbClr val="1F6FEB"/>
          </a:solidFill>
          <a:ln w="12700">
            <a:solidFill>
              <a:srgbClr val="1F6FEB"/>
            </a:solidFill>
            <a:prstDash val="solid"/>
          </a:ln>
        </p:spPr>
        <p:txBody>
          <a:bodyPr/>
          <a:lstStyle/>
          <a:p>
            <a:endParaRPr lang="en-US"/>
          </a:p>
        </p:txBody>
      </p:sp>
      <p:sp>
        <p:nvSpPr>
          <p:cNvPr id="24" name="Text 22"/>
          <p:cNvSpPr/>
          <p:nvPr/>
        </p:nvSpPr>
        <p:spPr>
          <a:xfrm>
            <a:off x="3410712" y="2267712"/>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Regression risk</a:t>
            </a:r>
            <a:endParaRPr lang="en-US" sz="1250" dirty="0"/>
          </a:p>
        </p:txBody>
      </p:sp>
      <p:sp>
        <p:nvSpPr>
          <p:cNvPr id="25" name="Text 23"/>
          <p:cNvSpPr/>
          <p:nvPr/>
        </p:nvSpPr>
        <p:spPr>
          <a:xfrm>
            <a:off x="3410712" y="2578608"/>
            <a:ext cx="2359152" cy="45720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Functional behavior easily broken</a:t>
            </a:r>
            <a:endParaRPr lang="en-US" sz="950" dirty="0"/>
          </a:p>
        </p:txBody>
      </p:sp>
      <p:sp>
        <p:nvSpPr>
          <p:cNvPr id="26" name="Card container">
            <a:extLst>
              <a:ext uri="{C183D7F6-B498-43B3-948B-1728B52AA6E4}">
                <adec:decorative xmlns:adec="http://schemas.microsoft.com/office/drawing/2017/decorative" val="1"/>
              </a:ext>
            </a:extLst>
          </p:cNvPr>
          <p:cNvSpPr/>
          <p:nvPr/>
        </p:nvSpPr>
        <p:spPr>
          <a:xfrm>
            <a:off x="6044184" y="2157984"/>
            <a:ext cx="2679192" cy="98755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27" name="Card accent">
            <a:extLst>
              <a:ext uri="{C183D7F6-B498-43B3-948B-1728B52AA6E4}">
                <adec:decorative xmlns:adec="http://schemas.microsoft.com/office/drawing/2017/decorative" val="1"/>
              </a:ext>
            </a:extLst>
          </p:cNvPr>
          <p:cNvSpPr/>
          <p:nvPr/>
        </p:nvSpPr>
        <p:spPr>
          <a:xfrm>
            <a:off x="6044184" y="2157984"/>
            <a:ext cx="54864" cy="987552"/>
          </a:xfrm>
          <a:prstGeom prst="rect">
            <a:avLst/>
          </a:prstGeom>
          <a:solidFill>
            <a:srgbClr val="0B4AA2"/>
          </a:solidFill>
          <a:ln w="12700">
            <a:solidFill>
              <a:srgbClr val="0B4AA2"/>
            </a:solidFill>
            <a:prstDash val="solid"/>
          </a:ln>
        </p:spPr>
        <p:txBody>
          <a:bodyPr/>
          <a:lstStyle/>
          <a:p>
            <a:endParaRPr lang="en-US"/>
          </a:p>
        </p:txBody>
      </p:sp>
      <p:sp>
        <p:nvSpPr>
          <p:cNvPr id="28" name="Text 26"/>
          <p:cNvSpPr/>
          <p:nvPr/>
        </p:nvSpPr>
        <p:spPr>
          <a:xfrm>
            <a:off x="6227064" y="2267712"/>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Slow validation</a:t>
            </a:r>
            <a:endParaRPr lang="en-US" sz="1250" dirty="0"/>
          </a:p>
        </p:txBody>
      </p:sp>
      <p:sp>
        <p:nvSpPr>
          <p:cNvPr id="29" name="Text 27"/>
          <p:cNvSpPr/>
          <p:nvPr/>
        </p:nvSpPr>
        <p:spPr>
          <a:xfrm>
            <a:off x="6227064" y="2578608"/>
            <a:ext cx="2359152" cy="45720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Testing and verification take weeks</a:t>
            </a:r>
            <a:endParaRPr lang="en-US" sz="950" dirty="0"/>
          </a:p>
        </p:txBody>
      </p:sp>
      <p:sp>
        <p:nvSpPr>
          <p:cNvPr id="30" name="Summary banner">
            <a:extLst>
              <a:ext uri="{C183D7F6-B498-43B3-948B-1728B52AA6E4}">
                <adec:decorative xmlns:adec="http://schemas.microsoft.com/office/drawing/2017/decorative" val="1"/>
              </a:ext>
            </a:extLst>
          </p:cNvPr>
          <p:cNvSpPr/>
          <p:nvPr/>
        </p:nvSpPr>
        <p:spPr>
          <a:xfrm>
            <a:off x="411480" y="3401568"/>
            <a:ext cx="8321040" cy="868680"/>
          </a:xfrm>
          <a:prstGeom prst="rect">
            <a:avLst/>
          </a:prstGeom>
          <a:solidFill>
            <a:srgbClr val="EAF2FD"/>
          </a:solidFill>
          <a:ln w="12700">
            <a:solidFill>
              <a:srgbClr val="1F6FEB"/>
            </a:solidFill>
            <a:prstDash val="solid"/>
          </a:ln>
        </p:spPr>
        <p:txBody>
          <a:bodyPr/>
          <a:lstStyle/>
          <a:p>
            <a:endParaRPr lang="en-US"/>
          </a:p>
        </p:txBody>
      </p:sp>
      <p:sp>
        <p:nvSpPr>
          <p:cNvPr id="31" name="Text 29"/>
          <p:cNvSpPr/>
          <p:nvPr/>
        </p:nvSpPr>
        <p:spPr>
          <a:xfrm>
            <a:off x="640080" y="3520440"/>
            <a:ext cx="7863840" cy="274320"/>
          </a:xfrm>
          <a:prstGeom prst="rect">
            <a:avLst/>
          </a:prstGeom>
          <a:noFill/>
          <a:ln/>
        </p:spPr>
        <p:txBody>
          <a:bodyPr wrap="square" lIns="0" tIns="0" rIns="0" bIns="0" rtlCol="0" anchor="ctr"/>
          <a:lstStyle/>
          <a:p>
            <a:pPr marL="0" indent="0">
              <a:buNone/>
            </a:pPr>
            <a:r>
              <a:rPr lang="en-US" sz="1300" b="1" dirty="0">
                <a:solidFill>
                  <a:srgbClr val="0F2540"/>
                </a:solidFill>
                <a:latin typeface="Segoe UI" pitchFamily="34" charset="0"/>
                <a:ea typeface="Segoe UI" pitchFamily="34" charset="-122"/>
                <a:cs typeface="Segoe UI" pitchFamily="34" charset="-120"/>
              </a:rPr>
              <a:t>Preserving existing business behavior is the hardest constraint of all</a:t>
            </a:r>
            <a:endParaRPr lang="en-US" sz="1300" dirty="0"/>
          </a:p>
        </p:txBody>
      </p:sp>
      <p:sp>
        <p:nvSpPr>
          <p:cNvPr id="32" name="Text 30"/>
          <p:cNvSpPr/>
          <p:nvPr/>
        </p:nvSpPr>
        <p:spPr>
          <a:xfrm>
            <a:off x="640080" y="3840480"/>
            <a:ext cx="7863840" cy="292608"/>
          </a:xfrm>
          <a:prstGeom prst="rect">
            <a:avLst/>
          </a:prstGeom>
          <a:noFill/>
          <a:ln/>
        </p:spPr>
        <p:txBody>
          <a:bodyPr wrap="square" lIns="0" tIns="0" rIns="0" bIns="0" rtlCol="0" anchor="ctr"/>
          <a:lstStyle/>
          <a:p>
            <a:pPr marL="0" indent="0">
              <a:buNone/>
            </a:pPr>
            <a:r>
              <a:rPr lang="en-US" sz="1100" dirty="0">
                <a:solidFill>
                  <a:srgbClr val="0B4AA2"/>
                </a:solidFill>
                <a:latin typeface="Segoe UI" pitchFamily="34" charset="0"/>
                <a:ea typeface="Segoe UI" pitchFamily="34" charset="-122"/>
                <a:cs typeface="Segoe UI" pitchFamily="34" charset="-120"/>
              </a:rPr>
              <a:t>Modernization is not just code change — it requires Analysis  →  Planning  →  Controlled Transformation  →  Validation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F6FEB"/>
          </a:solidFill>
          <a:ln w="12700">
            <a:solidFill>
              <a:srgbClr val="1F6FEB"/>
            </a:solidFill>
            <a:prstDash val="solid"/>
          </a:ln>
        </p:spPr>
        <p:txBody>
          <a:bodyPr/>
          <a:lstStyle/>
          <a:p>
            <a:endParaRPr lang="en-US"/>
          </a:p>
        </p:txBody>
      </p:sp>
      <p:sp>
        <p:nvSpPr>
          <p:cNvPr id="3" name="Text 1"/>
          <p:cNvSpPr/>
          <p:nvPr/>
        </p:nvSpPr>
        <p:spPr>
          <a:xfrm>
            <a:off x="411480" y="237744"/>
            <a:ext cx="548640" cy="411480"/>
          </a:xfrm>
          <a:prstGeom prst="rect">
            <a:avLst/>
          </a:prstGeom>
          <a:noFill/>
          <a:ln/>
        </p:spPr>
        <p:txBody>
          <a:bodyPr wrap="square" lIns="0" tIns="0" rIns="0" bIns="0" rtlCol="0" anchor="ctr"/>
          <a:lstStyle/>
          <a:p>
            <a:pPr marL="0" indent="0">
              <a:buNone/>
            </a:pPr>
            <a:r>
              <a:rPr lang="en-US" sz="2000" b="1" dirty="0">
                <a:solidFill>
                  <a:srgbClr val="9DC2F5"/>
                </a:solidFill>
                <a:latin typeface="Segoe UI" pitchFamily="34" charset="0"/>
                <a:ea typeface="Segoe UI" pitchFamily="34" charset="-122"/>
                <a:cs typeface="Segoe UI" pitchFamily="34" charset="-120"/>
              </a:rPr>
              <a:t>03</a:t>
            </a:r>
            <a:endParaRPr lang="en-US" sz="2000" dirty="0"/>
          </a:p>
        </p:txBody>
      </p:sp>
      <p:sp>
        <p:nvSpPr>
          <p:cNvPr id="4" name="Text 2"/>
          <p:cNvSpPr/>
          <p:nvPr/>
        </p:nvSpPr>
        <p:spPr>
          <a:xfrm>
            <a:off x="960120" y="219456"/>
            <a:ext cx="5669280" cy="457200"/>
          </a:xfrm>
          <a:prstGeom prst="rect">
            <a:avLst/>
          </a:prstGeom>
          <a:noFill/>
          <a:ln/>
        </p:spPr>
        <p:txBody>
          <a:bodyPr wrap="square" lIns="0" tIns="0" rIns="0" bIns="0" rtlCol="0" anchor="ctr"/>
          <a:lstStyle/>
          <a:p>
            <a:pPr marL="0" indent="0">
              <a:buNone/>
            </a:pPr>
            <a:r>
              <a:rPr lang="en-US" sz="2400" b="1" dirty="0">
                <a:solidFill>
                  <a:srgbClr val="0F2540"/>
                </a:solidFill>
                <a:latin typeface="Segoe UI" pitchFamily="34" charset="0"/>
                <a:ea typeface="Segoe UI" pitchFamily="34" charset="-122"/>
                <a:cs typeface="Segoe UI" pitchFamily="34" charset="-120"/>
              </a:rPr>
              <a:t>What Is Working Today</a:t>
            </a:r>
            <a:endParaRPr lang="en-US" sz="2400" dirty="0"/>
          </a:p>
        </p:txBody>
      </p:sp>
      <p:sp>
        <p:nvSpPr>
          <p:cNvPr id="5" name="State label chip">
            <a:extLst>
              <a:ext uri="{C183D7F6-B498-43B3-948B-1728B52AA6E4}">
                <adec:decorative xmlns:adec="http://schemas.microsoft.com/office/drawing/2017/decorative" val="1"/>
              </a:ext>
            </a:extLst>
          </p:cNvPr>
          <p:cNvSpPr/>
          <p:nvPr/>
        </p:nvSpPr>
        <p:spPr>
          <a:xfrm>
            <a:off x="6812280" y="274320"/>
            <a:ext cx="1920240" cy="347472"/>
          </a:xfrm>
          <a:prstGeom prst="rect">
            <a:avLst/>
          </a:prstGeom>
          <a:solidFill>
            <a:srgbClr val="EAF2FD"/>
          </a:solidFill>
          <a:ln w="12700">
            <a:solidFill>
              <a:srgbClr val="1F6FEB"/>
            </a:solidFill>
            <a:prstDash val="solid"/>
          </a:ln>
        </p:spPr>
        <p:txBody>
          <a:bodyPr/>
          <a:lstStyle/>
          <a:p>
            <a:endParaRPr lang="en-US"/>
          </a:p>
        </p:txBody>
      </p:sp>
      <p:sp>
        <p:nvSpPr>
          <p:cNvPr id="6" name="Text 4"/>
          <p:cNvSpPr/>
          <p:nvPr/>
        </p:nvSpPr>
        <p:spPr>
          <a:xfrm>
            <a:off x="6812280" y="274320"/>
            <a:ext cx="1920240" cy="347472"/>
          </a:xfrm>
          <a:prstGeom prst="rect">
            <a:avLst/>
          </a:prstGeom>
          <a:noFill/>
          <a:ln/>
        </p:spPr>
        <p:txBody>
          <a:bodyPr wrap="square" lIns="0" tIns="0" rIns="0" bIns="0" rtlCol="0" anchor="ctr"/>
          <a:lstStyle/>
          <a:p>
            <a:pPr marL="0" indent="0" algn="ctr">
              <a:buNone/>
            </a:pPr>
            <a:r>
              <a:rPr lang="en-US" sz="1000" b="1" kern="0" spc="150" dirty="0">
                <a:solidFill>
                  <a:srgbClr val="0B4AA2"/>
                </a:solidFill>
                <a:latin typeface="Segoe UI" pitchFamily="34" charset="0"/>
                <a:ea typeface="Segoe UI" pitchFamily="34" charset="-122"/>
                <a:cs typeface="Segoe UI" pitchFamily="34" charset="-120"/>
              </a:rPr>
              <a:t>CURRENT STATE</a:t>
            </a:r>
            <a:endParaRPr lang="en-US" sz="1000" dirty="0"/>
          </a:p>
        </p:txBody>
      </p:sp>
      <p:sp>
        <p:nvSpPr>
          <p:cNvPr id="7" name="Header rule">
            <a:extLst>
              <a:ext uri="{C183D7F6-B498-43B3-948B-1728B52AA6E4}">
                <adec:decorative xmlns:adec="http://schemas.microsoft.com/office/drawing/2017/decorative" val="1"/>
              </a:ext>
            </a:extLst>
          </p:cNvPr>
          <p:cNvSpPr/>
          <p:nvPr/>
        </p:nvSpPr>
        <p:spPr>
          <a:xfrm>
            <a:off x="411480" y="768096"/>
            <a:ext cx="8321040" cy="0"/>
          </a:xfrm>
          <a:prstGeom prst="line">
            <a:avLst/>
          </a:prstGeom>
          <a:noFill/>
          <a:ln w="12700">
            <a:solidFill>
              <a:srgbClr val="D6E2F2"/>
            </a:solidFill>
            <a:prstDash val="solid"/>
          </a:ln>
        </p:spPr>
        <p:txBody>
          <a:bodyPr/>
          <a:lstStyle/>
          <a:p>
            <a:endParaRPr lang="en-US"/>
          </a:p>
        </p:txBody>
      </p:sp>
      <p:sp>
        <p:nvSpPr>
          <p:cNvPr id="8" name="Flow step box">
            <a:extLst>
              <a:ext uri="{C183D7F6-B498-43B3-948B-1728B52AA6E4}">
                <adec:decorative xmlns:adec="http://schemas.microsoft.com/office/drawing/2017/decorative" val="1"/>
              </a:ext>
            </a:extLst>
          </p:cNvPr>
          <p:cNvSpPr/>
          <p:nvPr/>
        </p:nvSpPr>
        <p:spPr>
          <a:xfrm>
            <a:off x="548640" y="960120"/>
            <a:ext cx="2331720" cy="530352"/>
          </a:xfrm>
          <a:prstGeom prst="rect">
            <a:avLst/>
          </a:prstGeom>
          <a:solidFill>
            <a:srgbClr val="EAF2FD"/>
          </a:solidFill>
          <a:ln w="12700">
            <a:solidFill>
              <a:srgbClr val="1F6FEB"/>
            </a:solidFill>
            <a:prstDash val="solid"/>
          </a:ln>
        </p:spPr>
        <p:txBody>
          <a:bodyPr/>
          <a:lstStyle/>
          <a:p>
            <a:endParaRPr lang="en-US"/>
          </a:p>
        </p:txBody>
      </p:sp>
      <p:sp>
        <p:nvSpPr>
          <p:cNvPr id="9" name="Text 7"/>
          <p:cNvSpPr/>
          <p:nvPr/>
        </p:nvSpPr>
        <p:spPr>
          <a:xfrm>
            <a:off x="658368" y="960120"/>
            <a:ext cx="2112264" cy="530352"/>
          </a:xfrm>
          <a:prstGeom prst="rect">
            <a:avLst/>
          </a:prstGeom>
          <a:noFill/>
          <a:ln/>
        </p:spPr>
        <p:txBody>
          <a:bodyPr wrap="square" lIns="0" tIns="0" rIns="0" bIns="0" rtlCol="0" anchor="ctr"/>
          <a:lstStyle/>
          <a:p>
            <a:pPr marL="0" indent="0" algn="ctr">
              <a:buNone/>
            </a:pPr>
            <a:r>
              <a:rPr lang="en-US" sz="1100" b="1" dirty="0">
                <a:solidFill>
                  <a:srgbClr val="0F2540"/>
                </a:solidFill>
                <a:latin typeface="Segoe UI" pitchFamily="34" charset="0"/>
                <a:ea typeface="Segoe UI" pitchFamily="34" charset="-122"/>
                <a:cs typeface="Segoe UI" pitchFamily="34" charset="-120"/>
              </a:rPr>
              <a:t>1. Legacy Code Path</a:t>
            </a:r>
            <a:endParaRPr lang="en-US" sz="1100" dirty="0"/>
          </a:p>
        </p:txBody>
      </p:sp>
      <p:sp>
        <p:nvSpPr>
          <p:cNvPr id="10" name="Text 8"/>
          <p:cNvSpPr/>
          <p:nvPr/>
        </p:nvSpPr>
        <p:spPr>
          <a:xfrm>
            <a:off x="3063240" y="960120"/>
            <a:ext cx="2286000" cy="530352"/>
          </a:xfrm>
          <a:prstGeom prst="rect">
            <a:avLst/>
          </a:prstGeom>
          <a:noFill/>
          <a:ln/>
        </p:spPr>
        <p:txBody>
          <a:bodyPr wrap="square" lIns="0" tIns="0" rIns="0" bIns="0" rtlCol="0" anchor="ctr"/>
          <a:lstStyle/>
          <a:p>
            <a:pPr marL="0" indent="0">
              <a:buNone/>
            </a:pPr>
            <a:r>
              <a:rPr lang="en-US" sz="900" dirty="0">
                <a:solidFill>
                  <a:srgbClr val="44546A"/>
                </a:solidFill>
                <a:latin typeface="Segoe UI" pitchFamily="34" charset="0"/>
                <a:ea typeface="Segoe UI" pitchFamily="34" charset="-122"/>
                <a:cs typeface="Segoe UI" pitchFamily="34" charset="-120"/>
              </a:rPr>
              <a:t>User provides project directory</a:t>
            </a:r>
            <a:endParaRPr lang="en-US" sz="900" dirty="0"/>
          </a:p>
        </p:txBody>
      </p:sp>
      <p:sp>
        <p:nvSpPr>
          <p:cNvPr id="11" name="Flow connector">
            <a:extLst>
              <a:ext uri="{C183D7F6-B498-43B3-948B-1728B52AA6E4}">
                <adec:decorative xmlns:adec="http://schemas.microsoft.com/office/drawing/2017/decorative" val="1"/>
              </a:ext>
            </a:extLst>
          </p:cNvPr>
          <p:cNvSpPr/>
          <p:nvPr/>
        </p:nvSpPr>
        <p:spPr>
          <a:xfrm>
            <a:off x="1714500" y="1490472"/>
            <a:ext cx="0" cy="192024"/>
          </a:xfrm>
          <a:prstGeom prst="line">
            <a:avLst/>
          </a:prstGeom>
          <a:noFill/>
          <a:ln w="22225">
            <a:solidFill>
              <a:srgbClr val="1F6FEB"/>
            </a:solidFill>
            <a:prstDash val="solid"/>
            <a:tailEnd type="triangle"/>
          </a:ln>
        </p:spPr>
        <p:txBody>
          <a:bodyPr/>
          <a:lstStyle/>
          <a:p>
            <a:endParaRPr lang="en-US"/>
          </a:p>
        </p:txBody>
      </p:sp>
      <p:sp>
        <p:nvSpPr>
          <p:cNvPr id="12" name="Flow step box">
            <a:extLst>
              <a:ext uri="{C183D7F6-B498-43B3-948B-1728B52AA6E4}">
                <adec:decorative xmlns:adec="http://schemas.microsoft.com/office/drawing/2017/decorative" val="1"/>
              </a:ext>
            </a:extLst>
          </p:cNvPr>
          <p:cNvSpPr/>
          <p:nvPr/>
        </p:nvSpPr>
        <p:spPr>
          <a:xfrm>
            <a:off x="548640" y="1682496"/>
            <a:ext cx="2331720" cy="530352"/>
          </a:xfrm>
          <a:prstGeom prst="rect">
            <a:avLst/>
          </a:prstGeom>
          <a:solidFill>
            <a:srgbClr val="EAF2FD"/>
          </a:solidFill>
          <a:ln w="12700">
            <a:solidFill>
              <a:srgbClr val="1F6FEB"/>
            </a:solidFill>
            <a:prstDash val="solid"/>
          </a:ln>
        </p:spPr>
        <p:txBody>
          <a:bodyPr/>
          <a:lstStyle/>
          <a:p>
            <a:endParaRPr lang="en-US"/>
          </a:p>
        </p:txBody>
      </p:sp>
      <p:sp>
        <p:nvSpPr>
          <p:cNvPr id="13" name="Text 11"/>
          <p:cNvSpPr/>
          <p:nvPr/>
        </p:nvSpPr>
        <p:spPr>
          <a:xfrm>
            <a:off x="658368" y="1682496"/>
            <a:ext cx="2112264" cy="530352"/>
          </a:xfrm>
          <a:prstGeom prst="rect">
            <a:avLst/>
          </a:prstGeom>
          <a:noFill/>
          <a:ln/>
        </p:spPr>
        <p:txBody>
          <a:bodyPr wrap="square" lIns="0" tIns="0" rIns="0" bIns="0" rtlCol="0" anchor="ctr"/>
          <a:lstStyle/>
          <a:p>
            <a:pPr marL="0" indent="0" algn="ctr">
              <a:buNone/>
            </a:pPr>
            <a:r>
              <a:rPr lang="en-US" sz="1100" b="1" dirty="0">
                <a:solidFill>
                  <a:srgbClr val="0F2540"/>
                </a:solidFill>
                <a:latin typeface="Segoe UI" pitchFamily="34" charset="0"/>
                <a:ea typeface="Segoe UI" pitchFamily="34" charset="-122"/>
                <a:cs typeface="Segoe UI" pitchFamily="34" charset="-120"/>
              </a:rPr>
              <a:t>2. Project Scanner</a:t>
            </a:r>
            <a:endParaRPr lang="en-US" sz="1100" dirty="0"/>
          </a:p>
        </p:txBody>
      </p:sp>
      <p:sp>
        <p:nvSpPr>
          <p:cNvPr id="14" name="Text 12"/>
          <p:cNvSpPr/>
          <p:nvPr/>
        </p:nvSpPr>
        <p:spPr>
          <a:xfrm>
            <a:off x="3063240" y="1682496"/>
            <a:ext cx="2286000" cy="530352"/>
          </a:xfrm>
          <a:prstGeom prst="rect">
            <a:avLst/>
          </a:prstGeom>
          <a:noFill/>
          <a:ln/>
        </p:spPr>
        <p:txBody>
          <a:bodyPr wrap="square" lIns="0" tIns="0" rIns="0" bIns="0" rtlCol="0" anchor="ctr"/>
          <a:lstStyle/>
          <a:p>
            <a:pPr marL="0" indent="0">
              <a:buNone/>
            </a:pPr>
            <a:r>
              <a:rPr lang="en-US" sz="900" dirty="0">
                <a:solidFill>
                  <a:srgbClr val="44546A"/>
                </a:solidFill>
                <a:latin typeface="Segoe UI" pitchFamily="34" charset="0"/>
                <a:ea typeface="Segoe UI" pitchFamily="34" charset="-122"/>
                <a:cs typeface="Segoe UI" pitchFamily="34" charset="-120"/>
              </a:rPr>
              <a:t>Scans files and project structure</a:t>
            </a:r>
            <a:endParaRPr lang="en-US" sz="900" dirty="0"/>
          </a:p>
        </p:txBody>
      </p:sp>
      <p:sp>
        <p:nvSpPr>
          <p:cNvPr id="15" name="Flow connector">
            <a:extLst>
              <a:ext uri="{C183D7F6-B498-43B3-948B-1728B52AA6E4}">
                <adec:decorative xmlns:adec="http://schemas.microsoft.com/office/drawing/2017/decorative" val="1"/>
              </a:ext>
            </a:extLst>
          </p:cNvPr>
          <p:cNvSpPr/>
          <p:nvPr/>
        </p:nvSpPr>
        <p:spPr>
          <a:xfrm>
            <a:off x="1714500" y="2212848"/>
            <a:ext cx="0" cy="192024"/>
          </a:xfrm>
          <a:prstGeom prst="line">
            <a:avLst/>
          </a:prstGeom>
          <a:noFill/>
          <a:ln w="22225">
            <a:solidFill>
              <a:srgbClr val="1F6FEB"/>
            </a:solidFill>
            <a:prstDash val="solid"/>
            <a:tailEnd type="triangle"/>
          </a:ln>
        </p:spPr>
        <p:txBody>
          <a:bodyPr/>
          <a:lstStyle/>
          <a:p>
            <a:endParaRPr lang="en-US"/>
          </a:p>
        </p:txBody>
      </p:sp>
      <p:sp>
        <p:nvSpPr>
          <p:cNvPr id="16" name="Flow step box">
            <a:extLst>
              <a:ext uri="{C183D7F6-B498-43B3-948B-1728B52AA6E4}">
                <adec:decorative xmlns:adec="http://schemas.microsoft.com/office/drawing/2017/decorative" val="1"/>
              </a:ext>
            </a:extLst>
          </p:cNvPr>
          <p:cNvSpPr/>
          <p:nvPr/>
        </p:nvSpPr>
        <p:spPr>
          <a:xfrm>
            <a:off x="548640" y="2404872"/>
            <a:ext cx="2331720" cy="530352"/>
          </a:xfrm>
          <a:prstGeom prst="rect">
            <a:avLst/>
          </a:prstGeom>
          <a:solidFill>
            <a:srgbClr val="EAF2FD"/>
          </a:solidFill>
          <a:ln w="12700">
            <a:solidFill>
              <a:srgbClr val="1F6FEB"/>
            </a:solidFill>
            <a:prstDash val="solid"/>
          </a:ln>
        </p:spPr>
        <p:txBody>
          <a:bodyPr/>
          <a:lstStyle/>
          <a:p>
            <a:endParaRPr lang="en-US"/>
          </a:p>
        </p:txBody>
      </p:sp>
      <p:sp>
        <p:nvSpPr>
          <p:cNvPr id="17" name="Text 15"/>
          <p:cNvSpPr/>
          <p:nvPr/>
        </p:nvSpPr>
        <p:spPr>
          <a:xfrm>
            <a:off x="658368" y="2404872"/>
            <a:ext cx="2112264" cy="530352"/>
          </a:xfrm>
          <a:prstGeom prst="rect">
            <a:avLst/>
          </a:prstGeom>
          <a:noFill/>
          <a:ln/>
        </p:spPr>
        <p:txBody>
          <a:bodyPr wrap="square" lIns="0" tIns="0" rIns="0" bIns="0" rtlCol="0" anchor="ctr"/>
          <a:lstStyle/>
          <a:p>
            <a:pPr marL="0" indent="0" algn="ctr">
              <a:buNone/>
            </a:pPr>
            <a:r>
              <a:rPr lang="en-US" sz="1100" b="1" dirty="0">
                <a:solidFill>
                  <a:srgbClr val="0F2540"/>
                </a:solidFill>
                <a:latin typeface="Segoe UI" pitchFamily="34" charset="0"/>
                <a:ea typeface="Segoe UI" pitchFamily="34" charset="-122"/>
                <a:cs typeface="Segoe UI" pitchFamily="34" charset="-120"/>
              </a:rPr>
              <a:t>3. Code Analysis</a:t>
            </a:r>
            <a:endParaRPr lang="en-US" sz="1100" dirty="0"/>
          </a:p>
        </p:txBody>
      </p:sp>
      <p:sp>
        <p:nvSpPr>
          <p:cNvPr id="18" name="Text 16"/>
          <p:cNvSpPr/>
          <p:nvPr/>
        </p:nvSpPr>
        <p:spPr>
          <a:xfrm>
            <a:off x="3063240" y="2404872"/>
            <a:ext cx="2286000" cy="530352"/>
          </a:xfrm>
          <a:prstGeom prst="rect">
            <a:avLst/>
          </a:prstGeom>
          <a:noFill/>
          <a:ln/>
        </p:spPr>
        <p:txBody>
          <a:bodyPr wrap="square" lIns="0" tIns="0" rIns="0" bIns="0" rtlCol="0" anchor="ctr"/>
          <a:lstStyle/>
          <a:p>
            <a:pPr marL="0" indent="0">
              <a:buNone/>
            </a:pPr>
            <a:r>
              <a:rPr lang="en-US" sz="900" dirty="0">
                <a:solidFill>
                  <a:srgbClr val="44546A"/>
                </a:solidFill>
                <a:latin typeface="Segoe UI" pitchFamily="34" charset="0"/>
                <a:ea typeface="Segoe UI" pitchFamily="34" charset="-122"/>
                <a:cs typeface="Segoe UI" pitchFamily="34" charset="-120"/>
              </a:rPr>
              <a:t>Analyzes code, versions, frameworks</a:t>
            </a:r>
            <a:endParaRPr lang="en-US" sz="900" dirty="0"/>
          </a:p>
        </p:txBody>
      </p:sp>
      <p:sp>
        <p:nvSpPr>
          <p:cNvPr id="19" name="Flow connector">
            <a:extLst>
              <a:ext uri="{C183D7F6-B498-43B3-948B-1728B52AA6E4}">
                <adec:decorative xmlns:adec="http://schemas.microsoft.com/office/drawing/2017/decorative" val="1"/>
              </a:ext>
            </a:extLst>
          </p:cNvPr>
          <p:cNvSpPr/>
          <p:nvPr/>
        </p:nvSpPr>
        <p:spPr>
          <a:xfrm>
            <a:off x="1714500" y="2935224"/>
            <a:ext cx="0" cy="192024"/>
          </a:xfrm>
          <a:prstGeom prst="line">
            <a:avLst/>
          </a:prstGeom>
          <a:noFill/>
          <a:ln w="22225">
            <a:solidFill>
              <a:srgbClr val="1F6FEB"/>
            </a:solidFill>
            <a:prstDash val="solid"/>
            <a:tailEnd type="triangle"/>
          </a:ln>
        </p:spPr>
        <p:txBody>
          <a:bodyPr/>
          <a:lstStyle/>
          <a:p>
            <a:endParaRPr lang="en-US"/>
          </a:p>
        </p:txBody>
      </p:sp>
      <p:sp>
        <p:nvSpPr>
          <p:cNvPr id="20" name="Flow step box">
            <a:extLst>
              <a:ext uri="{C183D7F6-B498-43B3-948B-1728B52AA6E4}">
                <adec:decorative xmlns:adec="http://schemas.microsoft.com/office/drawing/2017/decorative" val="1"/>
              </a:ext>
            </a:extLst>
          </p:cNvPr>
          <p:cNvSpPr/>
          <p:nvPr/>
        </p:nvSpPr>
        <p:spPr>
          <a:xfrm>
            <a:off x="548640" y="3127248"/>
            <a:ext cx="2331720" cy="530352"/>
          </a:xfrm>
          <a:prstGeom prst="rect">
            <a:avLst/>
          </a:prstGeom>
          <a:solidFill>
            <a:srgbClr val="EAF2FD"/>
          </a:solidFill>
          <a:ln w="12700">
            <a:solidFill>
              <a:srgbClr val="1F6FEB"/>
            </a:solidFill>
            <a:prstDash val="solid"/>
          </a:ln>
        </p:spPr>
        <p:txBody>
          <a:bodyPr/>
          <a:lstStyle/>
          <a:p>
            <a:endParaRPr lang="en-US"/>
          </a:p>
        </p:txBody>
      </p:sp>
      <p:sp>
        <p:nvSpPr>
          <p:cNvPr id="21" name="Text 19"/>
          <p:cNvSpPr/>
          <p:nvPr/>
        </p:nvSpPr>
        <p:spPr>
          <a:xfrm>
            <a:off x="658368" y="3127248"/>
            <a:ext cx="2112264" cy="530352"/>
          </a:xfrm>
          <a:prstGeom prst="rect">
            <a:avLst/>
          </a:prstGeom>
          <a:noFill/>
          <a:ln/>
        </p:spPr>
        <p:txBody>
          <a:bodyPr wrap="square" lIns="0" tIns="0" rIns="0" bIns="0" rtlCol="0" anchor="ctr"/>
          <a:lstStyle/>
          <a:p>
            <a:pPr marL="0" indent="0" algn="ctr">
              <a:buNone/>
            </a:pPr>
            <a:r>
              <a:rPr lang="en-US" sz="1100" b="1" dirty="0">
                <a:solidFill>
                  <a:srgbClr val="0F2540"/>
                </a:solidFill>
                <a:latin typeface="Segoe UI" pitchFamily="34" charset="0"/>
                <a:ea typeface="Segoe UI" pitchFamily="34" charset="-122"/>
                <a:cs typeface="Segoe UI" pitchFamily="34" charset="-120"/>
              </a:rPr>
              <a:t>4. Modernization Assessment</a:t>
            </a:r>
            <a:endParaRPr lang="en-US" sz="1100" dirty="0"/>
          </a:p>
        </p:txBody>
      </p:sp>
      <p:sp>
        <p:nvSpPr>
          <p:cNvPr id="22" name="Text 20"/>
          <p:cNvSpPr/>
          <p:nvPr/>
        </p:nvSpPr>
        <p:spPr>
          <a:xfrm>
            <a:off x="3063240" y="3127248"/>
            <a:ext cx="2286000" cy="530352"/>
          </a:xfrm>
          <a:prstGeom prst="rect">
            <a:avLst/>
          </a:prstGeom>
          <a:noFill/>
          <a:ln/>
        </p:spPr>
        <p:txBody>
          <a:bodyPr wrap="square" lIns="0" tIns="0" rIns="0" bIns="0" rtlCol="0" anchor="ctr"/>
          <a:lstStyle/>
          <a:p>
            <a:pPr marL="0" indent="0">
              <a:buNone/>
            </a:pPr>
            <a:r>
              <a:rPr lang="en-US" sz="900" dirty="0">
                <a:solidFill>
                  <a:srgbClr val="44546A"/>
                </a:solidFill>
                <a:latin typeface="Segoe UI" pitchFamily="34" charset="0"/>
                <a:ea typeface="Segoe UI" pitchFamily="34" charset="-122"/>
                <a:cs typeface="Segoe UI" pitchFamily="34" charset="-120"/>
              </a:rPr>
              <a:t>Identifies legacy tech and concerns</a:t>
            </a:r>
            <a:endParaRPr lang="en-US" sz="900" dirty="0"/>
          </a:p>
        </p:txBody>
      </p:sp>
      <p:sp>
        <p:nvSpPr>
          <p:cNvPr id="23" name="Flow connector">
            <a:extLst>
              <a:ext uri="{C183D7F6-B498-43B3-948B-1728B52AA6E4}">
                <adec:decorative xmlns:adec="http://schemas.microsoft.com/office/drawing/2017/decorative" val="1"/>
              </a:ext>
            </a:extLst>
          </p:cNvPr>
          <p:cNvSpPr/>
          <p:nvPr/>
        </p:nvSpPr>
        <p:spPr>
          <a:xfrm>
            <a:off x="1714500" y="3657600"/>
            <a:ext cx="0" cy="192024"/>
          </a:xfrm>
          <a:prstGeom prst="line">
            <a:avLst/>
          </a:prstGeom>
          <a:noFill/>
          <a:ln w="22225">
            <a:solidFill>
              <a:srgbClr val="1F6FEB"/>
            </a:solidFill>
            <a:prstDash val="solid"/>
            <a:tailEnd type="triangle"/>
          </a:ln>
        </p:spPr>
        <p:txBody>
          <a:bodyPr/>
          <a:lstStyle/>
          <a:p>
            <a:endParaRPr lang="en-US"/>
          </a:p>
        </p:txBody>
      </p:sp>
      <p:sp>
        <p:nvSpPr>
          <p:cNvPr id="24" name="Flow step box">
            <a:extLst>
              <a:ext uri="{C183D7F6-B498-43B3-948B-1728B52AA6E4}">
                <adec:decorative xmlns:adec="http://schemas.microsoft.com/office/drawing/2017/decorative" val="1"/>
              </a:ext>
            </a:extLst>
          </p:cNvPr>
          <p:cNvSpPr/>
          <p:nvPr/>
        </p:nvSpPr>
        <p:spPr>
          <a:xfrm>
            <a:off x="548640" y="3849624"/>
            <a:ext cx="2331720" cy="530352"/>
          </a:xfrm>
          <a:prstGeom prst="rect">
            <a:avLst/>
          </a:prstGeom>
          <a:solidFill>
            <a:srgbClr val="0B4AA2"/>
          </a:solidFill>
          <a:ln w="12700">
            <a:solidFill>
              <a:srgbClr val="0B4AA2"/>
            </a:solidFill>
            <a:prstDash val="solid"/>
          </a:ln>
        </p:spPr>
        <p:txBody>
          <a:bodyPr/>
          <a:lstStyle/>
          <a:p>
            <a:endParaRPr lang="en-US"/>
          </a:p>
        </p:txBody>
      </p:sp>
      <p:sp>
        <p:nvSpPr>
          <p:cNvPr id="25" name="Text 23"/>
          <p:cNvSpPr/>
          <p:nvPr/>
        </p:nvSpPr>
        <p:spPr>
          <a:xfrm>
            <a:off x="658368" y="3849624"/>
            <a:ext cx="2112264"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5. Assessment Report</a:t>
            </a:r>
            <a:endParaRPr lang="en-US" sz="1100" dirty="0"/>
          </a:p>
        </p:txBody>
      </p:sp>
      <p:sp>
        <p:nvSpPr>
          <p:cNvPr id="26" name="Text 24"/>
          <p:cNvSpPr/>
          <p:nvPr/>
        </p:nvSpPr>
        <p:spPr>
          <a:xfrm>
            <a:off x="3063240" y="3849624"/>
            <a:ext cx="2286000" cy="530352"/>
          </a:xfrm>
          <a:prstGeom prst="rect">
            <a:avLst/>
          </a:prstGeom>
          <a:noFill/>
          <a:ln/>
        </p:spPr>
        <p:txBody>
          <a:bodyPr wrap="square" lIns="0" tIns="0" rIns="0" bIns="0" rtlCol="0" anchor="ctr"/>
          <a:lstStyle/>
          <a:p>
            <a:pPr marL="0" indent="0">
              <a:buNone/>
            </a:pPr>
            <a:r>
              <a:rPr lang="en-US" sz="900" dirty="0">
                <a:solidFill>
                  <a:srgbClr val="44546A"/>
                </a:solidFill>
                <a:latin typeface="Segoe UI" pitchFamily="34" charset="0"/>
                <a:ea typeface="Segoe UI" pitchFamily="34" charset="-122"/>
                <a:cs typeface="Segoe UI" pitchFamily="34" charset="-120"/>
              </a:rPr>
              <a:t>Recommended changes delivered</a:t>
            </a:r>
            <a:endParaRPr lang="en-US" sz="900" dirty="0"/>
          </a:p>
        </p:txBody>
      </p:sp>
      <p:sp>
        <p:nvSpPr>
          <p:cNvPr id="27" name="Card container">
            <a:extLst>
              <a:ext uri="{C183D7F6-B498-43B3-948B-1728B52AA6E4}">
                <adec:decorative xmlns:adec="http://schemas.microsoft.com/office/drawing/2017/decorative" val="1"/>
              </a:ext>
            </a:extLst>
          </p:cNvPr>
          <p:cNvSpPr/>
          <p:nvPr/>
        </p:nvSpPr>
        <p:spPr>
          <a:xfrm>
            <a:off x="5806440" y="960120"/>
            <a:ext cx="2926080" cy="2734056"/>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28" name="Card accent">
            <a:extLst>
              <a:ext uri="{C183D7F6-B498-43B3-948B-1728B52AA6E4}">
                <adec:decorative xmlns:adec="http://schemas.microsoft.com/office/drawing/2017/decorative" val="1"/>
              </a:ext>
            </a:extLst>
          </p:cNvPr>
          <p:cNvSpPr/>
          <p:nvPr/>
        </p:nvSpPr>
        <p:spPr>
          <a:xfrm>
            <a:off x="5806440" y="960120"/>
            <a:ext cx="54864" cy="2734056"/>
          </a:xfrm>
          <a:prstGeom prst="rect">
            <a:avLst/>
          </a:prstGeom>
          <a:solidFill>
            <a:srgbClr val="0B4AA2"/>
          </a:solidFill>
          <a:ln w="12700">
            <a:solidFill>
              <a:srgbClr val="0B4AA2"/>
            </a:solidFill>
            <a:prstDash val="solid"/>
          </a:ln>
        </p:spPr>
        <p:txBody>
          <a:bodyPr/>
          <a:lstStyle/>
          <a:p>
            <a:endParaRPr lang="en-US"/>
          </a:p>
        </p:txBody>
      </p:sp>
      <p:sp>
        <p:nvSpPr>
          <p:cNvPr id="29" name="Text 27"/>
          <p:cNvSpPr/>
          <p:nvPr/>
        </p:nvSpPr>
        <p:spPr>
          <a:xfrm>
            <a:off x="5989320" y="1069848"/>
            <a:ext cx="2606040"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The report contains</a:t>
            </a:r>
            <a:endParaRPr lang="en-US" sz="1250" dirty="0"/>
          </a:p>
        </p:txBody>
      </p:sp>
      <p:sp>
        <p:nvSpPr>
          <p:cNvPr id="30" name="Text 28"/>
          <p:cNvSpPr/>
          <p:nvPr/>
        </p:nvSpPr>
        <p:spPr>
          <a:xfrm>
            <a:off x="5989320" y="1380744"/>
            <a:ext cx="2606040" cy="2203704"/>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Identified issues</a:t>
            </a:r>
            <a:endParaRPr lang="en-US" sz="950" dirty="0"/>
          </a:p>
          <a:p>
            <a:pPr marL="0" indent="0">
              <a:lnSpc>
                <a:spcPct val="120000"/>
              </a:lnSpc>
              <a:buNone/>
            </a:pPr>
            <a:endParaRPr lang="en-US" sz="950" dirty="0"/>
          </a:p>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Required modifications</a:t>
            </a:r>
            <a:endParaRPr lang="en-US" sz="950" dirty="0"/>
          </a:p>
          <a:p>
            <a:pPr marL="0" indent="0">
              <a:lnSpc>
                <a:spcPct val="120000"/>
              </a:lnSpc>
              <a:buNone/>
            </a:pPr>
            <a:endParaRPr lang="en-US" sz="950" dirty="0"/>
          </a:p>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Recommended solutions</a:t>
            </a:r>
            <a:endParaRPr lang="en-US" sz="950" dirty="0"/>
          </a:p>
          <a:p>
            <a:pPr marL="0" indent="0">
              <a:lnSpc>
                <a:spcPct val="120000"/>
              </a:lnSpc>
              <a:buNone/>
            </a:pPr>
            <a:endParaRPr lang="en-US" sz="950" dirty="0"/>
          </a:p>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Modernization considerations</a:t>
            </a:r>
            <a:endParaRPr lang="en-US" sz="950" dirty="0"/>
          </a:p>
        </p:txBody>
      </p:sp>
      <p:sp>
        <p:nvSpPr>
          <p:cNvPr id="31" name="Text 29"/>
          <p:cNvSpPr/>
          <p:nvPr/>
        </p:nvSpPr>
        <p:spPr>
          <a:xfrm>
            <a:off x="548640" y="4315968"/>
            <a:ext cx="8138160" cy="274320"/>
          </a:xfrm>
          <a:prstGeom prst="rect">
            <a:avLst/>
          </a:prstGeom>
          <a:noFill/>
          <a:ln/>
        </p:spPr>
        <p:txBody>
          <a:bodyPr wrap="square" lIns="0" tIns="0" rIns="0" bIns="0" rtlCol="0" anchor="ctr"/>
          <a:lstStyle/>
          <a:p>
            <a:pPr marL="0" indent="0">
              <a:buNone/>
            </a:pPr>
            <a:r>
              <a:rPr lang="en-US" sz="1050" i="1" dirty="0">
                <a:solidFill>
                  <a:srgbClr val="44546A"/>
                </a:solidFill>
                <a:latin typeface="Segoe UI" pitchFamily="34" charset="0"/>
                <a:ea typeface="Segoe UI" pitchFamily="34" charset="-122"/>
                <a:cs typeface="Segoe UI" pitchFamily="34" charset="-120"/>
              </a:rPr>
              <a:t>This is the implementation that exists and runs today.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F6FEB"/>
          </a:solidFill>
          <a:ln w="12700">
            <a:solidFill>
              <a:srgbClr val="1F6FEB"/>
            </a:solidFill>
            <a:prstDash val="solid"/>
          </a:ln>
        </p:spPr>
        <p:txBody>
          <a:bodyPr/>
          <a:lstStyle/>
          <a:p>
            <a:endParaRPr lang="en-US"/>
          </a:p>
        </p:txBody>
      </p:sp>
      <p:sp>
        <p:nvSpPr>
          <p:cNvPr id="3" name="Text 1"/>
          <p:cNvSpPr/>
          <p:nvPr/>
        </p:nvSpPr>
        <p:spPr>
          <a:xfrm>
            <a:off x="411480" y="237744"/>
            <a:ext cx="548640" cy="411480"/>
          </a:xfrm>
          <a:prstGeom prst="rect">
            <a:avLst/>
          </a:prstGeom>
          <a:noFill/>
          <a:ln/>
        </p:spPr>
        <p:txBody>
          <a:bodyPr wrap="square" lIns="0" tIns="0" rIns="0" bIns="0" rtlCol="0" anchor="ctr"/>
          <a:lstStyle/>
          <a:p>
            <a:pPr marL="0" indent="0">
              <a:buNone/>
            </a:pPr>
            <a:r>
              <a:rPr lang="en-US" sz="2000" b="1" dirty="0">
                <a:solidFill>
                  <a:srgbClr val="9DC2F5"/>
                </a:solidFill>
                <a:latin typeface="Segoe UI" pitchFamily="34" charset="0"/>
                <a:ea typeface="Segoe UI" pitchFamily="34" charset="-122"/>
                <a:cs typeface="Segoe UI" pitchFamily="34" charset="-120"/>
              </a:rPr>
              <a:t>04</a:t>
            </a:r>
            <a:endParaRPr lang="en-US" sz="2000" dirty="0"/>
          </a:p>
        </p:txBody>
      </p:sp>
      <p:sp>
        <p:nvSpPr>
          <p:cNvPr id="4" name="Text 2"/>
          <p:cNvSpPr/>
          <p:nvPr/>
        </p:nvSpPr>
        <p:spPr>
          <a:xfrm>
            <a:off x="960120" y="219456"/>
            <a:ext cx="5669280" cy="457200"/>
          </a:xfrm>
          <a:prstGeom prst="rect">
            <a:avLst/>
          </a:prstGeom>
          <a:noFill/>
          <a:ln/>
        </p:spPr>
        <p:txBody>
          <a:bodyPr wrap="square" lIns="0" tIns="0" rIns="0" bIns="0" rtlCol="0" anchor="ctr"/>
          <a:lstStyle/>
          <a:p>
            <a:pPr marL="0" indent="0">
              <a:buNone/>
            </a:pPr>
            <a:r>
              <a:rPr lang="en-US" sz="2400" b="1" dirty="0">
                <a:solidFill>
                  <a:srgbClr val="0F2540"/>
                </a:solidFill>
                <a:latin typeface="Segoe UI" pitchFamily="34" charset="0"/>
                <a:ea typeface="Segoe UI" pitchFamily="34" charset="-122"/>
                <a:cs typeface="Segoe UI" pitchFamily="34" charset="-120"/>
              </a:rPr>
              <a:t>Current Demo Workflow</a:t>
            </a:r>
            <a:endParaRPr lang="en-US" sz="2400" dirty="0"/>
          </a:p>
        </p:txBody>
      </p:sp>
      <p:sp>
        <p:nvSpPr>
          <p:cNvPr id="5" name="State label chip">
            <a:extLst>
              <a:ext uri="{C183D7F6-B498-43B3-948B-1728B52AA6E4}">
                <adec:decorative xmlns:adec="http://schemas.microsoft.com/office/drawing/2017/decorative" val="1"/>
              </a:ext>
            </a:extLst>
          </p:cNvPr>
          <p:cNvSpPr/>
          <p:nvPr/>
        </p:nvSpPr>
        <p:spPr>
          <a:xfrm>
            <a:off x="6812280" y="274320"/>
            <a:ext cx="1920240" cy="347472"/>
          </a:xfrm>
          <a:prstGeom prst="rect">
            <a:avLst/>
          </a:prstGeom>
          <a:solidFill>
            <a:srgbClr val="EAF2FD"/>
          </a:solidFill>
          <a:ln w="12700">
            <a:solidFill>
              <a:srgbClr val="1F6FEB"/>
            </a:solidFill>
            <a:prstDash val="solid"/>
          </a:ln>
        </p:spPr>
        <p:txBody>
          <a:bodyPr/>
          <a:lstStyle/>
          <a:p>
            <a:endParaRPr lang="en-US"/>
          </a:p>
        </p:txBody>
      </p:sp>
      <p:sp>
        <p:nvSpPr>
          <p:cNvPr id="6" name="Text 4"/>
          <p:cNvSpPr/>
          <p:nvPr/>
        </p:nvSpPr>
        <p:spPr>
          <a:xfrm>
            <a:off x="6812280" y="274320"/>
            <a:ext cx="1920240" cy="347472"/>
          </a:xfrm>
          <a:prstGeom prst="rect">
            <a:avLst/>
          </a:prstGeom>
          <a:noFill/>
          <a:ln/>
        </p:spPr>
        <p:txBody>
          <a:bodyPr wrap="square" lIns="0" tIns="0" rIns="0" bIns="0" rtlCol="0" anchor="ctr"/>
          <a:lstStyle/>
          <a:p>
            <a:pPr marL="0" indent="0" algn="ctr">
              <a:buNone/>
            </a:pPr>
            <a:r>
              <a:rPr lang="en-US" sz="1000" b="1" kern="0" spc="150" dirty="0">
                <a:solidFill>
                  <a:srgbClr val="0B4AA2"/>
                </a:solidFill>
                <a:latin typeface="Segoe UI" pitchFamily="34" charset="0"/>
                <a:ea typeface="Segoe UI" pitchFamily="34" charset="-122"/>
                <a:cs typeface="Segoe UI" pitchFamily="34" charset="-120"/>
              </a:rPr>
              <a:t>CURRENT STATE</a:t>
            </a:r>
            <a:endParaRPr lang="en-US" sz="1000" dirty="0"/>
          </a:p>
        </p:txBody>
      </p:sp>
      <p:sp>
        <p:nvSpPr>
          <p:cNvPr id="7" name="Header rule">
            <a:extLst>
              <a:ext uri="{C183D7F6-B498-43B3-948B-1728B52AA6E4}">
                <adec:decorative xmlns:adec="http://schemas.microsoft.com/office/drawing/2017/decorative" val="1"/>
              </a:ext>
            </a:extLst>
          </p:cNvPr>
          <p:cNvSpPr/>
          <p:nvPr/>
        </p:nvSpPr>
        <p:spPr>
          <a:xfrm>
            <a:off x="411480" y="768096"/>
            <a:ext cx="8321040" cy="0"/>
          </a:xfrm>
          <a:prstGeom prst="line">
            <a:avLst/>
          </a:prstGeom>
          <a:noFill/>
          <a:ln w="12700">
            <a:solidFill>
              <a:srgbClr val="D6E2F2"/>
            </a:solidFill>
            <a:prstDash val="solid"/>
          </a:ln>
        </p:spPr>
        <p:txBody>
          <a:bodyPr/>
          <a:lstStyle/>
          <a:p>
            <a:endParaRPr lang="en-US"/>
          </a:p>
        </p:txBody>
      </p:sp>
      <p:sp>
        <p:nvSpPr>
          <p:cNvPr id="8" name="Card container">
            <a:extLst>
              <a:ext uri="{C183D7F6-B498-43B3-948B-1728B52AA6E4}">
                <adec:decorative xmlns:adec="http://schemas.microsoft.com/office/drawing/2017/decorative" val="1"/>
              </a:ext>
            </a:extLst>
          </p:cNvPr>
          <p:cNvSpPr/>
          <p:nvPr/>
        </p:nvSpPr>
        <p:spPr>
          <a:xfrm>
            <a:off x="411480" y="960120"/>
            <a:ext cx="2286000" cy="2651760"/>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9" name="Card accent">
            <a:extLst>
              <a:ext uri="{C183D7F6-B498-43B3-948B-1728B52AA6E4}">
                <adec:decorative xmlns:adec="http://schemas.microsoft.com/office/drawing/2017/decorative" val="1"/>
              </a:ext>
            </a:extLst>
          </p:cNvPr>
          <p:cNvSpPr/>
          <p:nvPr/>
        </p:nvSpPr>
        <p:spPr>
          <a:xfrm>
            <a:off x="411480" y="960120"/>
            <a:ext cx="54864" cy="2651760"/>
          </a:xfrm>
          <a:prstGeom prst="rect">
            <a:avLst/>
          </a:prstGeom>
          <a:solidFill>
            <a:srgbClr val="0B4AA2"/>
          </a:solidFill>
          <a:ln w="12700">
            <a:solidFill>
              <a:srgbClr val="0B4AA2"/>
            </a:solidFill>
            <a:prstDash val="solid"/>
          </a:ln>
        </p:spPr>
        <p:txBody>
          <a:bodyPr/>
          <a:lstStyle/>
          <a:p>
            <a:endParaRPr lang="en-US"/>
          </a:p>
        </p:txBody>
      </p:sp>
      <p:sp>
        <p:nvSpPr>
          <p:cNvPr id="10" name="Text 8"/>
          <p:cNvSpPr/>
          <p:nvPr/>
        </p:nvSpPr>
        <p:spPr>
          <a:xfrm>
            <a:off x="594360" y="1069848"/>
            <a:ext cx="1965960"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INPUT</a:t>
            </a:r>
            <a:endParaRPr lang="en-US" sz="1250" dirty="0"/>
          </a:p>
        </p:txBody>
      </p:sp>
      <p:sp>
        <p:nvSpPr>
          <p:cNvPr id="11" name="Text 9"/>
          <p:cNvSpPr/>
          <p:nvPr/>
        </p:nvSpPr>
        <p:spPr>
          <a:xfrm>
            <a:off x="594360" y="1380744"/>
            <a:ext cx="1965960" cy="2121408"/>
          </a:xfrm>
          <a:prstGeom prst="rect">
            <a:avLst/>
          </a:prstGeom>
          <a:noFill/>
          <a:ln/>
        </p:spPr>
        <p:txBody>
          <a:bodyPr wrap="square" lIns="0" tIns="0" rIns="0" bIns="0" rtlCol="0" anchor="ctr"/>
          <a:lstStyle/>
          <a:p>
            <a:pPr marL="0" indent="0">
              <a:lnSpc>
                <a:spcPct val="120000"/>
              </a:lnSpc>
              <a:buNone/>
            </a:pPr>
            <a:endParaRPr lang="en-US" sz="950" dirty="0"/>
          </a:p>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Legacy Java project directory</a:t>
            </a:r>
            <a:endParaRPr lang="en-US" sz="950" dirty="0"/>
          </a:p>
          <a:p>
            <a:pPr marL="0" indent="0">
              <a:lnSpc>
                <a:spcPct val="120000"/>
              </a:lnSpc>
              <a:buNone/>
            </a:pPr>
            <a:endParaRPr lang="en-US" sz="950" dirty="0"/>
          </a:p>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Any existing enterprise</a:t>
            </a:r>
            <a:endParaRPr lang="en-US" sz="950" dirty="0"/>
          </a:p>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Java codebase on disk</a:t>
            </a:r>
            <a:endParaRPr lang="en-US" sz="950" dirty="0"/>
          </a:p>
        </p:txBody>
      </p:sp>
      <p:sp>
        <p:nvSpPr>
          <p:cNvPr id="12" name="Flow connector">
            <a:extLst>
              <a:ext uri="{C183D7F6-B498-43B3-948B-1728B52AA6E4}">
                <adec:decorative xmlns:adec="http://schemas.microsoft.com/office/drawing/2017/decorative" val="1"/>
              </a:ext>
            </a:extLst>
          </p:cNvPr>
          <p:cNvSpPr/>
          <p:nvPr/>
        </p:nvSpPr>
        <p:spPr>
          <a:xfrm>
            <a:off x="2761488" y="2286000"/>
            <a:ext cx="329184" cy="0"/>
          </a:xfrm>
          <a:prstGeom prst="line">
            <a:avLst/>
          </a:prstGeom>
          <a:noFill/>
          <a:ln w="22225">
            <a:solidFill>
              <a:srgbClr val="1F6FEB"/>
            </a:solidFill>
            <a:prstDash val="solid"/>
            <a:tailEnd type="triangle"/>
          </a:ln>
        </p:spPr>
        <p:txBody>
          <a:bodyPr/>
          <a:lstStyle/>
          <a:p>
            <a:endParaRPr lang="en-US"/>
          </a:p>
        </p:txBody>
      </p:sp>
      <p:sp>
        <p:nvSpPr>
          <p:cNvPr id="13" name="Card container">
            <a:extLst>
              <a:ext uri="{C183D7F6-B498-43B3-948B-1728B52AA6E4}">
                <adec:decorative xmlns:adec="http://schemas.microsoft.com/office/drawing/2017/decorative" val="1"/>
              </a:ext>
            </a:extLst>
          </p:cNvPr>
          <p:cNvSpPr/>
          <p:nvPr/>
        </p:nvSpPr>
        <p:spPr>
          <a:xfrm>
            <a:off x="3154680" y="960120"/>
            <a:ext cx="2834640" cy="2651760"/>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14" name="Card accent">
            <a:extLst>
              <a:ext uri="{C183D7F6-B498-43B3-948B-1728B52AA6E4}">
                <adec:decorative xmlns:adec="http://schemas.microsoft.com/office/drawing/2017/decorative" val="1"/>
              </a:ext>
            </a:extLst>
          </p:cNvPr>
          <p:cNvSpPr/>
          <p:nvPr/>
        </p:nvSpPr>
        <p:spPr>
          <a:xfrm>
            <a:off x="3154680" y="960120"/>
            <a:ext cx="54864" cy="2651760"/>
          </a:xfrm>
          <a:prstGeom prst="rect">
            <a:avLst/>
          </a:prstGeom>
          <a:solidFill>
            <a:srgbClr val="1F6FEB"/>
          </a:solidFill>
          <a:ln w="12700">
            <a:solidFill>
              <a:srgbClr val="1F6FEB"/>
            </a:solidFill>
            <a:prstDash val="solid"/>
          </a:ln>
        </p:spPr>
        <p:txBody>
          <a:bodyPr/>
          <a:lstStyle/>
          <a:p>
            <a:endParaRPr lang="en-US"/>
          </a:p>
        </p:txBody>
      </p:sp>
      <p:sp>
        <p:nvSpPr>
          <p:cNvPr id="15" name="Text 13"/>
          <p:cNvSpPr/>
          <p:nvPr/>
        </p:nvSpPr>
        <p:spPr>
          <a:xfrm>
            <a:off x="3337560" y="1069848"/>
            <a:ext cx="2514600"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PROCESSING</a:t>
            </a:r>
            <a:endParaRPr lang="en-US" sz="1250" dirty="0"/>
          </a:p>
        </p:txBody>
      </p:sp>
      <p:sp>
        <p:nvSpPr>
          <p:cNvPr id="16" name="Text 14"/>
          <p:cNvSpPr/>
          <p:nvPr/>
        </p:nvSpPr>
        <p:spPr>
          <a:xfrm>
            <a:off x="3337560" y="1380744"/>
            <a:ext cx="2514600" cy="2121408"/>
          </a:xfrm>
          <a:prstGeom prst="rect">
            <a:avLst/>
          </a:prstGeom>
          <a:noFill/>
          <a:ln/>
        </p:spPr>
        <p:txBody>
          <a:bodyPr wrap="square" lIns="0" tIns="0" rIns="0" bIns="0" rtlCol="0" anchor="ctr"/>
          <a:lstStyle/>
          <a:p>
            <a:pPr marL="0" indent="0">
              <a:lnSpc>
                <a:spcPct val="120000"/>
              </a:lnSpc>
              <a:buNone/>
            </a:pPr>
            <a:endParaRPr lang="en-US" sz="950" dirty="0"/>
          </a:p>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1. Scan project files</a:t>
            </a:r>
            <a:endParaRPr lang="en-US" sz="950" dirty="0"/>
          </a:p>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2. Identify Java and config files</a:t>
            </a:r>
            <a:endParaRPr lang="en-US" sz="950" dirty="0"/>
          </a:p>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3. Analyze Java version and frameworks</a:t>
            </a:r>
            <a:endParaRPr lang="en-US" sz="950" dirty="0"/>
          </a:p>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4. Detect legacy patterns and dependencies</a:t>
            </a:r>
            <a:endParaRPr lang="en-US" sz="950" dirty="0"/>
          </a:p>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5. Generate modernization findings</a:t>
            </a:r>
            <a:endParaRPr lang="en-US" sz="950" dirty="0"/>
          </a:p>
        </p:txBody>
      </p:sp>
      <p:sp>
        <p:nvSpPr>
          <p:cNvPr id="17" name="Flow connector">
            <a:extLst>
              <a:ext uri="{C183D7F6-B498-43B3-948B-1728B52AA6E4}">
                <adec:decorative xmlns:adec="http://schemas.microsoft.com/office/drawing/2017/decorative" val="1"/>
              </a:ext>
            </a:extLst>
          </p:cNvPr>
          <p:cNvSpPr/>
          <p:nvPr/>
        </p:nvSpPr>
        <p:spPr>
          <a:xfrm>
            <a:off x="6053328" y="2286000"/>
            <a:ext cx="329184" cy="0"/>
          </a:xfrm>
          <a:prstGeom prst="line">
            <a:avLst/>
          </a:prstGeom>
          <a:noFill/>
          <a:ln w="22225">
            <a:solidFill>
              <a:srgbClr val="1F6FEB"/>
            </a:solidFill>
            <a:prstDash val="solid"/>
            <a:tailEnd type="triangle"/>
          </a:ln>
        </p:spPr>
        <p:txBody>
          <a:bodyPr/>
          <a:lstStyle/>
          <a:p>
            <a:endParaRPr lang="en-US"/>
          </a:p>
        </p:txBody>
      </p:sp>
      <p:sp>
        <p:nvSpPr>
          <p:cNvPr id="18" name="Card container">
            <a:extLst>
              <a:ext uri="{C183D7F6-B498-43B3-948B-1728B52AA6E4}">
                <adec:decorative xmlns:adec="http://schemas.microsoft.com/office/drawing/2017/decorative" val="1"/>
              </a:ext>
            </a:extLst>
          </p:cNvPr>
          <p:cNvSpPr/>
          <p:nvPr/>
        </p:nvSpPr>
        <p:spPr>
          <a:xfrm>
            <a:off x="6446520" y="960120"/>
            <a:ext cx="2286000" cy="2651760"/>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19" name="Card accent">
            <a:extLst>
              <a:ext uri="{C183D7F6-B498-43B3-948B-1728B52AA6E4}">
                <adec:decorative xmlns:adec="http://schemas.microsoft.com/office/drawing/2017/decorative" val="1"/>
              </a:ext>
            </a:extLst>
          </p:cNvPr>
          <p:cNvSpPr/>
          <p:nvPr/>
        </p:nvSpPr>
        <p:spPr>
          <a:xfrm>
            <a:off x="6446520" y="960120"/>
            <a:ext cx="54864" cy="2651760"/>
          </a:xfrm>
          <a:prstGeom prst="rect">
            <a:avLst/>
          </a:prstGeom>
          <a:solidFill>
            <a:srgbClr val="0E8F8F"/>
          </a:solidFill>
          <a:ln w="12700">
            <a:solidFill>
              <a:srgbClr val="0E8F8F"/>
            </a:solidFill>
            <a:prstDash val="solid"/>
          </a:ln>
        </p:spPr>
        <p:txBody>
          <a:bodyPr/>
          <a:lstStyle/>
          <a:p>
            <a:endParaRPr lang="en-US"/>
          </a:p>
        </p:txBody>
      </p:sp>
      <p:sp>
        <p:nvSpPr>
          <p:cNvPr id="20" name="Text 18"/>
          <p:cNvSpPr/>
          <p:nvPr/>
        </p:nvSpPr>
        <p:spPr>
          <a:xfrm>
            <a:off x="6629400" y="1069848"/>
            <a:ext cx="1965960"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OUTPUT</a:t>
            </a:r>
            <a:endParaRPr lang="en-US" sz="1250" dirty="0"/>
          </a:p>
        </p:txBody>
      </p:sp>
      <p:sp>
        <p:nvSpPr>
          <p:cNvPr id="21" name="Text 19"/>
          <p:cNvSpPr/>
          <p:nvPr/>
        </p:nvSpPr>
        <p:spPr>
          <a:xfrm>
            <a:off x="6629400" y="1380744"/>
            <a:ext cx="1965960" cy="2121408"/>
          </a:xfrm>
          <a:prstGeom prst="rect">
            <a:avLst/>
          </a:prstGeom>
          <a:noFill/>
          <a:ln/>
        </p:spPr>
        <p:txBody>
          <a:bodyPr wrap="square" lIns="0" tIns="0" rIns="0" bIns="0" rtlCol="0" anchor="ctr"/>
          <a:lstStyle/>
          <a:p>
            <a:pPr marL="0" indent="0">
              <a:lnSpc>
                <a:spcPct val="120000"/>
              </a:lnSpc>
              <a:buNone/>
            </a:pPr>
            <a:endParaRPr lang="en-US" sz="950" dirty="0"/>
          </a:p>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Modernization report</a:t>
            </a:r>
            <a:endParaRPr lang="en-US" sz="950" dirty="0"/>
          </a:p>
          <a:p>
            <a:pPr marL="0" indent="0">
              <a:lnSpc>
                <a:spcPct val="120000"/>
              </a:lnSpc>
              <a:buNone/>
            </a:pPr>
            <a:endParaRPr lang="en-US" sz="950" dirty="0"/>
          </a:p>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 Project details</a:t>
            </a:r>
            <a:endParaRPr lang="en-US" sz="950" dirty="0"/>
          </a:p>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 Detected technologies</a:t>
            </a:r>
            <a:endParaRPr lang="en-US" sz="950" dirty="0"/>
          </a:p>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 Modernization issues</a:t>
            </a:r>
            <a:endParaRPr lang="en-US" sz="950" dirty="0"/>
          </a:p>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 Recommended approach</a:t>
            </a:r>
            <a:endParaRPr lang="en-US" sz="950" dirty="0"/>
          </a:p>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 Risks and dependencies</a:t>
            </a:r>
            <a:endParaRPr lang="en-US" sz="950" dirty="0"/>
          </a:p>
        </p:txBody>
      </p:sp>
      <p:sp>
        <p:nvSpPr>
          <p:cNvPr id="22" name="Screenshot placeholder frame">
            <a:extLst>
              <a:ext uri="{C183D7F6-B498-43B3-948B-1728B52AA6E4}">
                <adec:decorative xmlns:adec="http://schemas.microsoft.com/office/drawing/2017/decorative" val="1"/>
              </a:ext>
            </a:extLst>
          </p:cNvPr>
          <p:cNvSpPr/>
          <p:nvPr/>
        </p:nvSpPr>
        <p:spPr>
          <a:xfrm>
            <a:off x="411480" y="3822192"/>
            <a:ext cx="8321040" cy="749808"/>
          </a:xfrm>
          <a:prstGeom prst="rect">
            <a:avLst/>
          </a:prstGeom>
          <a:solidFill>
            <a:srgbClr val="F6F9FD"/>
          </a:solidFill>
          <a:ln w="12700">
            <a:solidFill>
              <a:srgbClr val="1F6FEB"/>
            </a:solidFill>
            <a:prstDash val="dash"/>
          </a:ln>
        </p:spPr>
        <p:txBody>
          <a:bodyPr/>
          <a:lstStyle/>
          <a:p>
            <a:endParaRPr lang="en-US"/>
          </a:p>
        </p:txBody>
      </p:sp>
      <p:sp>
        <p:nvSpPr>
          <p:cNvPr id="23" name="Text 21"/>
          <p:cNvSpPr/>
          <p:nvPr/>
        </p:nvSpPr>
        <p:spPr>
          <a:xfrm>
            <a:off x="594360" y="3822192"/>
            <a:ext cx="7955280" cy="749808"/>
          </a:xfrm>
          <a:prstGeom prst="rect">
            <a:avLst/>
          </a:prstGeom>
          <a:noFill/>
          <a:ln/>
        </p:spPr>
        <p:txBody>
          <a:bodyPr wrap="square" lIns="0" tIns="0" rIns="0" bIns="0" rtlCol="0" anchor="ctr"/>
          <a:lstStyle/>
          <a:p>
            <a:pPr marL="0" indent="0" algn="ctr">
              <a:buNone/>
            </a:pPr>
            <a:r>
              <a:rPr lang="en-US" sz="1100" b="1" dirty="0">
                <a:solidFill>
                  <a:srgbClr val="0B4AA2"/>
                </a:solidFill>
                <a:latin typeface="Segoe UI" pitchFamily="34" charset="0"/>
                <a:ea typeface="Segoe UI" pitchFamily="34" charset="-122"/>
                <a:cs typeface="Segoe UI" pitchFamily="34" charset="-120"/>
              </a:rPr>
              <a:t>Live demo placeholder — insert screenshots of the running application and the generated assessment report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F6FEB"/>
          </a:solidFill>
          <a:ln w="12700">
            <a:solidFill>
              <a:srgbClr val="1F6FEB"/>
            </a:solidFill>
            <a:prstDash val="solid"/>
          </a:ln>
        </p:spPr>
        <p:txBody>
          <a:bodyPr/>
          <a:lstStyle/>
          <a:p>
            <a:endParaRPr lang="en-US"/>
          </a:p>
        </p:txBody>
      </p:sp>
      <p:sp>
        <p:nvSpPr>
          <p:cNvPr id="3" name="Text 1"/>
          <p:cNvSpPr/>
          <p:nvPr/>
        </p:nvSpPr>
        <p:spPr>
          <a:xfrm>
            <a:off x="411480" y="237744"/>
            <a:ext cx="548640" cy="411480"/>
          </a:xfrm>
          <a:prstGeom prst="rect">
            <a:avLst/>
          </a:prstGeom>
          <a:noFill/>
          <a:ln/>
        </p:spPr>
        <p:txBody>
          <a:bodyPr wrap="square" lIns="0" tIns="0" rIns="0" bIns="0" rtlCol="0" anchor="ctr"/>
          <a:lstStyle/>
          <a:p>
            <a:pPr marL="0" indent="0">
              <a:buNone/>
            </a:pPr>
            <a:r>
              <a:rPr lang="en-US" sz="2000" b="1" dirty="0">
                <a:solidFill>
                  <a:srgbClr val="9DC2F5"/>
                </a:solidFill>
                <a:latin typeface="Segoe UI" pitchFamily="34" charset="0"/>
                <a:ea typeface="Segoe UI" pitchFamily="34" charset="-122"/>
                <a:cs typeface="Segoe UI" pitchFamily="34" charset="-120"/>
              </a:rPr>
              <a:t>05</a:t>
            </a:r>
            <a:endParaRPr lang="en-US" sz="2000" dirty="0"/>
          </a:p>
        </p:txBody>
      </p:sp>
      <p:sp>
        <p:nvSpPr>
          <p:cNvPr id="4" name="Text 2"/>
          <p:cNvSpPr/>
          <p:nvPr/>
        </p:nvSpPr>
        <p:spPr>
          <a:xfrm>
            <a:off x="960120" y="219456"/>
            <a:ext cx="5669280" cy="457200"/>
          </a:xfrm>
          <a:prstGeom prst="rect">
            <a:avLst/>
          </a:prstGeom>
          <a:noFill/>
          <a:ln/>
        </p:spPr>
        <p:txBody>
          <a:bodyPr wrap="square" lIns="0" tIns="0" rIns="0" bIns="0" rtlCol="0" anchor="ctr"/>
          <a:lstStyle/>
          <a:p>
            <a:pPr marL="0" indent="0">
              <a:buNone/>
            </a:pPr>
            <a:r>
              <a:rPr lang="en-US" sz="2400" b="1" dirty="0">
                <a:solidFill>
                  <a:srgbClr val="0F2540"/>
                </a:solidFill>
                <a:latin typeface="Segoe UI" pitchFamily="34" charset="0"/>
                <a:ea typeface="Segoe UI" pitchFamily="34" charset="-122"/>
                <a:cs typeface="Segoe UI" pitchFamily="34" charset="-120"/>
              </a:rPr>
              <a:t>From Single Agent to a Platform</a:t>
            </a:r>
            <a:endParaRPr lang="en-US" sz="2400" dirty="0"/>
          </a:p>
        </p:txBody>
      </p:sp>
      <p:sp>
        <p:nvSpPr>
          <p:cNvPr id="5" name="State label chip">
            <a:extLst>
              <a:ext uri="{C183D7F6-B498-43B3-948B-1728B52AA6E4}">
                <adec:decorative xmlns:adec="http://schemas.microsoft.com/office/drawing/2017/decorative" val="1"/>
              </a:ext>
            </a:extLst>
          </p:cNvPr>
          <p:cNvSpPr/>
          <p:nvPr/>
        </p:nvSpPr>
        <p:spPr>
          <a:xfrm>
            <a:off x="6812280" y="274320"/>
            <a:ext cx="1920240" cy="347472"/>
          </a:xfrm>
          <a:prstGeom prst="rect">
            <a:avLst/>
          </a:prstGeom>
          <a:solidFill>
            <a:srgbClr val="F3F6FA"/>
          </a:solidFill>
          <a:ln w="12700">
            <a:solidFill>
              <a:srgbClr val="44546A"/>
            </a:solidFill>
            <a:prstDash val="solid"/>
          </a:ln>
        </p:spPr>
        <p:txBody>
          <a:bodyPr/>
          <a:lstStyle/>
          <a:p>
            <a:endParaRPr lang="en-US"/>
          </a:p>
        </p:txBody>
      </p:sp>
      <p:sp>
        <p:nvSpPr>
          <p:cNvPr id="6" name="Text 4"/>
          <p:cNvSpPr/>
          <p:nvPr/>
        </p:nvSpPr>
        <p:spPr>
          <a:xfrm>
            <a:off x="6812280" y="274320"/>
            <a:ext cx="1920240" cy="347472"/>
          </a:xfrm>
          <a:prstGeom prst="rect">
            <a:avLst/>
          </a:prstGeom>
          <a:noFill/>
          <a:ln/>
        </p:spPr>
        <p:txBody>
          <a:bodyPr wrap="square" lIns="0" tIns="0" rIns="0" bIns="0" rtlCol="0" anchor="ctr"/>
          <a:lstStyle/>
          <a:p>
            <a:pPr marL="0" indent="0" algn="ctr">
              <a:buNone/>
            </a:pPr>
            <a:r>
              <a:rPr lang="en-US" sz="1000" b="1" kern="0" spc="150" dirty="0">
                <a:solidFill>
                  <a:srgbClr val="44546A"/>
                </a:solidFill>
                <a:latin typeface="Segoe UI" pitchFamily="34" charset="0"/>
                <a:ea typeface="Segoe UI" pitchFamily="34" charset="-122"/>
                <a:cs typeface="Segoe UI" pitchFamily="34" charset="-120"/>
              </a:rPr>
              <a:t>FUTURE VISION</a:t>
            </a:r>
            <a:endParaRPr lang="en-US" sz="1000" dirty="0"/>
          </a:p>
        </p:txBody>
      </p:sp>
      <p:sp>
        <p:nvSpPr>
          <p:cNvPr id="7" name="Header rule">
            <a:extLst>
              <a:ext uri="{C183D7F6-B498-43B3-948B-1728B52AA6E4}">
                <adec:decorative xmlns:adec="http://schemas.microsoft.com/office/drawing/2017/decorative" val="1"/>
              </a:ext>
            </a:extLst>
          </p:cNvPr>
          <p:cNvSpPr/>
          <p:nvPr/>
        </p:nvSpPr>
        <p:spPr>
          <a:xfrm>
            <a:off x="411480" y="768096"/>
            <a:ext cx="8321040" cy="0"/>
          </a:xfrm>
          <a:prstGeom prst="line">
            <a:avLst/>
          </a:prstGeom>
          <a:noFill/>
          <a:ln w="12700">
            <a:solidFill>
              <a:srgbClr val="D6E2F2"/>
            </a:solidFill>
            <a:prstDash val="solid"/>
          </a:ln>
        </p:spPr>
        <p:txBody>
          <a:bodyPr/>
          <a:lstStyle/>
          <a:p>
            <a:endParaRPr lang="en-US"/>
          </a:p>
        </p:txBody>
      </p:sp>
      <p:sp>
        <p:nvSpPr>
          <p:cNvPr id="8" name="Text 6"/>
          <p:cNvSpPr/>
          <p:nvPr/>
        </p:nvSpPr>
        <p:spPr>
          <a:xfrm>
            <a:off x="411480" y="896112"/>
            <a:ext cx="8321040" cy="329184"/>
          </a:xfrm>
          <a:prstGeom prst="rect">
            <a:avLst/>
          </a:prstGeom>
          <a:noFill/>
          <a:ln/>
        </p:spPr>
        <p:txBody>
          <a:bodyPr wrap="square" lIns="0" tIns="0" rIns="0" bIns="0" rtlCol="0" anchor="ctr"/>
          <a:lstStyle/>
          <a:p>
            <a:pPr marL="0" indent="0">
              <a:buNone/>
            </a:pPr>
            <a:r>
              <a:rPr lang="en-US" sz="1200" dirty="0">
                <a:solidFill>
                  <a:srgbClr val="44546A"/>
                </a:solidFill>
                <a:latin typeface="Segoe UI" pitchFamily="34" charset="0"/>
                <a:ea typeface="Segoe UI" pitchFamily="34" charset="-122"/>
                <a:cs typeface="Segoe UI" pitchFamily="34" charset="-120"/>
              </a:rPr>
              <a:t>The goal is a modular, extensible, multi-agent platform where specialized agents collaborate across the modernization lifecycle.</a:t>
            </a:r>
            <a:endParaRPr lang="en-US" sz="1200" dirty="0"/>
          </a:p>
        </p:txBody>
      </p:sp>
      <p:sp>
        <p:nvSpPr>
          <p:cNvPr id="9" name="Card container">
            <a:extLst>
              <a:ext uri="{C183D7F6-B498-43B3-948B-1728B52AA6E4}">
                <adec:decorative xmlns:adec="http://schemas.microsoft.com/office/drawing/2017/decorative" val="1"/>
              </a:ext>
            </a:extLst>
          </p:cNvPr>
          <p:cNvSpPr/>
          <p:nvPr/>
        </p:nvSpPr>
        <p:spPr>
          <a:xfrm>
            <a:off x="411480" y="1371600"/>
            <a:ext cx="2679192" cy="89611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10" name="Card accent">
            <a:extLst>
              <a:ext uri="{C183D7F6-B498-43B3-948B-1728B52AA6E4}">
                <adec:decorative xmlns:adec="http://schemas.microsoft.com/office/drawing/2017/decorative" val="1"/>
              </a:ext>
            </a:extLst>
          </p:cNvPr>
          <p:cNvSpPr/>
          <p:nvPr/>
        </p:nvSpPr>
        <p:spPr>
          <a:xfrm>
            <a:off x="411480" y="1371600"/>
            <a:ext cx="54864" cy="896112"/>
          </a:xfrm>
          <a:prstGeom prst="rect">
            <a:avLst/>
          </a:prstGeom>
          <a:solidFill>
            <a:srgbClr val="1F6FEB"/>
          </a:solidFill>
          <a:ln w="12700">
            <a:solidFill>
              <a:srgbClr val="1F6FEB"/>
            </a:solidFill>
            <a:prstDash val="solid"/>
          </a:ln>
        </p:spPr>
        <p:txBody>
          <a:bodyPr/>
          <a:lstStyle/>
          <a:p>
            <a:endParaRPr lang="en-US"/>
          </a:p>
        </p:txBody>
      </p:sp>
      <p:sp>
        <p:nvSpPr>
          <p:cNvPr id="11" name="Text 9"/>
          <p:cNvSpPr/>
          <p:nvPr/>
        </p:nvSpPr>
        <p:spPr>
          <a:xfrm>
            <a:off x="594360" y="1481328"/>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Specialized agents</a:t>
            </a:r>
            <a:endParaRPr lang="en-US" sz="1250" dirty="0"/>
          </a:p>
        </p:txBody>
      </p:sp>
      <p:sp>
        <p:nvSpPr>
          <p:cNvPr id="12" name="Text 10"/>
          <p:cNvSpPr/>
          <p:nvPr/>
        </p:nvSpPr>
        <p:spPr>
          <a:xfrm>
            <a:off x="594360" y="1792224"/>
            <a:ext cx="2359152" cy="36576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Each agent owns one clear responsibility</a:t>
            </a:r>
            <a:endParaRPr lang="en-US" sz="950" dirty="0"/>
          </a:p>
        </p:txBody>
      </p:sp>
      <p:sp>
        <p:nvSpPr>
          <p:cNvPr id="13" name="Card container">
            <a:extLst>
              <a:ext uri="{C183D7F6-B498-43B3-948B-1728B52AA6E4}">
                <adec:decorative xmlns:adec="http://schemas.microsoft.com/office/drawing/2017/decorative" val="1"/>
              </a:ext>
            </a:extLst>
          </p:cNvPr>
          <p:cNvSpPr/>
          <p:nvPr/>
        </p:nvSpPr>
        <p:spPr>
          <a:xfrm>
            <a:off x="3227832" y="1371600"/>
            <a:ext cx="2679192" cy="89611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14" name="Card accent">
            <a:extLst>
              <a:ext uri="{C183D7F6-B498-43B3-948B-1728B52AA6E4}">
                <adec:decorative xmlns:adec="http://schemas.microsoft.com/office/drawing/2017/decorative" val="1"/>
              </a:ext>
            </a:extLst>
          </p:cNvPr>
          <p:cNvSpPr/>
          <p:nvPr/>
        </p:nvSpPr>
        <p:spPr>
          <a:xfrm>
            <a:off x="3227832" y="1371600"/>
            <a:ext cx="54864" cy="896112"/>
          </a:xfrm>
          <a:prstGeom prst="rect">
            <a:avLst/>
          </a:prstGeom>
          <a:solidFill>
            <a:srgbClr val="1F6FEB"/>
          </a:solidFill>
          <a:ln w="12700">
            <a:solidFill>
              <a:srgbClr val="1F6FEB"/>
            </a:solidFill>
            <a:prstDash val="solid"/>
          </a:ln>
        </p:spPr>
        <p:txBody>
          <a:bodyPr/>
          <a:lstStyle/>
          <a:p>
            <a:endParaRPr lang="en-US"/>
          </a:p>
        </p:txBody>
      </p:sp>
      <p:sp>
        <p:nvSpPr>
          <p:cNvPr id="15" name="Text 13"/>
          <p:cNvSpPr/>
          <p:nvPr/>
        </p:nvSpPr>
        <p:spPr>
          <a:xfrm>
            <a:off x="3410712" y="1481328"/>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Reusable capabilities</a:t>
            </a:r>
            <a:endParaRPr lang="en-US" sz="1250" dirty="0"/>
          </a:p>
        </p:txBody>
      </p:sp>
      <p:sp>
        <p:nvSpPr>
          <p:cNvPr id="16" name="Text 14"/>
          <p:cNvSpPr/>
          <p:nvPr/>
        </p:nvSpPr>
        <p:spPr>
          <a:xfrm>
            <a:off x="3410712" y="1792224"/>
            <a:ext cx="2359152" cy="36576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Analysis logic shared across scenarios</a:t>
            </a:r>
            <a:endParaRPr lang="en-US" sz="950" dirty="0"/>
          </a:p>
        </p:txBody>
      </p:sp>
      <p:sp>
        <p:nvSpPr>
          <p:cNvPr id="17" name="Card container">
            <a:extLst>
              <a:ext uri="{C183D7F6-B498-43B3-948B-1728B52AA6E4}">
                <adec:decorative xmlns:adec="http://schemas.microsoft.com/office/drawing/2017/decorative" val="1"/>
              </a:ext>
            </a:extLst>
          </p:cNvPr>
          <p:cNvSpPr/>
          <p:nvPr/>
        </p:nvSpPr>
        <p:spPr>
          <a:xfrm>
            <a:off x="6044184" y="1371600"/>
            <a:ext cx="2679192" cy="89611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18" name="Card accent">
            <a:extLst>
              <a:ext uri="{C183D7F6-B498-43B3-948B-1728B52AA6E4}">
                <adec:decorative xmlns:adec="http://schemas.microsoft.com/office/drawing/2017/decorative" val="1"/>
              </a:ext>
            </a:extLst>
          </p:cNvPr>
          <p:cNvSpPr/>
          <p:nvPr/>
        </p:nvSpPr>
        <p:spPr>
          <a:xfrm>
            <a:off x="6044184" y="1371600"/>
            <a:ext cx="54864" cy="896112"/>
          </a:xfrm>
          <a:prstGeom prst="rect">
            <a:avLst/>
          </a:prstGeom>
          <a:solidFill>
            <a:srgbClr val="1F6FEB"/>
          </a:solidFill>
          <a:ln w="12700">
            <a:solidFill>
              <a:srgbClr val="1F6FEB"/>
            </a:solidFill>
            <a:prstDash val="solid"/>
          </a:ln>
        </p:spPr>
        <p:txBody>
          <a:bodyPr/>
          <a:lstStyle/>
          <a:p>
            <a:endParaRPr lang="en-US"/>
          </a:p>
        </p:txBody>
      </p:sp>
      <p:sp>
        <p:nvSpPr>
          <p:cNvPr id="19" name="Text 17"/>
          <p:cNvSpPr/>
          <p:nvPr/>
        </p:nvSpPr>
        <p:spPr>
          <a:xfrm>
            <a:off x="6227064" y="1481328"/>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Plug-and-play architecture</a:t>
            </a:r>
            <a:endParaRPr lang="en-US" sz="1250" dirty="0"/>
          </a:p>
        </p:txBody>
      </p:sp>
      <p:sp>
        <p:nvSpPr>
          <p:cNvPr id="20" name="Text 18"/>
          <p:cNvSpPr/>
          <p:nvPr/>
        </p:nvSpPr>
        <p:spPr>
          <a:xfrm>
            <a:off x="6227064" y="1792224"/>
            <a:ext cx="2359152" cy="36576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New agents added without redesign</a:t>
            </a:r>
            <a:endParaRPr lang="en-US" sz="950" dirty="0"/>
          </a:p>
        </p:txBody>
      </p:sp>
      <p:sp>
        <p:nvSpPr>
          <p:cNvPr id="21" name="Card container">
            <a:extLst>
              <a:ext uri="{C183D7F6-B498-43B3-948B-1728B52AA6E4}">
                <adec:decorative xmlns:adec="http://schemas.microsoft.com/office/drawing/2017/decorative" val="1"/>
              </a:ext>
            </a:extLst>
          </p:cNvPr>
          <p:cNvSpPr/>
          <p:nvPr/>
        </p:nvSpPr>
        <p:spPr>
          <a:xfrm>
            <a:off x="411480" y="2432304"/>
            <a:ext cx="2679192" cy="89611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22" name="Card accent">
            <a:extLst>
              <a:ext uri="{C183D7F6-B498-43B3-948B-1728B52AA6E4}">
                <adec:decorative xmlns:adec="http://schemas.microsoft.com/office/drawing/2017/decorative" val="1"/>
              </a:ext>
            </a:extLst>
          </p:cNvPr>
          <p:cNvSpPr/>
          <p:nvPr/>
        </p:nvSpPr>
        <p:spPr>
          <a:xfrm>
            <a:off x="411480" y="2432304"/>
            <a:ext cx="54864" cy="896112"/>
          </a:xfrm>
          <a:prstGeom prst="rect">
            <a:avLst/>
          </a:prstGeom>
          <a:solidFill>
            <a:srgbClr val="0B4AA2"/>
          </a:solidFill>
          <a:ln w="12700">
            <a:solidFill>
              <a:srgbClr val="0B4AA2"/>
            </a:solidFill>
            <a:prstDash val="solid"/>
          </a:ln>
        </p:spPr>
        <p:txBody>
          <a:bodyPr/>
          <a:lstStyle/>
          <a:p>
            <a:endParaRPr lang="en-US"/>
          </a:p>
        </p:txBody>
      </p:sp>
      <p:sp>
        <p:nvSpPr>
          <p:cNvPr id="23" name="Text 21"/>
          <p:cNvSpPr/>
          <p:nvPr/>
        </p:nvSpPr>
        <p:spPr>
          <a:xfrm>
            <a:off x="594360" y="2542032"/>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Shared reports and artifacts</a:t>
            </a:r>
            <a:endParaRPr lang="en-US" sz="1250" dirty="0"/>
          </a:p>
        </p:txBody>
      </p:sp>
      <p:sp>
        <p:nvSpPr>
          <p:cNvPr id="24" name="Text 22"/>
          <p:cNvSpPr/>
          <p:nvPr/>
        </p:nvSpPr>
        <p:spPr>
          <a:xfrm>
            <a:off x="594360" y="2852928"/>
            <a:ext cx="2359152" cy="36576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Structured outputs, not chat messages</a:t>
            </a:r>
            <a:endParaRPr lang="en-US" sz="950" dirty="0"/>
          </a:p>
        </p:txBody>
      </p:sp>
      <p:sp>
        <p:nvSpPr>
          <p:cNvPr id="25" name="Card container">
            <a:extLst>
              <a:ext uri="{C183D7F6-B498-43B3-948B-1728B52AA6E4}">
                <adec:decorative xmlns:adec="http://schemas.microsoft.com/office/drawing/2017/decorative" val="1"/>
              </a:ext>
            </a:extLst>
          </p:cNvPr>
          <p:cNvSpPr/>
          <p:nvPr/>
        </p:nvSpPr>
        <p:spPr>
          <a:xfrm>
            <a:off x="3227832" y="2432304"/>
            <a:ext cx="2679192" cy="89611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26" name="Card accent">
            <a:extLst>
              <a:ext uri="{C183D7F6-B498-43B3-948B-1728B52AA6E4}">
                <adec:decorative xmlns:adec="http://schemas.microsoft.com/office/drawing/2017/decorative" val="1"/>
              </a:ext>
            </a:extLst>
          </p:cNvPr>
          <p:cNvSpPr/>
          <p:nvPr/>
        </p:nvSpPr>
        <p:spPr>
          <a:xfrm>
            <a:off x="3227832" y="2432304"/>
            <a:ext cx="54864" cy="896112"/>
          </a:xfrm>
          <a:prstGeom prst="rect">
            <a:avLst/>
          </a:prstGeom>
          <a:solidFill>
            <a:srgbClr val="0B4AA2"/>
          </a:solidFill>
          <a:ln w="12700">
            <a:solidFill>
              <a:srgbClr val="0B4AA2"/>
            </a:solidFill>
            <a:prstDash val="solid"/>
          </a:ln>
        </p:spPr>
        <p:txBody>
          <a:bodyPr/>
          <a:lstStyle/>
          <a:p>
            <a:endParaRPr lang="en-US"/>
          </a:p>
        </p:txBody>
      </p:sp>
      <p:sp>
        <p:nvSpPr>
          <p:cNvPr id="27" name="Text 25"/>
          <p:cNvSpPr/>
          <p:nvPr/>
        </p:nvSpPr>
        <p:spPr>
          <a:xfrm>
            <a:off x="3410712" y="2542032"/>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Controlled execution</a:t>
            </a:r>
            <a:endParaRPr lang="en-US" sz="1250" dirty="0"/>
          </a:p>
        </p:txBody>
      </p:sp>
      <p:sp>
        <p:nvSpPr>
          <p:cNvPr id="28" name="Text 26"/>
          <p:cNvSpPr/>
          <p:nvPr/>
        </p:nvSpPr>
        <p:spPr>
          <a:xfrm>
            <a:off x="3410712" y="2852928"/>
            <a:ext cx="2359152" cy="36576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Changes applied under defined safeguards</a:t>
            </a:r>
            <a:endParaRPr lang="en-US" sz="950" dirty="0"/>
          </a:p>
        </p:txBody>
      </p:sp>
      <p:sp>
        <p:nvSpPr>
          <p:cNvPr id="29" name="Card container">
            <a:extLst>
              <a:ext uri="{C183D7F6-B498-43B3-948B-1728B52AA6E4}">
                <adec:decorative xmlns:adec="http://schemas.microsoft.com/office/drawing/2017/decorative" val="1"/>
              </a:ext>
            </a:extLst>
          </p:cNvPr>
          <p:cNvSpPr/>
          <p:nvPr/>
        </p:nvSpPr>
        <p:spPr>
          <a:xfrm>
            <a:off x="6044184" y="2432304"/>
            <a:ext cx="2679192" cy="89611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30" name="Card accent">
            <a:extLst>
              <a:ext uri="{C183D7F6-B498-43B3-948B-1728B52AA6E4}">
                <adec:decorative xmlns:adec="http://schemas.microsoft.com/office/drawing/2017/decorative" val="1"/>
              </a:ext>
            </a:extLst>
          </p:cNvPr>
          <p:cNvSpPr/>
          <p:nvPr/>
        </p:nvSpPr>
        <p:spPr>
          <a:xfrm>
            <a:off x="6044184" y="2432304"/>
            <a:ext cx="54864" cy="896112"/>
          </a:xfrm>
          <a:prstGeom prst="rect">
            <a:avLst/>
          </a:prstGeom>
          <a:solidFill>
            <a:srgbClr val="0B4AA2"/>
          </a:solidFill>
          <a:ln w="12700">
            <a:solidFill>
              <a:srgbClr val="0B4AA2"/>
            </a:solidFill>
            <a:prstDash val="solid"/>
          </a:ln>
        </p:spPr>
        <p:txBody>
          <a:bodyPr/>
          <a:lstStyle/>
          <a:p>
            <a:endParaRPr lang="en-US"/>
          </a:p>
        </p:txBody>
      </p:sp>
      <p:sp>
        <p:nvSpPr>
          <p:cNvPr id="31" name="Text 29"/>
          <p:cNvSpPr/>
          <p:nvPr/>
        </p:nvSpPr>
        <p:spPr>
          <a:xfrm>
            <a:off x="6227064" y="2542032"/>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Build and test validation</a:t>
            </a:r>
            <a:endParaRPr lang="en-US" sz="1250" dirty="0"/>
          </a:p>
        </p:txBody>
      </p:sp>
      <p:sp>
        <p:nvSpPr>
          <p:cNvPr id="32" name="Text 30"/>
          <p:cNvSpPr/>
          <p:nvPr/>
        </p:nvSpPr>
        <p:spPr>
          <a:xfrm>
            <a:off x="6227064" y="2852928"/>
            <a:ext cx="2359152" cy="36576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Every change verified before completion</a:t>
            </a:r>
            <a:endParaRPr lang="en-US" sz="950" dirty="0"/>
          </a:p>
        </p:txBody>
      </p:sp>
      <p:sp>
        <p:nvSpPr>
          <p:cNvPr id="33" name="Principle banner">
            <a:extLst>
              <a:ext uri="{C183D7F6-B498-43B3-948B-1728B52AA6E4}">
                <adec:decorative xmlns:adec="http://schemas.microsoft.com/office/drawing/2017/decorative" val="1"/>
              </a:ext>
            </a:extLst>
          </p:cNvPr>
          <p:cNvSpPr/>
          <p:nvPr/>
        </p:nvSpPr>
        <p:spPr>
          <a:xfrm>
            <a:off x="411480" y="3493008"/>
            <a:ext cx="8321040" cy="731520"/>
          </a:xfrm>
          <a:prstGeom prst="rect">
            <a:avLst/>
          </a:prstGeom>
          <a:solidFill>
            <a:srgbClr val="EAF2FD"/>
          </a:solidFill>
          <a:ln w="12700">
            <a:solidFill>
              <a:srgbClr val="1F6FEB"/>
            </a:solidFill>
            <a:prstDash val="solid"/>
          </a:ln>
        </p:spPr>
        <p:txBody>
          <a:bodyPr/>
          <a:lstStyle/>
          <a:p>
            <a:endParaRPr lang="en-US"/>
          </a:p>
        </p:txBody>
      </p:sp>
      <p:sp>
        <p:nvSpPr>
          <p:cNvPr id="34" name="Text 32"/>
          <p:cNvSpPr/>
          <p:nvPr/>
        </p:nvSpPr>
        <p:spPr>
          <a:xfrm>
            <a:off x="411480" y="3493008"/>
            <a:ext cx="8321040" cy="731520"/>
          </a:xfrm>
          <a:prstGeom prst="rect">
            <a:avLst/>
          </a:prstGeom>
          <a:noFill/>
          <a:ln/>
        </p:spPr>
        <p:txBody>
          <a:bodyPr wrap="square" lIns="0" tIns="0" rIns="0" bIns="0" rtlCol="0" anchor="ctr"/>
          <a:lstStyle/>
          <a:p>
            <a:pPr marL="0" indent="0" algn="ctr">
              <a:buNone/>
            </a:pPr>
            <a:r>
              <a:rPr lang="en-US" sz="1250" b="1" dirty="0">
                <a:solidFill>
                  <a:srgbClr val="0F2540"/>
                </a:solidFill>
                <a:latin typeface="Segoe UI" pitchFamily="34" charset="0"/>
                <a:ea typeface="Segoe UI" pitchFamily="34" charset="-122"/>
                <a:cs typeface="Segoe UI" pitchFamily="34" charset="-120"/>
              </a:rPr>
              <a:t>Traceability of changes — every modification is recorded, explainable, and reviewable</a:t>
            </a:r>
            <a:endParaRPr lang="en-US" sz="1250" dirty="0"/>
          </a:p>
        </p:txBody>
      </p:sp>
      <p:sp>
        <p:nvSpPr>
          <p:cNvPr id="35" name="Text 33"/>
          <p:cNvSpPr/>
          <p:nvPr/>
        </p:nvSpPr>
        <p:spPr>
          <a:xfrm>
            <a:off x="411480" y="4334256"/>
            <a:ext cx="8321040" cy="256032"/>
          </a:xfrm>
          <a:prstGeom prst="rect">
            <a:avLst/>
          </a:prstGeom>
          <a:noFill/>
          <a:ln/>
        </p:spPr>
        <p:txBody>
          <a:bodyPr wrap="square" lIns="0" tIns="0" rIns="0" bIns="0" rtlCol="0" anchor="ctr"/>
          <a:lstStyle/>
          <a:p>
            <a:pPr marL="0" indent="0">
              <a:buNone/>
            </a:pPr>
            <a:r>
              <a:rPr lang="en-US" sz="950" i="1" dirty="0">
                <a:solidFill>
                  <a:srgbClr val="44546A"/>
                </a:solidFill>
                <a:latin typeface="Segoe UI" pitchFamily="34" charset="0"/>
                <a:ea typeface="Segoe UI" pitchFamily="34" charset="-122"/>
                <a:cs typeface="Segoe UI" pitchFamily="34" charset="-120"/>
              </a:rPr>
              <a:t>Future Vision — design principles, not yet implemented.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F6FEB"/>
          </a:solidFill>
          <a:ln w="12700">
            <a:solidFill>
              <a:srgbClr val="1F6FEB"/>
            </a:solidFill>
            <a:prstDash val="solid"/>
          </a:ln>
        </p:spPr>
        <p:txBody>
          <a:bodyPr/>
          <a:lstStyle/>
          <a:p>
            <a:endParaRPr lang="en-US"/>
          </a:p>
        </p:txBody>
      </p:sp>
      <p:sp>
        <p:nvSpPr>
          <p:cNvPr id="3" name="Text 1"/>
          <p:cNvSpPr/>
          <p:nvPr/>
        </p:nvSpPr>
        <p:spPr>
          <a:xfrm>
            <a:off x="411480" y="237744"/>
            <a:ext cx="548640" cy="411480"/>
          </a:xfrm>
          <a:prstGeom prst="rect">
            <a:avLst/>
          </a:prstGeom>
          <a:noFill/>
          <a:ln/>
        </p:spPr>
        <p:txBody>
          <a:bodyPr wrap="square" lIns="0" tIns="0" rIns="0" bIns="0" rtlCol="0" anchor="ctr"/>
          <a:lstStyle/>
          <a:p>
            <a:pPr marL="0" indent="0">
              <a:buNone/>
            </a:pPr>
            <a:r>
              <a:rPr lang="en-US" sz="2000" b="1" dirty="0">
                <a:solidFill>
                  <a:srgbClr val="9DC2F5"/>
                </a:solidFill>
                <a:latin typeface="Segoe UI" pitchFamily="34" charset="0"/>
                <a:ea typeface="Segoe UI" pitchFamily="34" charset="-122"/>
                <a:cs typeface="Segoe UI" pitchFamily="34" charset="-120"/>
              </a:rPr>
              <a:t>06</a:t>
            </a:r>
            <a:endParaRPr lang="en-US" sz="2000" dirty="0"/>
          </a:p>
        </p:txBody>
      </p:sp>
      <p:sp>
        <p:nvSpPr>
          <p:cNvPr id="4" name="Text 2"/>
          <p:cNvSpPr/>
          <p:nvPr/>
        </p:nvSpPr>
        <p:spPr>
          <a:xfrm>
            <a:off x="960120" y="219456"/>
            <a:ext cx="5669280" cy="457200"/>
          </a:xfrm>
          <a:prstGeom prst="rect">
            <a:avLst/>
          </a:prstGeom>
          <a:noFill/>
          <a:ln/>
        </p:spPr>
        <p:txBody>
          <a:bodyPr wrap="square" lIns="0" tIns="0" rIns="0" bIns="0" rtlCol="0" anchor="ctr"/>
          <a:lstStyle/>
          <a:p>
            <a:pPr marL="0" indent="0">
              <a:buNone/>
            </a:pPr>
            <a:r>
              <a:rPr lang="en-US" sz="2400" b="1" dirty="0">
                <a:solidFill>
                  <a:srgbClr val="0F2540"/>
                </a:solidFill>
                <a:latin typeface="Segoe UI" pitchFamily="34" charset="0"/>
                <a:ea typeface="Segoe UI" pitchFamily="34" charset="-122"/>
                <a:cs typeface="Segoe UI" pitchFamily="34" charset="-120"/>
              </a:rPr>
              <a:t>Proposed Multi-Agent Architecture</a:t>
            </a:r>
            <a:endParaRPr lang="en-US" sz="2400" dirty="0"/>
          </a:p>
        </p:txBody>
      </p:sp>
      <p:sp>
        <p:nvSpPr>
          <p:cNvPr id="5" name="State label chip">
            <a:extLst>
              <a:ext uri="{C183D7F6-B498-43B3-948B-1728B52AA6E4}">
                <adec:decorative xmlns:adec="http://schemas.microsoft.com/office/drawing/2017/decorative" val="1"/>
              </a:ext>
            </a:extLst>
          </p:cNvPr>
          <p:cNvSpPr/>
          <p:nvPr/>
        </p:nvSpPr>
        <p:spPr>
          <a:xfrm>
            <a:off x="6812280" y="274320"/>
            <a:ext cx="1920240" cy="347472"/>
          </a:xfrm>
          <a:prstGeom prst="rect">
            <a:avLst/>
          </a:prstGeom>
          <a:solidFill>
            <a:srgbClr val="F3F6FA"/>
          </a:solidFill>
          <a:ln w="12700">
            <a:solidFill>
              <a:srgbClr val="44546A"/>
            </a:solidFill>
            <a:prstDash val="solid"/>
          </a:ln>
        </p:spPr>
        <p:txBody>
          <a:bodyPr/>
          <a:lstStyle/>
          <a:p>
            <a:endParaRPr lang="en-US"/>
          </a:p>
        </p:txBody>
      </p:sp>
      <p:sp>
        <p:nvSpPr>
          <p:cNvPr id="6" name="Text 4"/>
          <p:cNvSpPr/>
          <p:nvPr/>
        </p:nvSpPr>
        <p:spPr>
          <a:xfrm>
            <a:off x="6812280" y="274320"/>
            <a:ext cx="1920240" cy="347472"/>
          </a:xfrm>
          <a:prstGeom prst="rect">
            <a:avLst/>
          </a:prstGeom>
          <a:noFill/>
          <a:ln/>
        </p:spPr>
        <p:txBody>
          <a:bodyPr wrap="square" lIns="0" tIns="0" rIns="0" bIns="0" rtlCol="0" anchor="ctr"/>
          <a:lstStyle/>
          <a:p>
            <a:pPr marL="0" indent="0" algn="ctr">
              <a:buNone/>
            </a:pPr>
            <a:r>
              <a:rPr lang="en-US" sz="1000" b="1" kern="0" spc="150" dirty="0">
                <a:solidFill>
                  <a:srgbClr val="44546A"/>
                </a:solidFill>
                <a:latin typeface="Segoe UI" pitchFamily="34" charset="0"/>
                <a:ea typeface="Segoe UI" pitchFamily="34" charset="-122"/>
                <a:cs typeface="Segoe UI" pitchFamily="34" charset="-120"/>
              </a:rPr>
              <a:t>FUTURE VISION</a:t>
            </a:r>
            <a:endParaRPr lang="en-US" sz="1000" dirty="0"/>
          </a:p>
        </p:txBody>
      </p:sp>
      <p:sp>
        <p:nvSpPr>
          <p:cNvPr id="7" name="Header rule">
            <a:extLst>
              <a:ext uri="{C183D7F6-B498-43B3-948B-1728B52AA6E4}">
                <adec:decorative xmlns:adec="http://schemas.microsoft.com/office/drawing/2017/decorative" val="1"/>
              </a:ext>
            </a:extLst>
          </p:cNvPr>
          <p:cNvSpPr/>
          <p:nvPr/>
        </p:nvSpPr>
        <p:spPr>
          <a:xfrm>
            <a:off x="411480" y="768096"/>
            <a:ext cx="8321040" cy="0"/>
          </a:xfrm>
          <a:prstGeom prst="line">
            <a:avLst/>
          </a:prstGeom>
          <a:noFill/>
          <a:ln w="12700">
            <a:solidFill>
              <a:srgbClr val="D6E2F2"/>
            </a:solidFill>
            <a:prstDash val="solid"/>
          </a:ln>
        </p:spPr>
        <p:txBody>
          <a:bodyPr/>
          <a:lstStyle/>
          <a:p>
            <a:endParaRPr lang="en-US"/>
          </a:p>
        </p:txBody>
      </p:sp>
      <p:sp>
        <p:nvSpPr>
          <p:cNvPr id="8" name="Agent card">
            <a:extLst>
              <a:ext uri="{C183D7F6-B498-43B3-948B-1728B52AA6E4}">
                <adec:decorative xmlns:adec="http://schemas.microsoft.com/office/drawing/2017/decorative" val="1"/>
              </a:ext>
            </a:extLst>
          </p:cNvPr>
          <p:cNvSpPr/>
          <p:nvPr/>
        </p:nvSpPr>
        <p:spPr>
          <a:xfrm>
            <a:off x="411480" y="914400"/>
            <a:ext cx="1627632" cy="2487168"/>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9" name="Agent card header">
            <a:extLst>
              <a:ext uri="{C183D7F6-B498-43B3-948B-1728B52AA6E4}">
                <adec:decorative xmlns:adec="http://schemas.microsoft.com/office/drawing/2017/decorative" val="1"/>
              </a:ext>
            </a:extLst>
          </p:cNvPr>
          <p:cNvSpPr/>
          <p:nvPr/>
        </p:nvSpPr>
        <p:spPr>
          <a:xfrm>
            <a:off x="411480" y="914400"/>
            <a:ext cx="1627632" cy="548640"/>
          </a:xfrm>
          <a:prstGeom prst="rect">
            <a:avLst/>
          </a:prstGeom>
          <a:solidFill>
            <a:srgbClr val="0E8F8F"/>
          </a:solidFill>
          <a:ln w="12700">
            <a:solidFill>
              <a:srgbClr val="0E8F8F"/>
            </a:solidFill>
            <a:prstDash val="solid"/>
          </a:ln>
        </p:spPr>
        <p:txBody>
          <a:bodyPr/>
          <a:lstStyle/>
          <a:p>
            <a:endParaRPr lang="en-US"/>
          </a:p>
        </p:txBody>
      </p:sp>
      <p:sp>
        <p:nvSpPr>
          <p:cNvPr id="10" name="Text 8"/>
          <p:cNvSpPr/>
          <p:nvPr/>
        </p:nvSpPr>
        <p:spPr>
          <a:xfrm>
            <a:off x="502920" y="914400"/>
            <a:ext cx="1444752" cy="548640"/>
          </a:xfrm>
          <a:prstGeom prst="rect">
            <a:avLst/>
          </a:prstGeom>
          <a:noFill/>
          <a:ln/>
        </p:spPr>
        <p:txBody>
          <a:bodyPr wrap="square" lIns="0" tIns="0" rIns="0" bIns="0"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Agent 1 — Testing</a:t>
            </a:r>
            <a:endParaRPr lang="en-US" sz="950" dirty="0"/>
          </a:p>
        </p:txBody>
      </p:sp>
      <p:sp>
        <p:nvSpPr>
          <p:cNvPr id="11" name="Text 9"/>
          <p:cNvSpPr/>
          <p:nvPr/>
        </p:nvSpPr>
        <p:spPr>
          <a:xfrm>
            <a:off x="539496" y="1554480"/>
            <a:ext cx="1389888" cy="1737360"/>
          </a:xfrm>
          <a:prstGeom prst="rect">
            <a:avLst/>
          </a:prstGeom>
          <a:noFill/>
          <a:ln/>
        </p:spPr>
        <p:txBody>
          <a:bodyPr wrap="square" lIns="0" tIns="0" rIns="0" bIns="0" rtlCol="0" anchor="ctr"/>
          <a:lstStyle/>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Prepare test strategy</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Generate test cases</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Execute scenarios</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Preserve baseline results</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Re-run after migration</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Compare old vs. new</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Identify functional differences</a:t>
            </a:r>
            <a:endParaRPr lang="en-US" sz="800" dirty="0"/>
          </a:p>
        </p:txBody>
      </p:sp>
      <p:sp>
        <p:nvSpPr>
          <p:cNvPr id="12" name="Flow connector">
            <a:extLst>
              <a:ext uri="{C183D7F6-B498-43B3-948B-1728B52AA6E4}">
                <adec:decorative xmlns:adec="http://schemas.microsoft.com/office/drawing/2017/decorative" val="1"/>
              </a:ext>
            </a:extLst>
          </p:cNvPr>
          <p:cNvSpPr/>
          <p:nvPr/>
        </p:nvSpPr>
        <p:spPr>
          <a:xfrm>
            <a:off x="2048256" y="1188720"/>
            <a:ext cx="91440" cy="0"/>
          </a:xfrm>
          <a:prstGeom prst="line">
            <a:avLst/>
          </a:prstGeom>
          <a:noFill/>
          <a:ln w="22225">
            <a:solidFill>
              <a:srgbClr val="44546A"/>
            </a:solidFill>
            <a:prstDash val="solid"/>
            <a:tailEnd type="triangle"/>
          </a:ln>
        </p:spPr>
        <p:txBody>
          <a:bodyPr/>
          <a:lstStyle/>
          <a:p>
            <a:endParaRPr lang="en-US"/>
          </a:p>
        </p:txBody>
      </p:sp>
      <p:sp>
        <p:nvSpPr>
          <p:cNvPr id="13" name="Agent card">
            <a:extLst>
              <a:ext uri="{C183D7F6-B498-43B3-948B-1728B52AA6E4}">
                <adec:decorative xmlns:adec="http://schemas.microsoft.com/office/drawing/2017/decorative" val="1"/>
              </a:ext>
            </a:extLst>
          </p:cNvPr>
          <p:cNvSpPr/>
          <p:nvPr/>
        </p:nvSpPr>
        <p:spPr>
          <a:xfrm>
            <a:off x="2148840" y="914400"/>
            <a:ext cx="1627632" cy="2487168"/>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14" name="Agent card header">
            <a:extLst>
              <a:ext uri="{C183D7F6-B498-43B3-948B-1728B52AA6E4}">
                <adec:decorative xmlns:adec="http://schemas.microsoft.com/office/drawing/2017/decorative" val="1"/>
              </a:ext>
            </a:extLst>
          </p:cNvPr>
          <p:cNvSpPr/>
          <p:nvPr/>
        </p:nvSpPr>
        <p:spPr>
          <a:xfrm>
            <a:off x="2148840" y="914400"/>
            <a:ext cx="1627632" cy="548640"/>
          </a:xfrm>
          <a:prstGeom prst="rect">
            <a:avLst/>
          </a:prstGeom>
          <a:solidFill>
            <a:srgbClr val="1F6FEB"/>
          </a:solidFill>
          <a:ln w="12700">
            <a:solidFill>
              <a:srgbClr val="1F6FEB"/>
            </a:solidFill>
            <a:prstDash val="solid"/>
          </a:ln>
        </p:spPr>
        <p:txBody>
          <a:bodyPr/>
          <a:lstStyle/>
          <a:p>
            <a:endParaRPr lang="en-US"/>
          </a:p>
        </p:txBody>
      </p:sp>
      <p:sp>
        <p:nvSpPr>
          <p:cNvPr id="15" name="Text 13"/>
          <p:cNvSpPr/>
          <p:nvPr/>
        </p:nvSpPr>
        <p:spPr>
          <a:xfrm>
            <a:off x="2240280" y="914400"/>
            <a:ext cx="1444752" cy="548640"/>
          </a:xfrm>
          <a:prstGeom prst="rect">
            <a:avLst/>
          </a:prstGeom>
          <a:noFill/>
          <a:ln/>
        </p:spPr>
        <p:txBody>
          <a:bodyPr wrap="square" lIns="0" tIns="0" rIns="0" bIns="0"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Agent 2 — Dependency &amp; Code Scanner</a:t>
            </a:r>
            <a:endParaRPr lang="en-US" sz="950" dirty="0"/>
          </a:p>
        </p:txBody>
      </p:sp>
      <p:sp>
        <p:nvSpPr>
          <p:cNvPr id="16" name="Text 14"/>
          <p:cNvSpPr/>
          <p:nvPr/>
        </p:nvSpPr>
        <p:spPr>
          <a:xfrm>
            <a:off x="2276856" y="1554480"/>
            <a:ext cx="1389888" cy="1737360"/>
          </a:xfrm>
          <a:prstGeom prst="rect">
            <a:avLst/>
          </a:prstGeom>
          <a:noFill/>
          <a:ln/>
        </p:spPr>
        <p:txBody>
          <a:bodyPr wrap="square" lIns="0" tIns="0" rIns="0" bIns="0" rtlCol="0" anchor="ctr"/>
          <a:lstStyle/>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Scan project and source code</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Identify Java version</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Identify framework versions</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Analyze dependencies</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Detect legacy technologies</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Generate analysis report</a:t>
            </a:r>
            <a:endParaRPr lang="en-US" sz="800" dirty="0"/>
          </a:p>
        </p:txBody>
      </p:sp>
      <p:sp>
        <p:nvSpPr>
          <p:cNvPr id="17" name="Flow connector">
            <a:extLst>
              <a:ext uri="{C183D7F6-B498-43B3-948B-1728B52AA6E4}">
                <adec:decorative xmlns:adec="http://schemas.microsoft.com/office/drawing/2017/decorative" val="1"/>
              </a:ext>
            </a:extLst>
          </p:cNvPr>
          <p:cNvSpPr/>
          <p:nvPr/>
        </p:nvSpPr>
        <p:spPr>
          <a:xfrm>
            <a:off x="3785616" y="1188720"/>
            <a:ext cx="91440" cy="0"/>
          </a:xfrm>
          <a:prstGeom prst="line">
            <a:avLst/>
          </a:prstGeom>
          <a:noFill/>
          <a:ln w="22225">
            <a:solidFill>
              <a:srgbClr val="44546A"/>
            </a:solidFill>
            <a:prstDash val="solid"/>
            <a:tailEnd type="triangle"/>
          </a:ln>
        </p:spPr>
        <p:txBody>
          <a:bodyPr/>
          <a:lstStyle/>
          <a:p>
            <a:endParaRPr lang="en-US"/>
          </a:p>
        </p:txBody>
      </p:sp>
      <p:sp>
        <p:nvSpPr>
          <p:cNvPr id="18" name="Agent card">
            <a:extLst>
              <a:ext uri="{C183D7F6-B498-43B3-948B-1728B52AA6E4}">
                <adec:decorative xmlns:adec="http://schemas.microsoft.com/office/drawing/2017/decorative" val="1"/>
              </a:ext>
            </a:extLst>
          </p:cNvPr>
          <p:cNvSpPr/>
          <p:nvPr/>
        </p:nvSpPr>
        <p:spPr>
          <a:xfrm>
            <a:off x="3886200" y="914400"/>
            <a:ext cx="1627632" cy="2487168"/>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19" name="Agent card header">
            <a:extLst>
              <a:ext uri="{C183D7F6-B498-43B3-948B-1728B52AA6E4}">
                <adec:decorative xmlns:adec="http://schemas.microsoft.com/office/drawing/2017/decorative" val="1"/>
              </a:ext>
            </a:extLst>
          </p:cNvPr>
          <p:cNvSpPr/>
          <p:nvPr/>
        </p:nvSpPr>
        <p:spPr>
          <a:xfrm>
            <a:off x="3886200" y="914400"/>
            <a:ext cx="1627632" cy="548640"/>
          </a:xfrm>
          <a:prstGeom prst="rect">
            <a:avLst/>
          </a:prstGeom>
          <a:solidFill>
            <a:srgbClr val="B26A00"/>
          </a:solidFill>
          <a:ln w="12700">
            <a:solidFill>
              <a:srgbClr val="B26A00"/>
            </a:solidFill>
            <a:prstDash val="solid"/>
          </a:ln>
        </p:spPr>
        <p:txBody>
          <a:bodyPr/>
          <a:lstStyle/>
          <a:p>
            <a:endParaRPr lang="en-US"/>
          </a:p>
        </p:txBody>
      </p:sp>
      <p:sp>
        <p:nvSpPr>
          <p:cNvPr id="20" name="Text 18"/>
          <p:cNvSpPr/>
          <p:nvPr/>
        </p:nvSpPr>
        <p:spPr>
          <a:xfrm>
            <a:off x="3977640" y="914400"/>
            <a:ext cx="1444752" cy="548640"/>
          </a:xfrm>
          <a:prstGeom prst="rect">
            <a:avLst/>
          </a:prstGeom>
          <a:noFill/>
          <a:ln/>
        </p:spPr>
        <p:txBody>
          <a:bodyPr wrap="square" lIns="0" tIns="0" rIns="0" bIns="0"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Agent 3 — Security Scanner</a:t>
            </a:r>
            <a:endParaRPr lang="en-US" sz="950" dirty="0"/>
          </a:p>
        </p:txBody>
      </p:sp>
      <p:sp>
        <p:nvSpPr>
          <p:cNvPr id="21" name="Text 19"/>
          <p:cNvSpPr/>
          <p:nvPr/>
        </p:nvSpPr>
        <p:spPr>
          <a:xfrm>
            <a:off x="4014216" y="1554480"/>
            <a:ext cx="1389888" cy="1737360"/>
          </a:xfrm>
          <a:prstGeom prst="rect">
            <a:avLst/>
          </a:prstGeom>
          <a:noFill/>
          <a:ln/>
        </p:spPr>
        <p:txBody>
          <a:bodyPr wrap="square" lIns="0" tIns="0" rIns="0" bIns="0" rtlCol="0" anchor="ctr"/>
          <a:lstStyle/>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Perform security analysis</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Identify vulnerabilities</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Detect insecure patterns</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Detect insecure configuration</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Generate reusable report</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Integrate with other workflows</a:t>
            </a:r>
            <a:endParaRPr lang="en-US" sz="800" dirty="0"/>
          </a:p>
        </p:txBody>
      </p:sp>
      <p:sp>
        <p:nvSpPr>
          <p:cNvPr id="22" name="Flow connector">
            <a:extLst>
              <a:ext uri="{C183D7F6-B498-43B3-948B-1728B52AA6E4}">
                <adec:decorative xmlns:adec="http://schemas.microsoft.com/office/drawing/2017/decorative" val="1"/>
              </a:ext>
            </a:extLst>
          </p:cNvPr>
          <p:cNvSpPr/>
          <p:nvPr/>
        </p:nvSpPr>
        <p:spPr>
          <a:xfrm>
            <a:off x="5522976" y="1188720"/>
            <a:ext cx="91440" cy="0"/>
          </a:xfrm>
          <a:prstGeom prst="line">
            <a:avLst/>
          </a:prstGeom>
          <a:noFill/>
          <a:ln w="22225">
            <a:solidFill>
              <a:srgbClr val="44546A"/>
            </a:solidFill>
            <a:prstDash val="solid"/>
            <a:tailEnd type="triangle"/>
          </a:ln>
        </p:spPr>
        <p:txBody>
          <a:bodyPr/>
          <a:lstStyle/>
          <a:p>
            <a:endParaRPr lang="en-US"/>
          </a:p>
        </p:txBody>
      </p:sp>
      <p:sp>
        <p:nvSpPr>
          <p:cNvPr id="23" name="Agent card">
            <a:extLst>
              <a:ext uri="{C183D7F6-B498-43B3-948B-1728B52AA6E4}">
                <adec:decorative xmlns:adec="http://schemas.microsoft.com/office/drawing/2017/decorative" val="1"/>
              </a:ext>
            </a:extLst>
          </p:cNvPr>
          <p:cNvSpPr/>
          <p:nvPr/>
        </p:nvSpPr>
        <p:spPr>
          <a:xfrm>
            <a:off x="5623560" y="914400"/>
            <a:ext cx="1627632" cy="2487168"/>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24" name="Agent card header">
            <a:extLst>
              <a:ext uri="{C183D7F6-B498-43B3-948B-1728B52AA6E4}">
                <adec:decorative xmlns:adec="http://schemas.microsoft.com/office/drawing/2017/decorative" val="1"/>
              </a:ext>
            </a:extLst>
          </p:cNvPr>
          <p:cNvSpPr/>
          <p:nvPr/>
        </p:nvSpPr>
        <p:spPr>
          <a:xfrm>
            <a:off x="5623560" y="914400"/>
            <a:ext cx="1627632" cy="548640"/>
          </a:xfrm>
          <a:prstGeom prst="rect">
            <a:avLst/>
          </a:prstGeom>
          <a:solidFill>
            <a:srgbClr val="0B4AA2"/>
          </a:solidFill>
          <a:ln w="12700">
            <a:solidFill>
              <a:srgbClr val="0B4AA2"/>
            </a:solidFill>
            <a:prstDash val="solid"/>
          </a:ln>
        </p:spPr>
        <p:txBody>
          <a:bodyPr/>
          <a:lstStyle/>
          <a:p>
            <a:endParaRPr lang="en-US"/>
          </a:p>
        </p:txBody>
      </p:sp>
      <p:sp>
        <p:nvSpPr>
          <p:cNvPr id="25" name="Text 23"/>
          <p:cNvSpPr/>
          <p:nvPr/>
        </p:nvSpPr>
        <p:spPr>
          <a:xfrm>
            <a:off x="5715000" y="914400"/>
            <a:ext cx="1444752" cy="548640"/>
          </a:xfrm>
          <a:prstGeom prst="rect">
            <a:avLst/>
          </a:prstGeom>
          <a:noFill/>
          <a:ln/>
        </p:spPr>
        <p:txBody>
          <a:bodyPr wrap="square" lIns="0" tIns="0" rIns="0" bIns="0"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Agent 4 — Migration Planning</a:t>
            </a:r>
            <a:endParaRPr lang="en-US" sz="950" dirty="0"/>
          </a:p>
        </p:txBody>
      </p:sp>
      <p:sp>
        <p:nvSpPr>
          <p:cNvPr id="26" name="Text 24"/>
          <p:cNvSpPr/>
          <p:nvPr/>
        </p:nvSpPr>
        <p:spPr>
          <a:xfrm>
            <a:off x="5751576" y="1554480"/>
            <a:ext cx="1389888" cy="1737360"/>
          </a:xfrm>
          <a:prstGeom prst="rect">
            <a:avLst/>
          </a:prstGeom>
          <a:noFill/>
          <a:ln/>
        </p:spPr>
        <p:txBody>
          <a:bodyPr wrap="square" lIns="0" tIns="0" rIns="0" bIns="0" rtlCol="0" anchor="ctr"/>
          <a:lstStyle/>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Consume all analysis reports</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Identify priorities</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Define migration phases</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Identify blockers</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Prepare detailed plan</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Define target stack</a:t>
            </a:r>
            <a:endParaRPr lang="en-US" sz="800" dirty="0"/>
          </a:p>
        </p:txBody>
      </p:sp>
      <p:sp>
        <p:nvSpPr>
          <p:cNvPr id="27" name="Flow connector">
            <a:extLst>
              <a:ext uri="{C183D7F6-B498-43B3-948B-1728B52AA6E4}">
                <adec:decorative xmlns:adec="http://schemas.microsoft.com/office/drawing/2017/decorative" val="1"/>
              </a:ext>
            </a:extLst>
          </p:cNvPr>
          <p:cNvSpPr/>
          <p:nvPr/>
        </p:nvSpPr>
        <p:spPr>
          <a:xfrm>
            <a:off x="7260336" y="1188720"/>
            <a:ext cx="91440" cy="0"/>
          </a:xfrm>
          <a:prstGeom prst="line">
            <a:avLst/>
          </a:prstGeom>
          <a:noFill/>
          <a:ln w="22225">
            <a:solidFill>
              <a:srgbClr val="44546A"/>
            </a:solidFill>
            <a:prstDash val="solid"/>
            <a:tailEnd type="triangle"/>
          </a:ln>
        </p:spPr>
        <p:txBody>
          <a:bodyPr/>
          <a:lstStyle/>
          <a:p>
            <a:endParaRPr lang="en-US"/>
          </a:p>
        </p:txBody>
      </p:sp>
      <p:sp>
        <p:nvSpPr>
          <p:cNvPr id="28" name="Agent card">
            <a:extLst>
              <a:ext uri="{C183D7F6-B498-43B3-948B-1728B52AA6E4}">
                <adec:decorative xmlns:adec="http://schemas.microsoft.com/office/drawing/2017/decorative" val="1"/>
              </a:ext>
            </a:extLst>
          </p:cNvPr>
          <p:cNvSpPr/>
          <p:nvPr/>
        </p:nvSpPr>
        <p:spPr>
          <a:xfrm>
            <a:off x="7360920" y="914400"/>
            <a:ext cx="1627632" cy="2487168"/>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29" name="Agent card header">
            <a:extLst>
              <a:ext uri="{C183D7F6-B498-43B3-948B-1728B52AA6E4}">
                <adec:decorative xmlns:adec="http://schemas.microsoft.com/office/drawing/2017/decorative" val="1"/>
              </a:ext>
            </a:extLst>
          </p:cNvPr>
          <p:cNvSpPr/>
          <p:nvPr/>
        </p:nvSpPr>
        <p:spPr>
          <a:xfrm>
            <a:off x="7360920" y="914400"/>
            <a:ext cx="1627632" cy="548640"/>
          </a:xfrm>
          <a:prstGeom prst="rect">
            <a:avLst/>
          </a:prstGeom>
          <a:solidFill>
            <a:srgbClr val="7A3FBF"/>
          </a:solidFill>
          <a:ln w="12700">
            <a:solidFill>
              <a:srgbClr val="7A3FBF"/>
            </a:solidFill>
            <a:prstDash val="solid"/>
          </a:ln>
        </p:spPr>
        <p:txBody>
          <a:bodyPr/>
          <a:lstStyle/>
          <a:p>
            <a:endParaRPr lang="en-US"/>
          </a:p>
        </p:txBody>
      </p:sp>
      <p:sp>
        <p:nvSpPr>
          <p:cNvPr id="30" name="Text 28"/>
          <p:cNvSpPr/>
          <p:nvPr/>
        </p:nvSpPr>
        <p:spPr>
          <a:xfrm>
            <a:off x="7452360" y="914400"/>
            <a:ext cx="1444752" cy="548640"/>
          </a:xfrm>
          <a:prstGeom prst="rect">
            <a:avLst/>
          </a:prstGeom>
          <a:noFill/>
          <a:ln/>
        </p:spPr>
        <p:txBody>
          <a:bodyPr wrap="square" lIns="0" tIns="0" rIns="0" bIns="0"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Agent 5 — Migration Execution</a:t>
            </a:r>
            <a:endParaRPr lang="en-US" sz="950" dirty="0"/>
          </a:p>
        </p:txBody>
      </p:sp>
      <p:sp>
        <p:nvSpPr>
          <p:cNvPr id="31" name="Text 29"/>
          <p:cNvSpPr/>
          <p:nvPr/>
        </p:nvSpPr>
        <p:spPr>
          <a:xfrm>
            <a:off x="7488936" y="1554480"/>
            <a:ext cx="1389888" cy="1737360"/>
          </a:xfrm>
          <a:prstGeom prst="rect">
            <a:avLst/>
          </a:prstGeom>
          <a:noFill/>
          <a:ln/>
        </p:spPr>
        <p:txBody>
          <a:bodyPr wrap="square" lIns="0" tIns="0" rIns="0" bIns="0" rtlCol="0" anchor="ctr"/>
          <a:lstStyle/>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Consume the migration plan</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Apply modernization changes</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Update Java and frameworks</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Modify dependencies and config</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Refactor where required</a:t>
            </a:r>
            <a:endParaRPr lang="en-US" sz="800" dirty="0"/>
          </a:p>
          <a:p>
            <a:pPr marL="342900" indent="-342900">
              <a:spcAft>
                <a:spcPts val="300"/>
              </a:spcAft>
              <a:buSzPct val="100000"/>
              <a:buChar char="•"/>
            </a:pPr>
            <a:r>
              <a:rPr lang="en-US" sz="800" dirty="0">
                <a:solidFill>
                  <a:srgbClr val="44546A"/>
                </a:solidFill>
                <a:latin typeface="Segoe UI" pitchFamily="34" charset="0"/>
                <a:ea typeface="Segoe UI" pitchFamily="34" charset="-122"/>
                <a:cs typeface="Segoe UI" pitchFamily="34" charset="-120"/>
              </a:rPr>
              <a:t>Build, fix, rebuild until green</a:t>
            </a:r>
            <a:endParaRPr lang="en-US" sz="800" dirty="0"/>
          </a:p>
        </p:txBody>
      </p:sp>
      <p:sp>
        <p:nvSpPr>
          <p:cNvPr id="32" name="Validation loop banner">
            <a:extLst>
              <a:ext uri="{C183D7F6-B498-43B3-948B-1728B52AA6E4}">
                <adec:decorative xmlns:adec="http://schemas.microsoft.com/office/drawing/2017/decorative" val="1"/>
              </a:ext>
            </a:extLst>
          </p:cNvPr>
          <p:cNvSpPr/>
          <p:nvPr/>
        </p:nvSpPr>
        <p:spPr>
          <a:xfrm>
            <a:off x="411480" y="3611880"/>
            <a:ext cx="8321040" cy="777240"/>
          </a:xfrm>
          <a:prstGeom prst="rect">
            <a:avLst/>
          </a:prstGeom>
          <a:solidFill>
            <a:srgbClr val="EAF2FD"/>
          </a:solidFill>
          <a:ln w="12700">
            <a:solidFill>
              <a:srgbClr val="0E8F8F"/>
            </a:solidFill>
            <a:prstDash val="solid"/>
          </a:ln>
        </p:spPr>
        <p:txBody>
          <a:bodyPr/>
          <a:lstStyle/>
          <a:p>
            <a:endParaRPr lang="en-US"/>
          </a:p>
        </p:txBody>
      </p:sp>
      <p:sp>
        <p:nvSpPr>
          <p:cNvPr id="33" name="Text 31"/>
          <p:cNvSpPr/>
          <p:nvPr/>
        </p:nvSpPr>
        <p:spPr>
          <a:xfrm>
            <a:off x="594360" y="3703320"/>
            <a:ext cx="1645920" cy="256032"/>
          </a:xfrm>
          <a:prstGeom prst="rect">
            <a:avLst/>
          </a:prstGeom>
          <a:noFill/>
          <a:ln/>
        </p:spPr>
        <p:txBody>
          <a:bodyPr wrap="square" lIns="0" tIns="0" rIns="0" bIns="0" rtlCol="0" anchor="ctr"/>
          <a:lstStyle/>
          <a:p>
            <a:pPr marL="0" indent="0">
              <a:buNone/>
            </a:pPr>
            <a:r>
              <a:rPr lang="en-US" sz="1100" b="1" dirty="0">
                <a:solidFill>
                  <a:srgbClr val="0E8F8F"/>
                </a:solidFill>
                <a:latin typeface="Segoe UI" pitchFamily="34" charset="0"/>
                <a:ea typeface="Segoe UI" pitchFamily="34" charset="-122"/>
                <a:cs typeface="Segoe UI" pitchFamily="34" charset="-120"/>
              </a:rPr>
              <a:t>Validation loop</a:t>
            </a:r>
            <a:endParaRPr lang="en-US" sz="1100" dirty="0"/>
          </a:p>
        </p:txBody>
      </p:sp>
      <p:sp>
        <p:nvSpPr>
          <p:cNvPr id="34" name="Text 32"/>
          <p:cNvSpPr/>
          <p:nvPr/>
        </p:nvSpPr>
        <p:spPr>
          <a:xfrm>
            <a:off x="594360" y="3950208"/>
            <a:ext cx="7955280" cy="384048"/>
          </a:xfrm>
          <a:prstGeom prst="rect">
            <a:avLst/>
          </a:prstGeom>
          <a:noFill/>
          <a:ln/>
        </p:spPr>
        <p:txBody>
          <a:bodyPr wrap="square" lIns="0" tIns="0" rIns="0" bIns="0" rtlCol="0" anchor="ctr"/>
          <a:lstStyle/>
          <a:p>
            <a:pPr marL="0" indent="0">
              <a:buNone/>
            </a:pPr>
            <a:r>
              <a:rPr lang="en-US" sz="950" dirty="0">
                <a:solidFill>
                  <a:srgbClr val="0F2540"/>
                </a:solidFill>
                <a:latin typeface="Segoe UI" pitchFamily="34" charset="0"/>
                <a:ea typeface="Segoe UI" pitchFamily="34" charset="-122"/>
                <a:cs typeface="Segoe UI" pitchFamily="34" charset="-120"/>
              </a:rPr>
              <a:t>After successful execution, the Testing Agent re-runs the original scenarios, compares baseline vs. post-migration results, and reports functional differences. Completion requires the defined validation criteria to be satisfied.</a:t>
            </a:r>
            <a:endParaRPr lang="en-US" sz="950" dirty="0"/>
          </a:p>
        </p:txBody>
      </p:sp>
      <p:sp>
        <p:nvSpPr>
          <p:cNvPr id="35" name="Text 33"/>
          <p:cNvSpPr/>
          <p:nvPr/>
        </p:nvSpPr>
        <p:spPr>
          <a:xfrm>
            <a:off x="411480" y="4462272"/>
            <a:ext cx="8321040" cy="237744"/>
          </a:xfrm>
          <a:prstGeom prst="rect">
            <a:avLst/>
          </a:prstGeom>
          <a:noFill/>
          <a:ln/>
        </p:spPr>
        <p:txBody>
          <a:bodyPr wrap="square" lIns="0" tIns="0" rIns="0" bIns="0" rtlCol="0" anchor="ctr"/>
          <a:lstStyle/>
          <a:p>
            <a:pPr marL="0" indent="0">
              <a:buNone/>
            </a:pPr>
            <a:r>
              <a:rPr lang="en-US" sz="900" i="1" dirty="0">
                <a:solidFill>
                  <a:srgbClr val="44546A"/>
                </a:solidFill>
                <a:latin typeface="Segoe UI" pitchFamily="34" charset="0"/>
                <a:ea typeface="Segoe UI" pitchFamily="34" charset="-122"/>
                <a:cs typeface="Segoe UI" pitchFamily="34" charset="-120"/>
              </a:rPr>
              <a:t>Future Vision — proposed architecture.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F6FEB"/>
          </a:solidFill>
          <a:ln w="12700">
            <a:solidFill>
              <a:srgbClr val="1F6FEB"/>
            </a:solidFill>
            <a:prstDash val="solid"/>
          </a:ln>
        </p:spPr>
        <p:txBody>
          <a:bodyPr/>
          <a:lstStyle/>
          <a:p>
            <a:endParaRPr lang="en-US"/>
          </a:p>
        </p:txBody>
      </p:sp>
      <p:sp>
        <p:nvSpPr>
          <p:cNvPr id="3" name="Text 1"/>
          <p:cNvSpPr/>
          <p:nvPr/>
        </p:nvSpPr>
        <p:spPr>
          <a:xfrm>
            <a:off x="411480" y="237744"/>
            <a:ext cx="548640" cy="411480"/>
          </a:xfrm>
          <a:prstGeom prst="rect">
            <a:avLst/>
          </a:prstGeom>
          <a:noFill/>
          <a:ln/>
        </p:spPr>
        <p:txBody>
          <a:bodyPr wrap="square" lIns="0" tIns="0" rIns="0" bIns="0" rtlCol="0" anchor="ctr"/>
          <a:lstStyle/>
          <a:p>
            <a:pPr marL="0" indent="0">
              <a:buNone/>
            </a:pPr>
            <a:r>
              <a:rPr lang="en-US" sz="2000" b="1" dirty="0">
                <a:solidFill>
                  <a:srgbClr val="9DC2F5"/>
                </a:solidFill>
                <a:latin typeface="Segoe UI" pitchFamily="34" charset="0"/>
                <a:ea typeface="Segoe UI" pitchFamily="34" charset="-122"/>
                <a:cs typeface="Segoe UI" pitchFamily="34" charset="-120"/>
              </a:rPr>
              <a:t>07</a:t>
            </a:r>
            <a:endParaRPr lang="en-US" sz="2000" dirty="0"/>
          </a:p>
        </p:txBody>
      </p:sp>
      <p:sp>
        <p:nvSpPr>
          <p:cNvPr id="4" name="Text 2"/>
          <p:cNvSpPr/>
          <p:nvPr/>
        </p:nvSpPr>
        <p:spPr>
          <a:xfrm>
            <a:off x="960120" y="219456"/>
            <a:ext cx="5669280" cy="457200"/>
          </a:xfrm>
          <a:prstGeom prst="rect">
            <a:avLst/>
          </a:prstGeom>
          <a:noFill/>
          <a:ln/>
        </p:spPr>
        <p:txBody>
          <a:bodyPr wrap="square" lIns="0" tIns="0" rIns="0" bIns="0" rtlCol="0" anchor="ctr"/>
          <a:lstStyle/>
          <a:p>
            <a:pPr marL="0" indent="0">
              <a:buNone/>
            </a:pPr>
            <a:r>
              <a:rPr lang="en-US" sz="2400" b="1" dirty="0">
                <a:solidFill>
                  <a:srgbClr val="0F2540"/>
                </a:solidFill>
                <a:latin typeface="Segoe UI" pitchFamily="34" charset="0"/>
                <a:ea typeface="Segoe UI" pitchFamily="34" charset="-122"/>
                <a:cs typeface="Segoe UI" pitchFamily="34" charset="-120"/>
              </a:rPr>
              <a:t>End-to-End Agent Workflow</a:t>
            </a:r>
            <a:endParaRPr lang="en-US" sz="2400" dirty="0"/>
          </a:p>
        </p:txBody>
      </p:sp>
      <p:sp>
        <p:nvSpPr>
          <p:cNvPr id="5" name="State label chip">
            <a:extLst>
              <a:ext uri="{C183D7F6-B498-43B3-948B-1728B52AA6E4}">
                <adec:decorative xmlns:adec="http://schemas.microsoft.com/office/drawing/2017/decorative" val="1"/>
              </a:ext>
            </a:extLst>
          </p:cNvPr>
          <p:cNvSpPr/>
          <p:nvPr/>
        </p:nvSpPr>
        <p:spPr>
          <a:xfrm>
            <a:off x="6812280" y="274320"/>
            <a:ext cx="1920240" cy="347472"/>
          </a:xfrm>
          <a:prstGeom prst="rect">
            <a:avLst/>
          </a:prstGeom>
          <a:solidFill>
            <a:srgbClr val="F3F6FA"/>
          </a:solidFill>
          <a:ln w="12700">
            <a:solidFill>
              <a:srgbClr val="44546A"/>
            </a:solidFill>
            <a:prstDash val="solid"/>
          </a:ln>
        </p:spPr>
        <p:txBody>
          <a:bodyPr/>
          <a:lstStyle/>
          <a:p>
            <a:endParaRPr lang="en-US"/>
          </a:p>
        </p:txBody>
      </p:sp>
      <p:sp>
        <p:nvSpPr>
          <p:cNvPr id="6" name="Text 4"/>
          <p:cNvSpPr/>
          <p:nvPr/>
        </p:nvSpPr>
        <p:spPr>
          <a:xfrm>
            <a:off x="6812280" y="274320"/>
            <a:ext cx="1920240" cy="347472"/>
          </a:xfrm>
          <a:prstGeom prst="rect">
            <a:avLst/>
          </a:prstGeom>
          <a:noFill/>
          <a:ln/>
        </p:spPr>
        <p:txBody>
          <a:bodyPr wrap="square" lIns="0" tIns="0" rIns="0" bIns="0" rtlCol="0" anchor="ctr"/>
          <a:lstStyle/>
          <a:p>
            <a:pPr marL="0" indent="0" algn="ctr">
              <a:buNone/>
            </a:pPr>
            <a:r>
              <a:rPr lang="en-US" sz="1000" b="1" kern="0" spc="150" dirty="0">
                <a:solidFill>
                  <a:srgbClr val="44546A"/>
                </a:solidFill>
                <a:latin typeface="Segoe UI" pitchFamily="34" charset="0"/>
                <a:ea typeface="Segoe UI" pitchFamily="34" charset="-122"/>
                <a:cs typeface="Segoe UI" pitchFamily="34" charset="-120"/>
              </a:rPr>
              <a:t>FUTURE VISION</a:t>
            </a:r>
            <a:endParaRPr lang="en-US" sz="1000" dirty="0"/>
          </a:p>
        </p:txBody>
      </p:sp>
      <p:sp>
        <p:nvSpPr>
          <p:cNvPr id="7" name="Header rule">
            <a:extLst>
              <a:ext uri="{C183D7F6-B498-43B3-948B-1728B52AA6E4}">
                <adec:decorative xmlns:adec="http://schemas.microsoft.com/office/drawing/2017/decorative" val="1"/>
              </a:ext>
            </a:extLst>
          </p:cNvPr>
          <p:cNvSpPr/>
          <p:nvPr/>
        </p:nvSpPr>
        <p:spPr>
          <a:xfrm>
            <a:off x="411480" y="768096"/>
            <a:ext cx="8321040" cy="0"/>
          </a:xfrm>
          <a:prstGeom prst="line">
            <a:avLst/>
          </a:prstGeom>
          <a:noFill/>
          <a:ln w="12700">
            <a:solidFill>
              <a:srgbClr val="D6E2F2"/>
            </a:solidFill>
            <a:prstDash val="solid"/>
          </a:ln>
        </p:spPr>
        <p:txBody>
          <a:bodyPr/>
          <a:lstStyle/>
          <a:p>
            <a:endParaRPr lang="en-US"/>
          </a:p>
        </p:txBody>
      </p:sp>
      <p:sp>
        <p:nvSpPr>
          <p:cNvPr id="8" name="Workflow stage box">
            <a:extLst>
              <a:ext uri="{C183D7F6-B498-43B3-948B-1728B52AA6E4}">
                <adec:decorative xmlns:adec="http://schemas.microsoft.com/office/drawing/2017/decorative" val="1"/>
              </a:ext>
            </a:extLst>
          </p:cNvPr>
          <p:cNvSpPr/>
          <p:nvPr/>
        </p:nvSpPr>
        <p:spPr>
          <a:xfrm>
            <a:off x="2057400" y="932688"/>
            <a:ext cx="3931920" cy="374904"/>
          </a:xfrm>
          <a:prstGeom prst="rect">
            <a:avLst/>
          </a:prstGeom>
          <a:solidFill>
            <a:srgbClr val="1B3454"/>
          </a:solidFill>
          <a:ln w="12700">
            <a:solidFill>
              <a:srgbClr val="1B3454"/>
            </a:solidFill>
            <a:prstDash val="solid"/>
          </a:ln>
        </p:spPr>
        <p:txBody>
          <a:bodyPr/>
          <a:lstStyle/>
          <a:p>
            <a:endParaRPr lang="en-US"/>
          </a:p>
        </p:txBody>
      </p:sp>
      <p:sp>
        <p:nvSpPr>
          <p:cNvPr id="9" name="Text 7"/>
          <p:cNvSpPr/>
          <p:nvPr/>
        </p:nvSpPr>
        <p:spPr>
          <a:xfrm>
            <a:off x="2167128" y="932688"/>
            <a:ext cx="2194560" cy="374904"/>
          </a:xfrm>
          <a:prstGeom prst="rect">
            <a:avLst/>
          </a:prstGeom>
          <a:noFill/>
          <a:ln/>
        </p:spPr>
        <p:txBody>
          <a:bodyPr wrap="square" lIns="0" tIns="0" rIns="0" bIns="0" rtlCol="0" anchor="ctr"/>
          <a:lstStyle/>
          <a:p>
            <a:pPr marL="0" indent="0">
              <a:buNone/>
            </a:pPr>
            <a:r>
              <a:rPr lang="en-US" sz="950" b="1" dirty="0">
                <a:solidFill>
                  <a:srgbClr val="FFFFFF"/>
                </a:solidFill>
                <a:latin typeface="Segoe UI" pitchFamily="34" charset="0"/>
                <a:ea typeface="Segoe UI" pitchFamily="34" charset="-122"/>
                <a:cs typeface="Segoe UI" pitchFamily="34" charset="-120"/>
              </a:rPr>
              <a:t>Legacy Java Application</a:t>
            </a:r>
            <a:endParaRPr lang="en-US" sz="950" dirty="0"/>
          </a:p>
        </p:txBody>
      </p:sp>
      <p:sp>
        <p:nvSpPr>
          <p:cNvPr id="10" name="Text 8"/>
          <p:cNvSpPr/>
          <p:nvPr/>
        </p:nvSpPr>
        <p:spPr>
          <a:xfrm>
            <a:off x="4389120" y="932688"/>
            <a:ext cx="1508760" cy="374904"/>
          </a:xfrm>
          <a:prstGeom prst="rect">
            <a:avLst/>
          </a:prstGeom>
          <a:noFill/>
          <a:ln/>
        </p:spPr>
        <p:txBody>
          <a:bodyPr wrap="square" lIns="0" tIns="0" rIns="0" bIns="0" rtlCol="0" anchor="ctr"/>
          <a:lstStyle/>
          <a:p>
            <a:pPr marL="0" indent="0" algn="r">
              <a:buNone/>
            </a:pPr>
            <a:r>
              <a:rPr lang="en-US" sz="750" dirty="0">
                <a:solidFill>
                  <a:srgbClr val="DCEAFF"/>
                </a:solidFill>
                <a:latin typeface="Segoe UI" pitchFamily="34" charset="0"/>
                <a:ea typeface="Segoe UI" pitchFamily="34" charset="-122"/>
                <a:cs typeface="Segoe UI" pitchFamily="34" charset="-120"/>
              </a:rPr>
              <a:t>Starting point</a:t>
            </a:r>
            <a:endParaRPr lang="en-US" sz="750" dirty="0"/>
          </a:p>
        </p:txBody>
      </p:sp>
      <p:sp>
        <p:nvSpPr>
          <p:cNvPr id="11" name="Flow connector">
            <a:extLst>
              <a:ext uri="{C183D7F6-B498-43B3-948B-1728B52AA6E4}">
                <adec:decorative xmlns:adec="http://schemas.microsoft.com/office/drawing/2017/decorative" val="1"/>
              </a:ext>
            </a:extLst>
          </p:cNvPr>
          <p:cNvSpPr/>
          <p:nvPr/>
        </p:nvSpPr>
        <p:spPr>
          <a:xfrm>
            <a:off x="4023360" y="1307592"/>
            <a:ext cx="0" cy="68580"/>
          </a:xfrm>
          <a:prstGeom prst="line">
            <a:avLst/>
          </a:prstGeom>
          <a:noFill/>
          <a:ln w="22225">
            <a:solidFill>
              <a:srgbClr val="1F6FEB"/>
            </a:solidFill>
            <a:prstDash val="solid"/>
            <a:tailEnd type="triangle"/>
          </a:ln>
        </p:spPr>
        <p:txBody>
          <a:bodyPr/>
          <a:lstStyle/>
          <a:p>
            <a:endParaRPr lang="en-US"/>
          </a:p>
        </p:txBody>
      </p:sp>
      <p:sp>
        <p:nvSpPr>
          <p:cNvPr id="12" name="Workflow stage box">
            <a:extLst>
              <a:ext uri="{C183D7F6-B498-43B3-948B-1728B52AA6E4}">
                <adec:decorative xmlns:adec="http://schemas.microsoft.com/office/drawing/2017/decorative" val="1"/>
              </a:ext>
            </a:extLst>
          </p:cNvPr>
          <p:cNvSpPr/>
          <p:nvPr/>
        </p:nvSpPr>
        <p:spPr>
          <a:xfrm>
            <a:off x="2057400" y="1376172"/>
            <a:ext cx="3931920" cy="374904"/>
          </a:xfrm>
          <a:prstGeom prst="rect">
            <a:avLst/>
          </a:prstGeom>
          <a:solidFill>
            <a:srgbClr val="0E8F8F"/>
          </a:solidFill>
          <a:ln w="12700">
            <a:solidFill>
              <a:srgbClr val="0E8F8F"/>
            </a:solidFill>
            <a:prstDash val="solid"/>
          </a:ln>
        </p:spPr>
        <p:txBody>
          <a:bodyPr/>
          <a:lstStyle/>
          <a:p>
            <a:endParaRPr lang="en-US"/>
          </a:p>
        </p:txBody>
      </p:sp>
      <p:sp>
        <p:nvSpPr>
          <p:cNvPr id="13" name="Text 11"/>
          <p:cNvSpPr/>
          <p:nvPr/>
        </p:nvSpPr>
        <p:spPr>
          <a:xfrm>
            <a:off x="2167128" y="1376172"/>
            <a:ext cx="2194560" cy="374904"/>
          </a:xfrm>
          <a:prstGeom prst="rect">
            <a:avLst/>
          </a:prstGeom>
          <a:noFill/>
          <a:ln/>
        </p:spPr>
        <p:txBody>
          <a:bodyPr wrap="square" lIns="0" tIns="0" rIns="0" bIns="0" rtlCol="0" anchor="ctr"/>
          <a:lstStyle/>
          <a:p>
            <a:pPr marL="0" indent="0">
              <a:buNone/>
            </a:pPr>
            <a:r>
              <a:rPr lang="en-US" sz="950" b="1" dirty="0">
                <a:solidFill>
                  <a:srgbClr val="FFFFFF"/>
                </a:solidFill>
                <a:latin typeface="Segoe UI" pitchFamily="34" charset="0"/>
                <a:ea typeface="Segoe UI" pitchFamily="34" charset="-122"/>
                <a:cs typeface="Segoe UI" pitchFamily="34" charset="-120"/>
              </a:rPr>
              <a:t>Testing Agent</a:t>
            </a:r>
            <a:endParaRPr lang="en-US" sz="950" dirty="0"/>
          </a:p>
        </p:txBody>
      </p:sp>
      <p:sp>
        <p:nvSpPr>
          <p:cNvPr id="14" name="Text 12"/>
          <p:cNvSpPr/>
          <p:nvPr/>
        </p:nvSpPr>
        <p:spPr>
          <a:xfrm>
            <a:off x="4389120" y="1376172"/>
            <a:ext cx="1508760" cy="374904"/>
          </a:xfrm>
          <a:prstGeom prst="rect">
            <a:avLst/>
          </a:prstGeom>
          <a:noFill/>
          <a:ln/>
        </p:spPr>
        <p:txBody>
          <a:bodyPr wrap="square" lIns="0" tIns="0" rIns="0" bIns="0" rtlCol="0" anchor="ctr"/>
          <a:lstStyle/>
          <a:p>
            <a:pPr marL="0" indent="0" algn="r">
              <a:buNone/>
            </a:pPr>
            <a:r>
              <a:rPr lang="en-US" sz="750" dirty="0">
                <a:solidFill>
                  <a:srgbClr val="DCEAFF"/>
                </a:solidFill>
                <a:latin typeface="Segoe UI" pitchFamily="34" charset="0"/>
                <a:ea typeface="Segoe UI" pitchFamily="34" charset="-122"/>
                <a:cs typeface="Segoe UI" pitchFamily="34" charset="-120"/>
              </a:rPr>
              <a:t>Baseline strategy, cases, results</a:t>
            </a:r>
            <a:endParaRPr lang="en-US" sz="750" dirty="0"/>
          </a:p>
        </p:txBody>
      </p:sp>
      <p:sp>
        <p:nvSpPr>
          <p:cNvPr id="15" name="Flow connector">
            <a:extLst>
              <a:ext uri="{C183D7F6-B498-43B3-948B-1728B52AA6E4}">
                <adec:decorative xmlns:adec="http://schemas.microsoft.com/office/drawing/2017/decorative" val="1"/>
              </a:ext>
            </a:extLst>
          </p:cNvPr>
          <p:cNvSpPr/>
          <p:nvPr/>
        </p:nvSpPr>
        <p:spPr>
          <a:xfrm>
            <a:off x="4023360" y="1751076"/>
            <a:ext cx="0" cy="68580"/>
          </a:xfrm>
          <a:prstGeom prst="line">
            <a:avLst/>
          </a:prstGeom>
          <a:noFill/>
          <a:ln w="22225">
            <a:solidFill>
              <a:srgbClr val="1F6FEB"/>
            </a:solidFill>
            <a:prstDash val="solid"/>
            <a:tailEnd type="triangle"/>
          </a:ln>
        </p:spPr>
        <p:txBody>
          <a:bodyPr/>
          <a:lstStyle/>
          <a:p>
            <a:endParaRPr lang="en-US"/>
          </a:p>
        </p:txBody>
      </p:sp>
      <p:sp>
        <p:nvSpPr>
          <p:cNvPr id="16" name="Workflow stage box">
            <a:extLst>
              <a:ext uri="{C183D7F6-B498-43B3-948B-1728B52AA6E4}">
                <adec:decorative xmlns:adec="http://schemas.microsoft.com/office/drawing/2017/decorative" val="1"/>
              </a:ext>
            </a:extLst>
          </p:cNvPr>
          <p:cNvSpPr/>
          <p:nvPr/>
        </p:nvSpPr>
        <p:spPr>
          <a:xfrm>
            <a:off x="2057400" y="1819656"/>
            <a:ext cx="3931920" cy="374904"/>
          </a:xfrm>
          <a:prstGeom prst="rect">
            <a:avLst/>
          </a:prstGeom>
          <a:solidFill>
            <a:srgbClr val="1F6FEB"/>
          </a:solidFill>
          <a:ln w="12700">
            <a:solidFill>
              <a:srgbClr val="1F6FEB"/>
            </a:solidFill>
            <a:prstDash val="solid"/>
          </a:ln>
        </p:spPr>
        <p:txBody>
          <a:bodyPr/>
          <a:lstStyle/>
          <a:p>
            <a:endParaRPr lang="en-US"/>
          </a:p>
        </p:txBody>
      </p:sp>
      <p:sp>
        <p:nvSpPr>
          <p:cNvPr id="17" name="Text 15"/>
          <p:cNvSpPr/>
          <p:nvPr/>
        </p:nvSpPr>
        <p:spPr>
          <a:xfrm>
            <a:off x="2167128" y="1819656"/>
            <a:ext cx="2194560" cy="374904"/>
          </a:xfrm>
          <a:prstGeom prst="rect">
            <a:avLst/>
          </a:prstGeom>
          <a:noFill/>
          <a:ln/>
        </p:spPr>
        <p:txBody>
          <a:bodyPr wrap="square" lIns="0" tIns="0" rIns="0" bIns="0" rtlCol="0" anchor="ctr"/>
          <a:lstStyle/>
          <a:p>
            <a:pPr marL="0" indent="0">
              <a:buNone/>
            </a:pPr>
            <a:r>
              <a:rPr lang="en-US" sz="950" b="1" dirty="0">
                <a:solidFill>
                  <a:srgbClr val="FFFFFF"/>
                </a:solidFill>
                <a:latin typeface="Segoe UI" pitchFamily="34" charset="0"/>
                <a:ea typeface="Segoe UI" pitchFamily="34" charset="-122"/>
                <a:cs typeface="Segoe UI" pitchFamily="34" charset="-120"/>
              </a:rPr>
              <a:t>Dependency &amp; Code Scanner Agent</a:t>
            </a:r>
            <a:endParaRPr lang="en-US" sz="950" dirty="0"/>
          </a:p>
        </p:txBody>
      </p:sp>
      <p:sp>
        <p:nvSpPr>
          <p:cNvPr id="18" name="Text 16"/>
          <p:cNvSpPr/>
          <p:nvPr/>
        </p:nvSpPr>
        <p:spPr>
          <a:xfrm>
            <a:off x="4389120" y="1819656"/>
            <a:ext cx="1508760" cy="374904"/>
          </a:xfrm>
          <a:prstGeom prst="rect">
            <a:avLst/>
          </a:prstGeom>
          <a:noFill/>
          <a:ln/>
        </p:spPr>
        <p:txBody>
          <a:bodyPr wrap="square" lIns="0" tIns="0" rIns="0" bIns="0" rtlCol="0" anchor="ctr"/>
          <a:lstStyle/>
          <a:p>
            <a:pPr marL="0" indent="0" algn="r">
              <a:buNone/>
            </a:pPr>
            <a:r>
              <a:rPr lang="en-US" sz="750" dirty="0">
                <a:solidFill>
                  <a:srgbClr val="DCEAFF"/>
                </a:solidFill>
                <a:latin typeface="Segoe UI" pitchFamily="34" charset="0"/>
                <a:ea typeface="Segoe UI" pitchFamily="34" charset="-122"/>
                <a:cs typeface="Segoe UI" pitchFamily="34" charset="-120"/>
              </a:rPr>
              <a:t>Project, code, dependency analysis</a:t>
            </a:r>
            <a:endParaRPr lang="en-US" sz="750" dirty="0"/>
          </a:p>
        </p:txBody>
      </p:sp>
      <p:sp>
        <p:nvSpPr>
          <p:cNvPr id="19" name="Flow connector">
            <a:extLst>
              <a:ext uri="{C183D7F6-B498-43B3-948B-1728B52AA6E4}">
                <adec:decorative xmlns:adec="http://schemas.microsoft.com/office/drawing/2017/decorative" val="1"/>
              </a:ext>
            </a:extLst>
          </p:cNvPr>
          <p:cNvSpPr/>
          <p:nvPr/>
        </p:nvSpPr>
        <p:spPr>
          <a:xfrm>
            <a:off x="4023360" y="2194560"/>
            <a:ext cx="0" cy="68580"/>
          </a:xfrm>
          <a:prstGeom prst="line">
            <a:avLst/>
          </a:prstGeom>
          <a:noFill/>
          <a:ln w="22225">
            <a:solidFill>
              <a:srgbClr val="1F6FEB"/>
            </a:solidFill>
            <a:prstDash val="solid"/>
            <a:tailEnd type="triangle"/>
          </a:ln>
        </p:spPr>
        <p:txBody>
          <a:bodyPr/>
          <a:lstStyle/>
          <a:p>
            <a:endParaRPr lang="en-US"/>
          </a:p>
        </p:txBody>
      </p:sp>
      <p:sp>
        <p:nvSpPr>
          <p:cNvPr id="20" name="Workflow stage box">
            <a:extLst>
              <a:ext uri="{C183D7F6-B498-43B3-948B-1728B52AA6E4}">
                <adec:decorative xmlns:adec="http://schemas.microsoft.com/office/drawing/2017/decorative" val="1"/>
              </a:ext>
            </a:extLst>
          </p:cNvPr>
          <p:cNvSpPr/>
          <p:nvPr/>
        </p:nvSpPr>
        <p:spPr>
          <a:xfrm>
            <a:off x="2057400" y="2263140"/>
            <a:ext cx="3931920" cy="374904"/>
          </a:xfrm>
          <a:prstGeom prst="rect">
            <a:avLst/>
          </a:prstGeom>
          <a:solidFill>
            <a:srgbClr val="B26A00"/>
          </a:solidFill>
          <a:ln w="12700">
            <a:solidFill>
              <a:srgbClr val="B26A00"/>
            </a:solidFill>
            <a:prstDash val="solid"/>
          </a:ln>
        </p:spPr>
        <p:txBody>
          <a:bodyPr/>
          <a:lstStyle/>
          <a:p>
            <a:endParaRPr lang="en-US"/>
          </a:p>
        </p:txBody>
      </p:sp>
      <p:sp>
        <p:nvSpPr>
          <p:cNvPr id="21" name="Text 19"/>
          <p:cNvSpPr/>
          <p:nvPr/>
        </p:nvSpPr>
        <p:spPr>
          <a:xfrm>
            <a:off x="2167128" y="2263140"/>
            <a:ext cx="2194560" cy="374904"/>
          </a:xfrm>
          <a:prstGeom prst="rect">
            <a:avLst/>
          </a:prstGeom>
          <a:noFill/>
          <a:ln/>
        </p:spPr>
        <p:txBody>
          <a:bodyPr wrap="square" lIns="0" tIns="0" rIns="0" bIns="0" rtlCol="0" anchor="ctr"/>
          <a:lstStyle/>
          <a:p>
            <a:pPr marL="0" indent="0">
              <a:buNone/>
            </a:pPr>
            <a:r>
              <a:rPr lang="en-US" sz="950" b="1" dirty="0">
                <a:solidFill>
                  <a:srgbClr val="FFFFFF"/>
                </a:solidFill>
                <a:latin typeface="Segoe UI" pitchFamily="34" charset="0"/>
                <a:ea typeface="Segoe UI" pitchFamily="34" charset="-122"/>
                <a:cs typeface="Segoe UI" pitchFamily="34" charset="-120"/>
              </a:rPr>
              <a:t>Security Scanner Agent</a:t>
            </a:r>
            <a:endParaRPr lang="en-US" sz="950" dirty="0"/>
          </a:p>
        </p:txBody>
      </p:sp>
      <p:sp>
        <p:nvSpPr>
          <p:cNvPr id="22" name="Text 20"/>
          <p:cNvSpPr/>
          <p:nvPr/>
        </p:nvSpPr>
        <p:spPr>
          <a:xfrm>
            <a:off x="4389120" y="2263140"/>
            <a:ext cx="1508760" cy="374904"/>
          </a:xfrm>
          <a:prstGeom prst="rect">
            <a:avLst/>
          </a:prstGeom>
          <a:noFill/>
          <a:ln/>
        </p:spPr>
        <p:txBody>
          <a:bodyPr wrap="square" lIns="0" tIns="0" rIns="0" bIns="0" rtlCol="0" anchor="ctr"/>
          <a:lstStyle/>
          <a:p>
            <a:pPr marL="0" indent="0" algn="r">
              <a:buNone/>
            </a:pPr>
            <a:r>
              <a:rPr lang="en-US" sz="750" dirty="0">
                <a:solidFill>
                  <a:srgbClr val="DCEAFF"/>
                </a:solidFill>
                <a:latin typeface="Segoe UI" pitchFamily="34" charset="0"/>
                <a:ea typeface="Segoe UI" pitchFamily="34" charset="-122"/>
                <a:cs typeface="Segoe UI" pitchFamily="34" charset="-120"/>
              </a:rPr>
              <a:t>Security assessment</a:t>
            </a:r>
            <a:endParaRPr lang="en-US" sz="750" dirty="0"/>
          </a:p>
        </p:txBody>
      </p:sp>
      <p:sp>
        <p:nvSpPr>
          <p:cNvPr id="23" name="Flow connector">
            <a:extLst>
              <a:ext uri="{C183D7F6-B498-43B3-948B-1728B52AA6E4}">
                <adec:decorative xmlns:adec="http://schemas.microsoft.com/office/drawing/2017/decorative" val="1"/>
              </a:ext>
            </a:extLst>
          </p:cNvPr>
          <p:cNvSpPr/>
          <p:nvPr/>
        </p:nvSpPr>
        <p:spPr>
          <a:xfrm>
            <a:off x="4023360" y="2638044"/>
            <a:ext cx="0" cy="68580"/>
          </a:xfrm>
          <a:prstGeom prst="line">
            <a:avLst/>
          </a:prstGeom>
          <a:noFill/>
          <a:ln w="22225">
            <a:solidFill>
              <a:srgbClr val="1F6FEB"/>
            </a:solidFill>
            <a:prstDash val="solid"/>
            <a:tailEnd type="triangle"/>
          </a:ln>
        </p:spPr>
        <p:txBody>
          <a:bodyPr/>
          <a:lstStyle/>
          <a:p>
            <a:endParaRPr lang="en-US"/>
          </a:p>
        </p:txBody>
      </p:sp>
      <p:sp>
        <p:nvSpPr>
          <p:cNvPr id="24" name="Workflow stage box">
            <a:extLst>
              <a:ext uri="{C183D7F6-B498-43B3-948B-1728B52AA6E4}">
                <adec:decorative xmlns:adec="http://schemas.microsoft.com/office/drawing/2017/decorative" val="1"/>
              </a:ext>
            </a:extLst>
          </p:cNvPr>
          <p:cNvSpPr/>
          <p:nvPr/>
        </p:nvSpPr>
        <p:spPr>
          <a:xfrm>
            <a:off x="2057400" y="2706624"/>
            <a:ext cx="3931920" cy="374904"/>
          </a:xfrm>
          <a:prstGeom prst="rect">
            <a:avLst/>
          </a:prstGeom>
          <a:solidFill>
            <a:srgbClr val="0B4AA2"/>
          </a:solidFill>
          <a:ln w="12700">
            <a:solidFill>
              <a:srgbClr val="0B4AA2"/>
            </a:solidFill>
            <a:prstDash val="solid"/>
          </a:ln>
        </p:spPr>
        <p:txBody>
          <a:bodyPr/>
          <a:lstStyle/>
          <a:p>
            <a:endParaRPr lang="en-US"/>
          </a:p>
        </p:txBody>
      </p:sp>
      <p:sp>
        <p:nvSpPr>
          <p:cNvPr id="25" name="Text 23"/>
          <p:cNvSpPr/>
          <p:nvPr/>
        </p:nvSpPr>
        <p:spPr>
          <a:xfrm>
            <a:off x="2167128" y="2706624"/>
            <a:ext cx="2194560" cy="374904"/>
          </a:xfrm>
          <a:prstGeom prst="rect">
            <a:avLst/>
          </a:prstGeom>
          <a:noFill/>
          <a:ln/>
        </p:spPr>
        <p:txBody>
          <a:bodyPr wrap="square" lIns="0" tIns="0" rIns="0" bIns="0" rtlCol="0" anchor="ctr"/>
          <a:lstStyle/>
          <a:p>
            <a:pPr marL="0" indent="0">
              <a:buNone/>
            </a:pPr>
            <a:r>
              <a:rPr lang="en-US" sz="950" b="1" dirty="0">
                <a:solidFill>
                  <a:srgbClr val="FFFFFF"/>
                </a:solidFill>
                <a:latin typeface="Segoe UI" pitchFamily="34" charset="0"/>
                <a:ea typeface="Segoe UI" pitchFamily="34" charset="-122"/>
                <a:cs typeface="Segoe UI" pitchFamily="34" charset="-120"/>
              </a:rPr>
              <a:t>Migration Planning Agent</a:t>
            </a:r>
            <a:endParaRPr lang="en-US" sz="950" dirty="0"/>
          </a:p>
        </p:txBody>
      </p:sp>
      <p:sp>
        <p:nvSpPr>
          <p:cNvPr id="26" name="Text 24"/>
          <p:cNvSpPr/>
          <p:nvPr/>
        </p:nvSpPr>
        <p:spPr>
          <a:xfrm>
            <a:off x="4389120" y="2706624"/>
            <a:ext cx="1508760" cy="374904"/>
          </a:xfrm>
          <a:prstGeom prst="rect">
            <a:avLst/>
          </a:prstGeom>
          <a:noFill/>
          <a:ln/>
        </p:spPr>
        <p:txBody>
          <a:bodyPr wrap="square" lIns="0" tIns="0" rIns="0" bIns="0" rtlCol="0" anchor="ctr"/>
          <a:lstStyle/>
          <a:p>
            <a:pPr marL="0" indent="0" algn="r">
              <a:buNone/>
            </a:pPr>
            <a:r>
              <a:rPr lang="en-US" sz="750" dirty="0">
                <a:solidFill>
                  <a:srgbClr val="DCEAFF"/>
                </a:solidFill>
                <a:latin typeface="Segoe UI" pitchFamily="34" charset="0"/>
                <a:ea typeface="Segoe UI" pitchFamily="34" charset="-122"/>
                <a:cs typeface="Segoe UI" pitchFamily="34" charset="-120"/>
              </a:rPr>
              <a:t>Consolidated migration plan</a:t>
            </a:r>
            <a:endParaRPr lang="en-US" sz="750" dirty="0"/>
          </a:p>
        </p:txBody>
      </p:sp>
      <p:sp>
        <p:nvSpPr>
          <p:cNvPr id="27" name="Flow connector">
            <a:extLst>
              <a:ext uri="{C183D7F6-B498-43B3-948B-1728B52AA6E4}">
                <adec:decorative xmlns:adec="http://schemas.microsoft.com/office/drawing/2017/decorative" val="1"/>
              </a:ext>
            </a:extLst>
          </p:cNvPr>
          <p:cNvSpPr/>
          <p:nvPr/>
        </p:nvSpPr>
        <p:spPr>
          <a:xfrm>
            <a:off x="4023360" y="3081528"/>
            <a:ext cx="0" cy="68580"/>
          </a:xfrm>
          <a:prstGeom prst="line">
            <a:avLst/>
          </a:prstGeom>
          <a:noFill/>
          <a:ln w="22225">
            <a:solidFill>
              <a:srgbClr val="1F6FEB"/>
            </a:solidFill>
            <a:prstDash val="solid"/>
            <a:tailEnd type="triangle"/>
          </a:ln>
        </p:spPr>
        <p:txBody>
          <a:bodyPr/>
          <a:lstStyle/>
          <a:p>
            <a:endParaRPr lang="en-US"/>
          </a:p>
        </p:txBody>
      </p:sp>
      <p:sp>
        <p:nvSpPr>
          <p:cNvPr id="28" name="Workflow stage box">
            <a:extLst>
              <a:ext uri="{C183D7F6-B498-43B3-948B-1728B52AA6E4}">
                <adec:decorative xmlns:adec="http://schemas.microsoft.com/office/drawing/2017/decorative" val="1"/>
              </a:ext>
            </a:extLst>
          </p:cNvPr>
          <p:cNvSpPr/>
          <p:nvPr/>
        </p:nvSpPr>
        <p:spPr>
          <a:xfrm>
            <a:off x="2057400" y="3150108"/>
            <a:ext cx="3931920" cy="374904"/>
          </a:xfrm>
          <a:prstGeom prst="rect">
            <a:avLst/>
          </a:prstGeom>
          <a:solidFill>
            <a:srgbClr val="7A3FBF"/>
          </a:solidFill>
          <a:ln w="12700">
            <a:solidFill>
              <a:srgbClr val="7A3FBF"/>
            </a:solidFill>
            <a:prstDash val="solid"/>
          </a:ln>
        </p:spPr>
        <p:txBody>
          <a:bodyPr/>
          <a:lstStyle/>
          <a:p>
            <a:endParaRPr lang="en-US"/>
          </a:p>
        </p:txBody>
      </p:sp>
      <p:sp>
        <p:nvSpPr>
          <p:cNvPr id="29" name="Text 27"/>
          <p:cNvSpPr/>
          <p:nvPr/>
        </p:nvSpPr>
        <p:spPr>
          <a:xfrm>
            <a:off x="2167128" y="3150108"/>
            <a:ext cx="2194560" cy="374904"/>
          </a:xfrm>
          <a:prstGeom prst="rect">
            <a:avLst/>
          </a:prstGeom>
          <a:noFill/>
          <a:ln/>
        </p:spPr>
        <p:txBody>
          <a:bodyPr wrap="square" lIns="0" tIns="0" rIns="0" bIns="0" rtlCol="0" anchor="ctr"/>
          <a:lstStyle/>
          <a:p>
            <a:pPr marL="0" indent="0">
              <a:buNone/>
            </a:pPr>
            <a:r>
              <a:rPr lang="en-US" sz="950" b="1" dirty="0">
                <a:solidFill>
                  <a:srgbClr val="FFFFFF"/>
                </a:solidFill>
                <a:latin typeface="Segoe UI" pitchFamily="34" charset="0"/>
                <a:ea typeface="Segoe UI" pitchFamily="34" charset="-122"/>
                <a:cs typeface="Segoe UI" pitchFamily="34" charset="-120"/>
              </a:rPr>
              <a:t>Migration Execution Agent</a:t>
            </a:r>
            <a:endParaRPr lang="en-US" sz="950" dirty="0"/>
          </a:p>
        </p:txBody>
      </p:sp>
      <p:sp>
        <p:nvSpPr>
          <p:cNvPr id="30" name="Text 28"/>
          <p:cNvSpPr/>
          <p:nvPr/>
        </p:nvSpPr>
        <p:spPr>
          <a:xfrm>
            <a:off x="4389120" y="3150108"/>
            <a:ext cx="1508760" cy="374904"/>
          </a:xfrm>
          <a:prstGeom prst="rect">
            <a:avLst/>
          </a:prstGeom>
          <a:noFill/>
          <a:ln/>
        </p:spPr>
        <p:txBody>
          <a:bodyPr wrap="square" lIns="0" tIns="0" rIns="0" bIns="0" rtlCol="0" anchor="ctr"/>
          <a:lstStyle/>
          <a:p>
            <a:pPr marL="0" indent="0" algn="r">
              <a:buNone/>
            </a:pPr>
            <a:r>
              <a:rPr lang="en-US" sz="750" dirty="0">
                <a:solidFill>
                  <a:srgbClr val="DCEAFF"/>
                </a:solidFill>
                <a:latin typeface="Segoe UI" pitchFamily="34" charset="0"/>
                <a:ea typeface="Segoe UI" pitchFamily="34" charset="-122"/>
                <a:cs typeface="Segoe UI" pitchFamily="34" charset="-120"/>
              </a:rPr>
              <a:t>Apply → Build → Fix → Rebuild</a:t>
            </a:r>
            <a:endParaRPr lang="en-US" sz="750" dirty="0"/>
          </a:p>
        </p:txBody>
      </p:sp>
      <p:sp>
        <p:nvSpPr>
          <p:cNvPr id="31" name="Flow connector">
            <a:extLst>
              <a:ext uri="{C183D7F6-B498-43B3-948B-1728B52AA6E4}">
                <adec:decorative xmlns:adec="http://schemas.microsoft.com/office/drawing/2017/decorative" val="1"/>
              </a:ext>
            </a:extLst>
          </p:cNvPr>
          <p:cNvSpPr/>
          <p:nvPr/>
        </p:nvSpPr>
        <p:spPr>
          <a:xfrm>
            <a:off x="4023360" y="3525012"/>
            <a:ext cx="0" cy="68580"/>
          </a:xfrm>
          <a:prstGeom prst="line">
            <a:avLst/>
          </a:prstGeom>
          <a:noFill/>
          <a:ln w="22225">
            <a:solidFill>
              <a:srgbClr val="1F6FEB"/>
            </a:solidFill>
            <a:prstDash val="solid"/>
            <a:tailEnd type="triangle"/>
          </a:ln>
        </p:spPr>
        <p:txBody>
          <a:bodyPr/>
          <a:lstStyle/>
          <a:p>
            <a:endParaRPr lang="en-US"/>
          </a:p>
        </p:txBody>
      </p:sp>
      <p:sp>
        <p:nvSpPr>
          <p:cNvPr id="32" name="Workflow stage box">
            <a:extLst>
              <a:ext uri="{C183D7F6-B498-43B3-948B-1728B52AA6E4}">
                <adec:decorative xmlns:adec="http://schemas.microsoft.com/office/drawing/2017/decorative" val="1"/>
              </a:ext>
            </a:extLst>
          </p:cNvPr>
          <p:cNvSpPr/>
          <p:nvPr/>
        </p:nvSpPr>
        <p:spPr>
          <a:xfrm>
            <a:off x="2057400" y="3593592"/>
            <a:ext cx="3931920" cy="374904"/>
          </a:xfrm>
          <a:prstGeom prst="rect">
            <a:avLst/>
          </a:prstGeom>
          <a:solidFill>
            <a:srgbClr val="0E8F8F"/>
          </a:solidFill>
          <a:ln w="12700">
            <a:solidFill>
              <a:srgbClr val="0E8F8F"/>
            </a:solidFill>
            <a:prstDash val="solid"/>
          </a:ln>
        </p:spPr>
        <p:txBody>
          <a:bodyPr/>
          <a:lstStyle/>
          <a:p>
            <a:endParaRPr lang="en-US"/>
          </a:p>
        </p:txBody>
      </p:sp>
      <p:sp>
        <p:nvSpPr>
          <p:cNvPr id="33" name="Text 31"/>
          <p:cNvSpPr/>
          <p:nvPr/>
        </p:nvSpPr>
        <p:spPr>
          <a:xfrm>
            <a:off x="2167128" y="3593592"/>
            <a:ext cx="2194560" cy="374904"/>
          </a:xfrm>
          <a:prstGeom prst="rect">
            <a:avLst/>
          </a:prstGeom>
          <a:noFill/>
          <a:ln/>
        </p:spPr>
        <p:txBody>
          <a:bodyPr wrap="square" lIns="0" tIns="0" rIns="0" bIns="0" rtlCol="0" anchor="ctr"/>
          <a:lstStyle/>
          <a:p>
            <a:pPr marL="0" indent="0">
              <a:buNone/>
            </a:pPr>
            <a:r>
              <a:rPr lang="en-US" sz="950" b="1" dirty="0">
                <a:solidFill>
                  <a:srgbClr val="FFFFFF"/>
                </a:solidFill>
                <a:latin typeface="Segoe UI" pitchFamily="34" charset="0"/>
                <a:ea typeface="Segoe UI" pitchFamily="34" charset="-122"/>
                <a:cs typeface="Segoe UI" pitchFamily="34" charset="-120"/>
              </a:rPr>
              <a:t>Testing Agent (re-run)</a:t>
            </a:r>
            <a:endParaRPr lang="en-US" sz="950" dirty="0"/>
          </a:p>
        </p:txBody>
      </p:sp>
      <p:sp>
        <p:nvSpPr>
          <p:cNvPr id="34" name="Text 32"/>
          <p:cNvSpPr/>
          <p:nvPr/>
        </p:nvSpPr>
        <p:spPr>
          <a:xfrm>
            <a:off x="4389120" y="3593592"/>
            <a:ext cx="1508760" cy="374904"/>
          </a:xfrm>
          <a:prstGeom prst="rect">
            <a:avLst/>
          </a:prstGeom>
          <a:noFill/>
          <a:ln/>
        </p:spPr>
        <p:txBody>
          <a:bodyPr wrap="square" lIns="0" tIns="0" rIns="0" bIns="0" rtlCol="0" anchor="ctr"/>
          <a:lstStyle/>
          <a:p>
            <a:pPr marL="0" indent="0" algn="r">
              <a:buNone/>
            </a:pPr>
            <a:r>
              <a:rPr lang="en-US" sz="750" dirty="0">
                <a:solidFill>
                  <a:srgbClr val="DCEAFF"/>
                </a:solidFill>
                <a:latin typeface="Segoe UI" pitchFamily="34" charset="0"/>
                <a:ea typeface="Segoe UI" pitchFamily="34" charset="-122"/>
                <a:cs typeface="Segoe UI" pitchFamily="34" charset="-120"/>
              </a:rPr>
              <a:t>Re-execute baseline scenarios</a:t>
            </a:r>
            <a:endParaRPr lang="en-US" sz="750" dirty="0"/>
          </a:p>
        </p:txBody>
      </p:sp>
      <p:sp>
        <p:nvSpPr>
          <p:cNvPr id="35" name="Flow connector">
            <a:extLst>
              <a:ext uri="{C183D7F6-B498-43B3-948B-1728B52AA6E4}">
                <adec:decorative xmlns:adec="http://schemas.microsoft.com/office/drawing/2017/decorative" val="1"/>
              </a:ext>
            </a:extLst>
          </p:cNvPr>
          <p:cNvSpPr/>
          <p:nvPr/>
        </p:nvSpPr>
        <p:spPr>
          <a:xfrm>
            <a:off x="4023360" y="3968496"/>
            <a:ext cx="0" cy="68580"/>
          </a:xfrm>
          <a:prstGeom prst="line">
            <a:avLst/>
          </a:prstGeom>
          <a:noFill/>
          <a:ln w="22225">
            <a:solidFill>
              <a:srgbClr val="1F6FEB"/>
            </a:solidFill>
            <a:prstDash val="solid"/>
            <a:tailEnd type="triangle"/>
          </a:ln>
        </p:spPr>
        <p:txBody>
          <a:bodyPr/>
          <a:lstStyle/>
          <a:p>
            <a:endParaRPr lang="en-US"/>
          </a:p>
        </p:txBody>
      </p:sp>
      <p:sp>
        <p:nvSpPr>
          <p:cNvPr id="36" name="Workflow stage box">
            <a:extLst>
              <a:ext uri="{C183D7F6-B498-43B3-948B-1728B52AA6E4}">
                <adec:decorative xmlns:adec="http://schemas.microsoft.com/office/drawing/2017/decorative" val="1"/>
              </a:ext>
            </a:extLst>
          </p:cNvPr>
          <p:cNvSpPr/>
          <p:nvPr/>
        </p:nvSpPr>
        <p:spPr>
          <a:xfrm>
            <a:off x="2057400" y="4037076"/>
            <a:ext cx="3931920" cy="374904"/>
          </a:xfrm>
          <a:prstGeom prst="rect">
            <a:avLst/>
          </a:prstGeom>
          <a:solidFill>
            <a:srgbClr val="1F6FEB"/>
          </a:solidFill>
          <a:ln w="12700">
            <a:solidFill>
              <a:srgbClr val="1F6FEB"/>
            </a:solidFill>
            <a:prstDash val="solid"/>
          </a:ln>
        </p:spPr>
        <p:txBody>
          <a:bodyPr/>
          <a:lstStyle/>
          <a:p>
            <a:endParaRPr lang="en-US"/>
          </a:p>
        </p:txBody>
      </p:sp>
      <p:sp>
        <p:nvSpPr>
          <p:cNvPr id="37" name="Text 35"/>
          <p:cNvSpPr/>
          <p:nvPr/>
        </p:nvSpPr>
        <p:spPr>
          <a:xfrm>
            <a:off x="2167128" y="4037076"/>
            <a:ext cx="2194560" cy="374904"/>
          </a:xfrm>
          <a:prstGeom prst="rect">
            <a:avLst/>
          </a:prstGeom>
          <a:noFill/>
          <a:ln/>
        </p:spPr>
        <p:txBody>
          <a:bodyPr wrap="square" lIns="0" tIns="0" rIns="0" bIns="0" rtlCol="0" anchor="ctr"/>
          <a:lstStyle/>
          <a:p>
            <a:pPr marL="0" indent="0">
              <a:buNone/>
            </a:pPr>
            <a:r>
              <a:rPr lang="en-US" sz="950" b="1" dirty="0">
                <a:solidFill>
                  <a:srgbClr val="FFFFFF"/>
                </a:solidFill>
                <a:latin typeface="Segoe UI" pitchFamily="34" charset="0"/>
                <a:ea typeface="Segoe UI" pitchFamily="34" charset="-122"/>
                <a:cs typeface="Segoe UI" pitchFamily="34" charset="-120"/>
              </a:rPr>
              <a:t>Test Result Comparison</a:t>
            </a:r>
            <a:endParaRPr lang="en-US" sz="950" dirty="0"/>
          </a:p>
        </p:txBody>
      </p:sp>
      <p:sp>
        <p:nvSpPr>
          <p:cNvPr id="38" name="Text 36"/>
          <p:cNvSpPr/>
          <p:nvPr/>
        </p:nvSpPr>
        <p:spPr>
          <a:xfrm>
            <a:off x="4389120" y="4037076"/>
            <a:ext cx="1508760" cy="374904"/>
          </a:xfrm>
          <a:prstGeom prst="rect">
            <a:avLst/>
          </a:prstGeom>
          <a:noFill/>
          <a:ln/>
        </p:spPr>
        <p:txBody>
          <a:bodyPr wrap="square" lIns="0" tIns="0" rIns="0" bIns="0" rtlCol="0" anchor="ctr"/>
          <a:lstStyle/>
          <a:p>
            <a:pPr marL="0" indent="0" algn="r">
              <a:buNone/>
            </a:pPr>
            <a:r>
              <a:rPr lang="en-US" sz="750" dirty="0">
                <a:solidFill>
                  <a:srgbClr val="DCEAFF"/>
                </a:solidFill>
                <a:latin typeface="Segoe UI" pitchFamily="34" charset="0"/>
                <a:ea typeface="Segoe UI" pitchFamily="34" charset="-122"/>
                <a:cs typeface="Segoe UI" pitchFamily="34" charset="-120"/>
              </a:rPr>
              <a:t>Baseline vs. post-migration</a:t>
            </a:r>
            <a:endParaRPr lang="en-US" sz="750" dirty="0"/>
          </a:p>
        </p:txBody>
      </p:sp>
      <p:sp>
        <p:nvSpPr>
          <p:cNvPr id="39" name="Flow connector">
            <a:extLst>
              <a:ext uri="{C183D7F6-B498-43B3-948B-1728B52AA6E4}">
                <adec:decorative xmlns:adec="http://schemas.microsoft.com/office/drawing/2017/decorative" val="1"/>
              </a:ext>
            </a:extLst>
          </p:cNvPr>
          <p:cNvSpPr/>
          <p:nvPr/>
        </p:nvSpPr>
        <p:spPr>
          <a:xfrm>
            <a:off x="4023360" y="4411980"/>
            <a:ext cx="0" cy="68580"/>
          </a:xfrm>
          <a:prstGeom prst="line">
            <a:avLst/>
          </a:prstGeom>
          <a:noFill/>
          <a:ln w="22225">
            <a:solidFill>
              <a:srgbClr val="1F6FEB"/>
            </a:solidFill>
            <a:prstDash val="solid"/>
            <a:tailEnd type="triangle"/>
          </a:ln>
        </p:spPr>
        <p:txBody>
          <a:bodyPr/>
          <a:lstStyle/>
          <a:p>
            <a:endParaRPr lang="en-US"/>
          </a:p>
        </p:txBody>
      </p:sp>
      <p:sp>
        <p:nvSpPr>
          <p:cNvPr id="40" name="Workflow stage box">
            <a:extLst>
              <a:ext uri="{C183D7F6-B498-43B3-948B-1728B52AA6E4}">
                <adec:decorative xmlns:adec="http://schemas.microsoft.com/office/drawing/2017/decorative" val="1"/>
              </a:ext>
            </a:extLst>
          </p:cNvPr>
          <p:cNvSpPr/>
          <p:nvPr/>
        </p:nvSpPr>
        <p:spPr>
          <a:xfrm>
            <a:off x="2057400" y="4480560"/>
            <a:ext cx="3931920" cy="374904"/>
          </a:xfrm>
          <a:prstGeom prst="rect">
            <a:avLst/>
          </a:prstGeom>
          <a:solidFill>
            <a:srgbClr val="0F5C3F"/>
          </a:solidFill>
          <a:ln w="12700">
            <a:solidFill>
              <a:srgbClr val="0F5C3F"/>
            </a:solidFill>
            <a:prstDash val="solid"/>
          </a:ln>
        </p:spPr>
        <p:txBody>
          <a:bodyPr/>
          <a:lstStyle/>
          <a:p>
            <a:endParaRPr lang="en-US"/>
          </a:p>
        </p:txBody>
      </p:sp>
      <p:sp>
        <p:nvSpPr>
          <p:cNvPr id="41" name="Text 39"/>
          <p:cNvSpPr/>
          <p:nvPr/>
        </p:nvSpPr>
        <p:spPr>
          <a:xfrm>
            <a:off x="2167128" y="4480560"/>
            <a:ext cx="2194560" cy="374904"/>
          </a:xfrm>
          <a:prstGeom prst="rect">
            <a:avLst/>
          </a:prstGeom>
          <a:noFill/>
          <a:ln/>
        </p:spPr>
        <p:txBody>
          <a:bodyPr wrap="square" lIns="0" tIns="0" rIns="0" bIns="0" rtlCol="0" anchor="ctr"/>
          <a:lstStyle/>
          <a:p>
            <a:pPr marL="0" indent="0">
              <a:buNone/>
            </a:pPr>
            <a:r>
              <a:rPr lang="en-US" sz="950" b="1" dirty="0">
                <a:solidFill>
                  <a:srgbClr val="FFFFFF"/>
                </a:solidFill>
                <a:latin typeface="Segoe UI" pitchFamily="34" charset="0"/>
                <a:ea typeface="Segoe UI" pitchFamily="34" charset="-122"/>
                <a:cs typeface="Segoe UI" pitchFamily="34" charset="-120"/>
              </a:rPr>
              <a:t>Modernization Validation Report</a:t>
            </a:r>
            <a:endParaRPr lang="en-US" sz="950" dirty="0"/>
          </a:p>
        </p:txBody>
      </p:sp>
      <p:sp>
        <p:nvSpPr>
          <p:cNvPr id="42" name="Text 40"/>
          <p:cNvSpPr/>
          <p:nvPr/>
        </p:nvSpPr>
        <p:spPr>
          <a:xfrm>
            <a:off x="4389120" y="4480560"/>
            <a:ext cx="1508760" cy="374904"/>
          </a:xfrm>
          <a:prstGeom prst="rect">
            <a:avLst/>
          </a:prstGeom>
          <a:noFill/>
          <a:ln/>
        </p:spPr>
        <p:txBody>
          <a:bodyPr wrap="square" lIns="0" tIns="0" rIns="0" bIns="0" rtlCol="0" anchor="ctr"/>
          <a:lstStyle/>
          <a:p>
            <a:pPr marL="0" indent="0" algn="r">
              <a:buNone/>
            </a:pPr>
            <a:r>
              <a:rPr lang="en-US" sz="750" dirty="0">
                <a:solidFill>
                  <a:srgbClr val="DCEAFF"/>
                </a:solidFill>
                <a:latin typeface="Segoe UI" pitchFamily="34" charset="0"/>
                <a:ea typeface="Segoe UI" pitchFamily="34" charset="-122"/>
                <a:cs typeface="Segoe UI" pitchFamily="34" charset="-120"/>
              </a:rPr>
              <a:t>Final outcome</a:t>
            </a:r>
            <a:endParaRPr lang="en-US" sz="750" dirty="0"/>
          </a:p>
        </p:txBody>
      </p:sp>
      <p:sp>
        <p:nvSpPr>
          <p:cNvPr id="43" name="Testing agent span">
            <a:extLst>
              <a:ext uri="{C183D7F6-B498-43B3-948B-1728B52AA6E4}">
                <adec:decorative xmlns:adec="http://schemas.microsoft.com/office/drawing/2017/decorative" val="1"/>
              </a:ext>
            </a:extLst>
          </p:cNvPr>
          <p:cNvSpPr/>
          <p:nvPr/>
        </p:nvSpPr>
        <p:spPr>
          <a:xfrm>
            <a:off x="1783080" y="1563624"/>
            <a:ext cx="0" cy="2217420"/>
          </a:xfrm>
          <a:prstGeom prst="line">
            <a:avLst/>
          </a:prstGeom>
          <a:noFill/>
          <a:ln w="19050">
            <a:solidFill>
              <a:srgbClr val="0E8F8F"/>
            </a:solidFill>
            <a:prstDash val="dash"/>
          </a:ln>
        </p:spPr>
        <p:txBody>
          <a:bodyPr/>
          <a:lstStyle/>
          <a:p>
            <a:endParaRPr lang="en-US"/>
          </a:p>
        </p:txBody>
      </p:sp>
      <p:sp>
        <p:nvSpPr>
          <p:cNvPr id="44" name="Span tick">
            <a:extLst>
              <a:ext uri="{C183D7F6-B498-43B3-948B-1728B52AA6E4}">
                <adec:decorative xmlns:adec="http://schemas.microsoft.com/office/drawing/2017/decorative" val="1"/>
              </a:ext>
            </a:extLst>
          </p:cNvPr>
          <p:cNvSpPr/>
          <p:nvPr/>
        </p:nvSpPr>
        <p:spPr>
          <a:xfrm>
            <a:off x="1783080" y="1563624"/>
            <a:ext cx="256032" cy="0"/>
          </a:xfrm>
          <a:prstGeom prst="line">
            <a:avLst/>
          </a:prstGeom>
          <a:noFill/>
          <a:ln w="19050">
            <a:solidFill>
              <a:srgbClr val="0E8F8F"/>
            </a:solidFill>
            <a:prstDash val="solid"/>
          </a:ln>
        </p:spPr>
        <p:txBody>
          <a:bodyPr/>
          <a:lstStyle/>
          <a:p>
            <a:endParaRPr lang="en-US"/>
          </a:p>
        </p:txBody>
      </p:sp>
      <p:sp>
        <p:nvSpPr>
          <p:cNvPr id="45" name="Span tick">
            <a:extLst>
              <a:ext uri="{C183D7F6-B498-43B3-948B-1728B52AA6E4}">
                <adec:decorative xmlns:adec="http://schemas.microsoft.com/office/drawing/2017/decorative" val="1"/>
              </a:ext>
            </a:extLst>
          </p:cNvPr>
          <p:cNvSpPr/>
          <p:nvPr/>
        </p:nvSpPr>
        <p:spPr>
          <a:xfrm>
            <a:off x="1783080" y="3781044"/>
            <a:ext cx="256032" cy="0"/>
          </a:xfrm>
          <a:prstGeom prst="line">
            <a:avLst/>
          </a:prstGeom>
          <a:noFill/>
          <a:ln w="19050">
            <a:solidFill>
              <a:srgbClr val="0E8F8F"/>
            </a:solidFill>
            <a:prstDash val="solid"/>
          </a:ln>
        </p:spPr>
        <p:txBody>
          <a:bodyPr/>
          <a:lstStyle/>
          <a:p>
            <a:endParaRPr lang="en-US"/>
          </a:p>
        </p:txBody>
      </p:sp>
      <p:sp>
        <p:nvSpPr>
          <p:cNvPr id="46" name="Text 44"/>
          <p:cNvSpPr/>
          <p:nvPr/>
        </p:nvSpPr>
        <p:spPr>
          <a:xfrm>
            <a:off x="320040" y="2011680"/>
            <a:ext cx="1371600" cy="914400"/>
          </a:xfrm>
          <a:prstGeom prst="rect">
            <a:avLst/>
          </a:prstGeom>
          <a:noFill/>
          <a:ln/>
        </p:spPr>
        <p:txBody>
          <a:bodyPr wrap="square" lIns="0" tIns="0" rIns="0" bIns="0" rtlCol="0" anchor="ctr"/>
          <a:lstStyle/>
          <a:p>
            <a:pPr marL="0" indent="0" algn="r">
              <a:lnSpc>
                <a:spcPct val="115000"/>
              </a:lnSpc>
              <a:buNone/>
            </a:pPr>
            <a:r>
              <a:rPr lang="en-US" sz="900" b="1" dirty="0">
                <a:solidFill>
                  <a:srgbClr val="0E8F8F"/>
                </a:solidFill>
                <a:latin typeface="Segoe UI" pitchFamily="34" charset="0"/>
                <a:ea typeface="Segoe UI" pitchFamily="34" charset="-122"/>
                <a:cs typeface="Segoe UI" pitchFamily="34" charset="-120"/>
              </a:rPr>
              <a:t>Testing Agent</a:t>
            </a:r>
            <a:endParaRPr lang="en-US" sz="900" dirty="0"/>
          </a:p>
          <a:p>
            <a:pPr marL="0" indent="0" algn="r">
              <a:lnSpc>
                <a:spcPct val="115000"/>
              </a:lnSpc>
              <a:buNone/>
            </a:pPr>
            <a:r>
              <a:rPr lang="en-US" sz="900" b="1" dirty="0">
                <a:solidFill>
                  <a:srgbClr val="0E8F8F"/>
                </a:solidFill>
                <a:latin typeface="Segoe UI" pitchFamily="34" charset="0"/>
                <a:ea typeface="Segoe UI" pitchFamily="34" charset="-122"/>
                <a:cs typeface="Segoe UI" pitchFamily="34" charset="-120"/>
              </a:rPr>
              <a:t>participates both</a:t>
            </a:r>
            <a:endParaRPr lang="en-US" sz="900" dirty="0"/>
          </a:p>
          <a:p>
            <a:pPr marL="0" indent="0" algn="r">
              <a:lnSpc>
                <a:spcPct val="115000"/>
              </a:lnSpc>
              <a:buNone/>
            </a:pPr>
            <a:r>
              <a:rPr lang="en-US" sz="900" b="1" dirty="0">
                <a:solidFill>
                  <a:srgbClr val="0E8F8F"/>
                </a:solidFill>
                <a:latin typeface="Segoe UI" pitchFamily="34" charset="0"/>
                <a:ea typeface="Segoe UI" pitchFamily="34" charset="-122"/>
                <a:cs typeface="Segoe UI" pitchFamily="34" charset="-120"/>
              </a:rPr>
              <a:t>before and after</a:t>
            </a:r>
            <a:endParaRPr lang="en-US" sz="900" dirty="0"/>
          </a:p>
          <a:p>
            <a:pPr marL="0" indent="0" algn="r">
              <a:lnSpc>
                <a:spcPct val="115000"/>
              </a:lnSpc>
              <a:buNone/>
            </a:pPr>
            <a:r>
              <a:rPr lang="en-US" sz="900" b="1" dirty="0">
                <a:solidFill>
                  <a:srgbClr val="0E8F8F"/>
                </a:solidFill>
                <a:latin typeface="Segoe UI" pitchFamily="34" charset="0"/>
                <a:ea typeface="Segoe UI" pitchFamily="34" charset="-122"/>
                <a:cs typeface="Segoe UI" pitchFamily="34" charset="-120"/>
              </a:rPr>
              <a:t>migration</a:t>
            </a:r>
            <a:endParaRPr lang="en-US" sz="900" dirty="0"/>
          </a:p>
        </p:txBody>
      </p:sp>
      <p:sp>
        <p:nvSpPr>
          <p:cNvPr id="47" name="Text 45"/>
          <p:cNvSpPr/>
          <p:nvPr/>
        </p:nvSpPr>
        <p:spPr>
          <a:xfrm>
            <a:off x="6172200" y="2194560"/>
            <a:ext cx="2560320" cy="822960"/>
          </a:xfrm>
          <a:prstGeom prst="rect">
            <a:avLst/>
          </a:prstGeom>
          <a:noFill/>
          <a:ln/>
        </p:spPr>
        <p:txBody>
          <a:bodyPr wrap="square" lIns="0" tIns="0" rIns="0" bIns="0" rtlCol="0" anchor="ctr"/>
          <a:lstStyle/>
          <a:p>
            <a:pPr marL="0" indent="0">
              <a:lnSpc>
                <a:spcPct val="115000"/>
              </a:lnSpc>
              <a:buNone/>
            </a:pPr>
            <a:r>
              <a:rPr lang="en-US" sz="950" dirty="0">
                <a:solidFill>
                  <a:srgbClr val="44546A"/>
                </a:solidFill>
                <a:latin typeface="Segoe UI" pitchFamily="34" charset="0"/>
                <a:ea typeface="Segoe UI" pitchFamily="34" charset="-122"/>
                <a:cs typeface="Segoe UI" pitchFamily="34" charset="-120"/>
              </a:rPr>
              <a:t>Every stage writes a</a:t>
            </a:r>
            <a:endParaRPr lang="en-US" sz="950" dirty="0"/>
          </a:p>
          <a:p>
            <a:pPr marL="0" indent="0">
              <a:lnSpc>
                <a:spcPct val="115000"/>
              </a:lnSpc>
              <a:buNone/>
            </a:pPr>
            <a:r>
              <a:rPr lang="en-US" sz="950" dirty="0">
                <a:solidFill>
                  <a:srgbClr val="44546A"/>
                </a:solidFill>
                <a:latin typeface="Segoe UI" pitchFamily="34" charset="0"/>
                <a:ea typeface="Segoe UI" pitchFamily="34" charset="-122"/>
                <a:cs typeface="Segoe UI" pitchFamily="34" charset="-120"/>
              </a:rPr>
              <a:t>structured artifact that</a:t>
            </a:r>
            <a:endParaRPr lang="en-US" sz="950" dirty="0"/>
          </a:p>
          <a:p>
            <a:pPr marL="0" indent="0">
              <a:lnSpc>
                <a:spcPct val="115000"/>
              </a:lnSpc>
              <a:buNone/>
            </a:pPr>
            <a:r>
              <a:rPr lang="en-US" sz="950" dirty="0">
                <a:solidFill>
                  <a:srgbClr val="44546A"/>
                </a:solidFill>
                <a:latin typeface="Segoe UI" pitchFamily="34" charset="0"/>
                <a:ea typeface="Segoe UI" pitchFamily="34" charset="-122"/>
                <a:cs typeface="Segoe UI" pitchFamily="34" charset="-120"/>
              </a:rPr>
              <a:t>the next stage consumes.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F6FEB"/>
          </a:solidFill>
          <a:ln w="12700">
            <a:solidFill>
              <a:srgbClr val="1F6FEB"/>
            </a:solidFill>
            <a:prstDash val="solid"/>
          </a:ln>
        </p:spPr>
        <p:txBody>
          <a:bodyPr/>
          <a:lstStyle/>
          <a:p>
            <a:endParaRPr lang="en-US"/>
          </a:p>
        </p:txBody>
      </p:sp>
      <p:sp>
        <p:nvSpPr>
          <p:cNvPr id="3" name="Text 1"/>
          <p:cNvSpPr/>
          <p:nvPr/>
        </p:nvSpPr>
        <p:spPr>
          <a:xfrm>
            <a:off x="411480" y="237744"/>
            <a:ext cx="548640" cy="411480"/>
          </a:xfrm>
          <a:prstGeom prst="rect">
            <a:avLst/>
          </a:prstGeom>
          <a:noFill/>
          <a:ln/>
        </p:spPr>
        <p:txBody>
          <a:bodyPr wrap="square" lIns="0" tIns="0" rIns="0" bIns="0" rtlCol="0" anchor="ctr"/>
          <a:lstStyle/>
          <a:p>
            <a:pPr marL="0" indent="0">
              <a:buNone/>
            </a:pPr>
            <a:r>
              <a:rPr lang="en-US" sz="2000" b="1" dirty="0">
                <a:solidFill>
                  <a:srgbClr val="9DC2F5"/>
                </a:solidFill>
                <a:latin typeface="Segoe UI" pitchFamily="34" charset="0"/>
                <a:ea typeface="Segoe UI" pitchFamily="34" charset="-122"/>
                <a:cs typeface="Segoe UI" pitchFamily="34" charset="-120"/>
              </a:rPr>
              <a:t>08</a:t>
            </a:r>
            <a:endParaRPr lang="en-US" sz="2000" dirty="0"/>
          </a:p>
        </p:txBody>
      </p:sp>
      <p:sp>
        <p:nvSpPr>
          <p:cNvPr id="4" name="Text 2"/>
          <p:cNvSpPr/>
          <p:nvPr/>
        </p:nvSpPr>
        <p:spPr>
          <a:xfrm>
            <a:off x="960120" y="219456"/>
            <a:ext cx="5669280" cy="457200"/>
          </a:xfrm>
          <a:prstGeom prst="rect">
            <a:avLst/>
          </a:prstGeom>
          <a:noFill/>
          <a:ln/>
        </p:spPr>
        <p:txBody>
          <a:bodyPr wrap="square" lIns="0" tIns="0" rIns="0" bIns="0" rtlCol="0" anchor="ctr"/>
          <a:lstStyle/>
          <a:p>
            <a:pPr marL="0" indent="0">
              <a:buNone/>
            </a:pPr>
            <a:r>
              <a:rPr lang="en-US" sz="2400" b="1" dirty="0">
                <a:solidFill>
                  <a:srgbClr val="0F2540"/>
                </a:solidFill>
                <a:latin typeface="Segoe UI" pitchFamily="34" charset="0"/>
                <a:ea typeface="Segoe UI" pitchFamily="34" charset="-122"/>
                <a:cs typeface="Segoe UI" pitchFamily="34" charset="-120"/>
              </a:rPr>
              <a:t>Shared Artifacts and Collaboration</a:t>
            </a:r>
            <a:endParaRPr lang="en-US" sz="2400" dirty="0"/>
          </a:p>
        </p:txBody>
      </p:sp>
      <p:sp>
        <p:nvSpPr>
          <p:cNvPr id="5" name="State label chip">
            <a:extLst>
              <a:ext uri="{C183D7F6-B498-43B3-948B-1728B52AA6E4}">
                <adec:decorative xmlns:adec="http://schemas.microsoft.com/office/drawing/2017/decorative" val="1"/>
              </a:ext>
            </a:extLst>
          </p:cNvPr>
          <p:cNvSpPr/>
          <p:nvPr/>
        </p:nvSpPr>
        <p:spPr>
          <a:xfrm>
            <a:off x="6812280" y="274320"/>
            <a:ext cx="1920240" cy="347472"/>
          </a:xfrm>
          <a:prstGeom prst="rect">
            <a:avLst/>
          </a:prstGeom>
          <a:solidFill>
            <a:srgbClr val="F3F6FA"/>
          </a:solidFill>
          <a:ln w="12700">
            <a:solidFill>
              <a:srgbClr val="44546A"/>
            </a:solidFill>
            <a:prstDash val="solid"/>
          </a:ln>
        </p:spPr>
        <p:txBody>
          <a:bodyPr/>
          <a:lstStyle/>
          <a:p>
            <a:endParaRPr lang="en-US"/>
          </a:p>
        </p:txBody>
      </p:sp>
      <p:sp>
        <p:nvSpPr>
          <p:cNvPr id="6" name="Text 4"/>
          <p:cNvSpPr/>
          <p:nvPr/>
        </p:nvSpPr>
        <p:spPr>
          <a:xfrm>
            <a:off x="6812280" y="274320"/>
            <a:ext cx="1920240" cy="347472"/>
          </a:xfrm>
          <a:prstGeom prst="rect">
            <a:avLst/>
          </a:prstGeom>
          <a:noFill/>
          <a:ln/>
        </p:spPr>
        <p:txBody>
          <a:bodyPr wrap="square" lIns="0" tIns="0" rIns="0" bIns="0" rtlCol="0" anchor="ctr"/>
          <a:lstStyle/>
          <a:p>
            <a:pPr marL="0" indent="0" algn="ctr">
              <a:buNone/>
            </a:pPr>
            <a:r>
              <a:rPr lang="en-US" sz="1000" b="1" kern="0" spc="150" dirty="0">
                <a:solidFill>
                  <a:srgbClr val="44546A"/>
                </a:solidFill>
                <a:latin typeface="Segoe UI" pitchFamily="34" charset="0"/>
                <a:ea typeface="Segoe UI" pitchFamily="34" charset="-122"/>
                <a:cs typeface="Segoe UI" pitchFamily="34" charset="-120"/>
              </a:rPr>
              <a:t>FUTURE VISION</a:t>
            </a:r>
            <a:endParaRPr lang="en-US" sz="1000" dirty="0"/>
          </a:p>
        </p:txBody>
      </p:sp>
      <p:sp>
        <p:nvSpPr>
          <p:cNvPr id="7" name="Header rule">
            <a:extLst>
              <a:ext uri="{C183D7F6-B498-43B3-948B-1728B52AA6E4}">
                <adec:decorative xmlns:adec="http://schemas.microsoft.com/office/drawing/2017/decorative" val="1"/>
              </a:ext>
            </a:extLst>
          </p:cNvPr>
          <p:cNvSpPr/>
          <p:nvPr/>
        </p:nvSpPr>
        <p:spPr>
          <a:xfrm>
            <a:off x="411480" y="768096"/>
            <a:ext cx="8321040" cy="0"/>
          </a:xfrm>
          <a:prstGeom prst="line">
            <a:avLst/>
          </a:prstGeom>
          <a:noFill/>
          <a:ln w="12700">
            <a:solidFill>
              <a:srgbClr val="D6E2F2"/>
            </a:solidFill>
            <a:prstDash val="solid"/>
          </a:ln>
        </p:spPr>
        <p:txBody>
          <a:bodyPr/>
          <a:lstStyle/>
          <a:p>
            <a:endParaRPr lang="en-US"/>
          </a:p>
        </p:txBody>
      </p:sp>
      <p:sp>
        <p:nvSpPr>
          <p:cNvPr id="8" name="Text 6"/>
          <p:cNvSpPr/>
          <p:nvPr/>
        </p:nvSpPr>
        <p:spPr>
          <a:xfrm>
            <a:off x="411480" y="877824"/>
            <a:ext cx="8321040" cy="292608"/>
          </a:xfrm>
          <a:prstGeom prst="rect">
            <a:avLst/>
          </a:prstGeom>
          <a:noFill/>
          <a:ln/>
        </p:spPr>
        <p:txBody>
          <a:bodyPr wrap="square" lIns="0" tIns="0" rIns="0" bIns="0" rtlCol="0" anchor="ctr"/>
          <a:lstStyle/>
          <a:p>
            <a:pPr marL="0" indent="0">
              <a:buNone/>
            </a:pPr>
            <a:r>
              <a:rPr lang="en-US" sz="1150" dirty="0">
                <a:solidFill>
                  <a:srgbClr val="44546A"/>
                </a:solidFill>
                <a:latin typeface="Segoe UI" pitchFamily="34" charset="0"/>
                <a:ea typeface="Segoe UI" pitchFamily="34" charset="-122"/>
                <a:cs typeface="Segoe UI" pitchFamily="34" charset="-120"/>
              </a:rPr>
              <a:t>Agents collaborate through structured, versioned artifacts in a shared repository — not through conversational messages alone.</a:t>
            </a:r>
            <a:endParaRPr lang="en-US" sz="1150" dirty="0"/>
          </a:p>
        </p:txBody>
      </p:sp>
      <p:sp>
        <p:nvSpPr>
          <p:cNvPr id="9" name="Agent chip">
            <a:extLst>
              <a:ext uri="{C183D7F6-B498-43B3-948B-1728B52AA6E4}">
                <adec:decorative xmlns:adec="http://schemas.microsoft.com/office/drawing/2017/decorative" val="1"/>
              </a:ext>
            </a:extLst>
          </p:cNvPr>
          <p:cNvSpPr/>
          <p:nvPr/>
        </p:nvSpPr>
        <p:spPr>
          <a:xfrm>
            <a:off x="548640" y="1243584"/>
            <a:ext cx="1572768" cy="438912"/>
          </a:xfrm>
          <a:prstGeom prst="rect">
            <a:avLst/>
          </a:prstGeom>
          <a:solidFill>
            <a:srgbClr val="0E8F8F"/>
          </a:solidFill>
          <a:ln w="12700">
            <a:solidFill>
              <a:srgbClr val="0E8F8F"/>
            </a:solidFill>
            <a:prstDash val="solid"/>
          </a:ln>
        </p:spPr>
        <p:txBody>
          <a:bodyPr/>
          <a:lstStyle/>
          <a:p>
            <a:endParaRPr lang="en-US"/>
          </a:p>
        </p:txBody>
      </p:sp>
      <p:sp>
        <p:nvSpPr>
          <p:cNvPr id="10" name="Text 8"/>
          <p:cNvSpPr/>
          <p:nvPr/>
        </p:nvSpPr>
        <p:spPr>
          <a:xfrm>
            <a:off x="548640" y="1243584"/>
            <a:ext cx="1572768"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Testing Agent</a:t>
            </a:r>
            <a:endParaRPr lang="en-US" sz="950" dirty="0"/>
          </a:p>
        </p:txBody>
      </p:sp>
      <p:sp>
        <p:nvSpPr>
          <p:cNvPr id="11" name="Read-write connector">
            <a:extLst>
              <a:ext uri="{C183D7F6-B498-43B3-948B-1728B52AA6E4}">
                <adec:decorative xmlns:adec="http://schemas.microsoft.com/office/drawing/2017/decorative" val="1"/>
              </a:ext>
            </a:extLst>
          </p:cNvPr>
          <p:cNvSpPr/>
          <p:nvPr/>
        </p:nvSpPr>
        <p:spPr>
          <a:xfrm>
            <a:off x="1335024" y="1682496"/>
            <a:ext cx="0" cy="274320"/>
          </a:xfrm>
          <a:prstGeom prst="line">
            <a:avLst/>
          </a:prstGeom>
          <a:noFill/>
          <a:ln w="15875">
            <a:solidFill>
              <a:srgbClr val="44546A"/>
            </a:solidFill>
            <a:prstDash val="solid"/>
            <a:headEnd type="triangle"/>
            <a:tailEnd type="triangle"/>
          </a:ln>
        </p:spPr>
        <p:txBody>
          <a:bodyPr/>
          <a:lstStyle/>
          <a:p>
            <a:endParaRPr lang="en-US"/>
          </a:p>
        </p:txBody>
      </p:sp>
      <p:sp>
        <p:nvSpPr>
          <p:cNvPr id="12" name="Agent chip">
            <a:extLst>
              <a:ext uri="{C183D7F6-B498-43B3-948B-1728B52AA6E4}">
                <adec:decorative xmlns:adec="http://schemas.microsoft.com/office/drawing/2017/decorative" val="1"/>
              </a:ext>
            </a:extLst>
          </p:cNvPr>
          <p:cNvSpPr/>
          <p:nvPr/>
        </p:nvSpPr>
        <p:spPr>
          <a:xfrm>
            <a:off x="2258568" y="1243584"/>
            <a:ext cx="1572768" cy="438912"/>
          </a:xfrm>
          <a:prstGeom prst="rect">
            <a:avLst/>
          </a:prstGeom>
          <a:solidFill>
            <a:srgbClr val="1F6FEB"/>
          </a:solidFill>
          <a:ln w="12700">
            <a:solidFill>
              <a:srgbClr val="1F6FEB"/>
            </a:solidFill>
            <a:prstDash val="solid"/>
          </a:ln>
        </p:spPr>
        <p:txBody>
          <a:bodyPr/>
          <a:lstStyle/>
          <a:p>
            <a:endParaRPr lang="en-US"/>
          </a:p>
        </p:txBody>
      </p:sp>
      <p:sp>
        <p:nvSpPr>
          <p:cNvPr id="13" name="Text 11"/>
          <p:cNvSpPr/>
          <p:nvPr/>
        </p:nvSpPr>
        <p:spPr>
          <a:xfrm>
            <a:off x="2258568" y="1243584"/>
            <a:ext cx="1572768"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Scanner Agent</a:t>
            </a:r>
            <a:endParaRPr lang="en-US" sz="950" dirty="0"/>
          </a:p>
        </p:txBody>
      </p:sp>
      <p:sp>
        <p:nvSpPr>
          <p:cNvPr id="14" name="Read-write connector">
            <a:extLst>
              <a:ext uri="{C183D7F6-B498-43B3-948B-1728B52AA6E4}">
                <adec:decorative xmlns:adec="http://schemas.microsoft.com/office/drawing/2017/decorative" val="1"/>
              </a:ext>
            </a:extLst>
          </p:cNvPr>
          <p:cNvSpPr/>
          <p:nvPr/>
        </p:nvSpPr>
        <p:spPr>
          <a:xfrm>
            <a:off x="3044952" y="1682496"/>
            <a:ext cx="0" cy="274320"/>
          </a:xfrm>
          <a:prstGeom prst="line">
            <a:avLst/>
          </a:prstGeom>
          <a:noFill/>
          <a:ln w="15875">
            <a:solidFill>
              <a:srgbClr val="44546A"/>
            </a:solidFill>
            <a:prstDash val="solid"/>
            <a:headEnd type="triangle"/>
            <a:tailEnd type="triangle"/>
          </a:ln>
        </p:spPr>
        <p:txBody>
          <a:bodyPr/>
          <a:lstStyle/>
          <a:p>
            <a:endParaRPr lang="en-US"/>
          </a:p>
        </p:txBody>
      </p:sp>
      <p:sp>
        <p:nvSpPr>
          <p:cNvPr id="15" name="Agent chip">
            <a:extLst>
              <a:ext uri="{C183D7F6-B498-43B3-948B-1728B52AA6E4}">
                <adec:decorative xmlns:adec="http://schemas.microsoft.com/office/drawing/2017/decorative" val="1"/>
              </a:ext>
            </a:extLst>
          </p:cNvPr>
          <p:cNvSpPr/>
          <p:nvPr/>
        </p:nvSpPr>
        <p:spPr>
          <a:xfrm>
            <a:off x="3968496" y="1243584"/>
            <a:ext cx="1572768" cy="438912"/>
          </a:xfrm>
          <a:prstGeom prst="rect">
            <a:avLst/>
          </a:prstGeom>
          <a:solidFill>
            <a:srgbClr val="B26A00"/>
          </a:solidFill>
          <a:ln w="12700">
            <a:solidFill>
              <a:srgbClr val="B26A00"/>
            </a:solidFill>
            <a:prstDash val="solid"/>
          </a:ln>
        </p:spPr>
        <p:txBody>
          <a:bodyPr/>
          <a:lstStyle/>
          <a:p>
            <a:endParaRPr lang="en-US"/>
          </a:p>
        </p:txBody>
      </p:sp>
      <p:sp>
        <p:nvSpPr>
          <p:cNvPr id="16" name="Text 14"/>
          <p:cNvSpPr/>
          <p:nvPr/>
        </p:nvSpPr>
        <p:spPr>
          <a:xfrm>
            <a:off x="3968496" y="1243584"/>
            <a:ext cx="1572768"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Security Agent</a:t>
            </a:r>
            <a:endParaRPr lang="en-US" sz="950" dirty="0"/>
          </a:p>
        </p:txBody>
      </p:sp>
      <p:sp>
        <p:nvSpPr>
          <p:cNvPr id="17" name="Read-write connector">
            <a:extLst>
              <a:ext uri="{C183D7F6-B498-43B3-948B-1728B52AA6E4}">
                <adec:decorative xmlns:adec="http://schemas.microsoft.com/office/drawing/2017/decorative" val="1"/>
              </a:ext>
            </a:extLst>
          </p:cNvPr>
          <p:cNvSpPr/>
          <p:nvPr/>
        </p:nvSpPr>
        <p:spPr>
          <a:xfrm>
            <a:off x="4754880" y="1682496"/>
            <a:ext cx="0" cy="274320"/>
          </a:xfrm>
          <a:prstGeom prst="line">
            <a:avLst/>
          </a:prstGeom>
          <a:noFill/>
          <a:ln w="15875">
            <a:solidFill>
              <a:srgbClr val="44546A"/>
            </a:solidFill>
            <a:prstDash val="solid"/>
            <a:headEnd type="triangle"/>
            <a:tailEnd type="triangle"/>
          </a:ln>
        </p:spPr>
        <p:txBody>
          <a:bodyPr/>
          <a:lstStyle/>
          <a:p>
            <a:endParaRPr lang="en-US"/>
          </a:p>
        </p:txBody>
      </p:sp>
      <p:sp>
        <p:nvSpPr>
          <p:cNvPr id="18" name="Agent chip">
            <a:extLst>
              <a:ext uri="{C183D7F6-B498-43B3-948B-1728B52AA6E4}">
                <adec:decorative xmlns:adec="http://schemas.microsoft.com/office/drawing/2017/decorative" val="1"/>
              </a:ext>
            </a:extLst>
          </p:cNvPr>
          <p:cNvSpPr/>
          <p:nvPr/>
        </p:nvSpPr>
        <p:spPr>
          <a:xfrm>
            <a:off x="5678424" y="1243584"/>
            <a:ext cx="1572768" cy="438912"/>
          </a:xfrm>
          <a:prstGeom prst="rect">
            <a:avLst/>
          </a:prstGeom>
          <a:solidFill>
            <a:srgbClr val="0B4AA2"/>
          </a:solidFill>
          <a:ln w="12700">
            <a:solidFill>
              <a:srgbClr val="0B4AA2"/>
            </a:solidFill>
            <a:prstDash val="solid"/>
          </a:ln>
        </p:spPr>
        <p:txBody>
          <a:bodyPr/>
          <a:lstStyle/>
          <a:p>
            <a:endParaRPr lang="en-US"/>
          </a:p>
        </p:txBody>
      </p:sp>
      <p:sp>
        <p:nvSpPr>
          <p:cNvPr id="19" name="Text 17"/>
          <p:cNvSpPr/>
          <p:nvPr/>
        </p:nvSpPr>
        <p:spPr>
          <a:xfrm>
            <a:off x="5678424" y="1243584"/>
            <a:ext cx="1572768"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Planning Agent</a:t>
            </a:r>
            <a:endParaRPr lang="en-US" sz="950" dirty="0"/>
          </a:p>
        </p:txBody>
      </p:sp>
      <p:sp>
        <p:nvSpPr>
          <p:cNvPr id="20" name="Read-write connector">
            <a:extLst>
              <a:ext uri="{C183D7F6-B498-43B3-948B-1728B52AA6E4}">
                <adec:decorative xmlns:adec="http://schemas.microsoft.com/office/drawing/2017/decorative" val="1"/>
              </a:ext>
            </a:extLst>
          </p:cNvPr>
          <p:cNvSpPr/>
          <p:nvPr/>
        </p:nvSpPr>
        <p:spPr>
          <a:xfrm>
            <a:off x="6464808" y="1682496"/>
            <a:ext cx="0" cy="274320"/>
          </a:xfrm>
          <a:prstGeom prst="line">
            <a:avLst/>
          </a:prstGeom>
          <a:noFill/>
          <a:ln w="15875">
            <a:solidFill>
              <a:srgbClr val="44546A"/>
            </a:solidFill>
            <a:prstDash val="solid"/>
            <a:headEnd type="triangle"/>
            <a:tailEnd type="triangle"/>
          </a:ln>
        </p:spPr>
        <p:txBody>
          <a:bodyPr/>
          <a:lstStyle/>
          <a:p>
            <a:endParaRPr lang="en-US"/>
          </a:p>
        </p:txBody>
      </p:sp>
      <p:sp>
        <p:nvSpPr>
          <p:cNvPr id="21" name="Agent chip">
            <a:extLst>
              <a:ext uri="{C183D7F6-B498-43B3-948B-1728B52AA6E4}">
                <adec:decorative xmlns:adec="http://schemas.microsoft.com/office/drawing/2017/decorative" val="1"/>
              </a:ext>
            </a:extLst>
          </p:cNvPr>
          <p:cNvSpPr/>
          <p:nvPr/>
        </p:nvSpPr>
        <p:spPr>
          <a:xfrm>
            <a:off x="7388352" y="1243584"/>
            <a:ext cx="1572768" cy="438912"/>
          </a:xfrm>
          <a:prstGeom prst="rect">
            <a:avLst/>
          </a:prstGeom>
          <a:solidFill>
            <a:srgbClr val="7A3FBF"/>
          </a:solidFill>
          <a:ln w="12700">
            <a:solidFill>
              <a:srgbClr val="7A3FBF"/>
            </a:solidFill>
            <a:prstDash val="solid"/>
          </a:ln>
        </p:spPr>
        <p:txBody>
          <a:bodyPr/>
          <a:lstStyle/>
          <a:p>
            <a:endParaRPr lang="en-US"/>
          </a:p>
        </p:txBody>
      </p:sp>
      <p:sp>
        <p:nvSpPr>
          <p:cNvPr id="22" name="Text 20"/>
          <p:cNvSpPr/>
          <p:nvPr/>
        </p:nvSpPr>
        <p:spPr>
          <a:xfrm>
            <a:off x="7388352" y="1243584"/>
            <a:ext cx="1572768"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Execution Agent</a:t>
            </a:r>
            <a:endParaRPr lang="en-US" sz="950" dirty="0"/>
          </a:p>
        </p:txBody>
      </p:sp>
      <p:sp>
        <p:nvSpPr>
          <p:cNvPr id="23" name="Read-write connector">
            <a:extLst>
              <a:ext uri="{C183D7F6-B498-43B3-948B-1728B52AA6E4}">
                <adec:decorative xmlns:adec="http://schemas.microsoft.com/office/drawing/2017/decorative" val="1"/>
              </a:ext>
            </a:extLst>
          </p:cNvPr>
          <p:cNvSpPr/>
          <p:nvPr/>
        </p:nvSpPr>
        <p:spPr>
          <a:xfrm>
            <a:off x="8174736" y="1682496"/>
            <a:ext cx="0" cy="274320"/>
          </a:xfrm>
          <a:prstGeom prst="line">
            <a:avLst/>
          </a:prstGeom>
          <a:noFill/>
          <a:ln w="15875">
            <a:solidFill>
              <a:srgbClr val="44546A"/>
            </a:solidFill>
            <a:prstDash val="solid"/>
            <a:headEnd type="triangle"/>
            <a:tailEnd type="triangle"/>
          </a:ln>
        </p:spPr>
        <p:txBody>
          <a:bodyPr/>
          <a:lstStyle/>
          <a:p>
            <a:endParaRPr lang="en-US"/>
          </a:p>
        </p:txBody>
      </p:sp>
      <p:sp>
        <p:nvSpPr>
          <p:cNvPr id="24" name="Shared repository band">
            <a:extLst>
              <a:ext uri="{C183D7F6-B498-43B3-948B-1728B52AA6E4}">
                <adec:decorative xmlns:adec="http://schemas.microsoft.com/office/drawing/2017/decorative" val="1"/>
              </a:ext>
            </a:extLst>
          </p:cNvPr>
          <p:cNvSpPr/>
          <p:nvPr/>
        </p:nvSpPr>
        <p:spPr>
          <a:xfrm>
            <a:off x="411480" y="1956816"/>
            <a:ext cx="8321040" cy="512064"/>
          </a:xfrm>
          <a:prstGeom prst="rect">
            <a:avLst/>
          </a:prstGeom>
          <a:solidFill>
            <a:srgbClr val="0F2540"/>
          </a:solidFill>
          <a:ln w="12700">
            <a:solidFill>
              <a:srgbClr val="0F2540"/>
            </a:solidFill>
            <a:prstDash val="solid"/>
          </a:ln>
        </p:spPr>
        <p:txBody>
          <a:bodyPr/>
          <a:lstStyle/>
          <a:p>
            <a:endParaRPr lang="en-US"/>
          </a:p>
        </p:txBody>
      </p:sp>
      <p:sp>
        <p:nvSpPr>
          <p:cNvPr id="25" name="Text 23"/>
          <p:cNvSpPr/>
          <p:nvPr/>
        </p:nvSpPr>
        <p:spPr>
          <a:xfrm>
            <a:off x="411480" y="1956816"/>
            <a:ext cx="8321040" cy="512064"/>
          </a:xfrm>
          <a:prstGeom prst="rect">
            <a:avLst/>
          </a:prstGeom>
          <a:noFill/>
          <a:ln/>
        </p:spPr>
        <p:txBody>
          <a:bodyPr wrap="square" lIns="0" tIns="0" rIns="0" bIns="0" rtlCol="0" anchor="ctr"/>
          <a:lstStyle/>
          <a:p>
            <a:pPr marL="0" indent="0" algn="ctr">
              <a:buNone/>
            </a:pPr>
            <a:r>
              <a:rPr lang="en-US" sz="1200" b="1" kern="0" spc="150" dirty="0">
                <a:solidFill>
                  <a:srgbClr val="FFFFFF"/>
                </a:solidFill>
                <a:latin typeface="Segoe UI" pitchFamily="34" charset="0"/>
                <a:ea typeface="Segoe UI" pitchFamily="34" charset="-122"/>
                <a:cs typeface="Segoe UI" pitchFamily="34" charset="-120"/>
              </a:rPr>
              <a:t>SHARED ARTIFACT REPOSITORY  ·  COMMON CONTEXT LAYER</a:t>
            </a:r>
            <a:endParaRPr lang="en-US" sz="1200" dirty="0"/>
          </a:p>
        </p:txBody>
      </p:sp>
      <p:sp>
        <p:nvSpPr>
          <p:cNvPr id="26" name="Artifact tile">
            <a:extLst>
              <a:ext uri="{C183D7F6-B498-43B3-948B-1728B52AA6E4}">
                <adec:decorative xmlns:adec="http://schemas.microsoft.com/office/drawing/2017/decorative" val="1"/>
              </a:ext>
            </a:extLst>
          </p:cNvPr>
          <p:cNvSpPr/>
          <p:nvPr/>
        </p:nvSpPr>
        <p:spPr>
          <a:xfrm>
            <a:off x="548640" y="2816352"/>
            <a:ext cx="1572768" cy="512064"/>
          </a:xfrm>
          <a:prstGeom prst="rect">
            <a:avLst/>
          </a:prstGeom>
          <a:solidFill>
            <a:srgbClr val="EAF2FD"/>
          </a:solidFill>
          <a:ln w="12700">
            <a:solidFill>
              <a:srgbClr val="1F6FEB"/>
            </a:solidFill>
            <a:prstDash val="solid"/>
          </a:ln>
        </p:spPr>
        <p:txBody>
          <a:bodyPr/>
          <a:lstStyle/>
          <a:p>
            <a:endParaRPr lang="en-US"/>
          </a:p>
        </p:txBody>
      </p:sp>
      <p:sp>
        <p:nvSpPr>
          <p:cNvPr id="27" name="Text 25"/>
          <p:cNvSpPr/>
          <p:nvPr/>
        </p:nvSpPr>
        <p:spPr>
          <a:xfrm>
            <a:off x="621792" y="2816352"/>
            <a:ext cx="1426464" cy="512064"/>
          </a:xfrm>
          <a:prstGeom prst="rect">
            <a:avLst/>
          </a:prstGeom>
          <a:noFill/>
          <a:ln/>
        </p:spPr>
        <p:txBody>
          <a:bodyPr wrap="square" lIns="0" tIns="0" rIns="0" bIns="0" rtlCol="0" anchor="ctr"/>
          <a:lstStyle/>
          <a:p>
            <a:pPr marL="0" indent="0" algn="ctr">
              <a:buNone/>
            </a:pPr>
            <a:r>
              <a:rPr lang="en-US" sz="900" dirty="0">
                <a:solidFill>
                  <a:srgbClr val="0F2540"/>
                </a:solidFill>
                <a:latin typeface="Segoe UI" pitchFamily="34" charset="0"/>
                <a:ea typeface="Segoe UI" pitchFamily="34" charset="-122"/>
                <a:cs typeface="Segoe UI" pitchFamily="34" charset="-120"/>
              </a:rPr>
              <a:t>Project Analysis Report</a:t>
            </a:r>
            <a:endParaRPr lang="en-US" sz="900" dirty="0"/>
          </a:p>
        </p:txBody>
      </p:sp>
      <p:sp>
        <p:nvSpPr>
          <p:cNvPr id="28" name="Artifact tile">
            <a:extLst>
              <a:ext uri="{C183D7F6-B498-43B3-948B-1728B52AA6E4}">
                <adec:decorative xmlns:adec="http://schemas.microsoft.com/office/drawing/2017/decorative" val="1"/>
              </a:ext>
            </a:extLst>
          </p:cNvPr>
          <p:cNvSpPr/>
          <p:nvPr/>
        </p:nvSpPr>
        <p:spPr>
          <a:xfrm>
            <a:off x="2258568" y="2816352"/>
            <a:ext cx="1572768" cy="512064"/>
          </a:xfrm>
          <a:prstGeom prst="rect">
            <a:avLst/>
          </a:prstGeom>
          <a:solidFill>
            <a:srgbClr val="EAF2FD"/>
          </a:solidFill>
          <a:ln w="12700">
            <a:solidFill>
              <a:srgbClr val="1F6FEB"/>
            </a:solidFill>
            <a:prstDash val="solid"/>
          </a:ln>
        </p:spPr>
        <p:txBody>
          <a:bodyPr/>
          <a:lstStyle/>
          <a:p>
            <a:endParaRPr lang="en-US"/>
          </a:p>
        </p:txBody>
      </p:sp>
      <p:sp>
        <p:nvSpPr>
          <p:cNvPr id="29" name="Text 27"/>
          <p:cNvSpPr/>
          <p:nvPr/>
        </p:nvSpPr>
        <p:spPr>
          <a:xfrm>
            <a:off x="2331720" y="2816352"/>
            <a:ext cx="1426464" cy="512064"/>
          </a:xfrm>
          <a:prstGeom prst="rect">
            <a:avLst/>
          </a:prstGeom>
          <a:noFill/>
          <a:ln/>
        </p:spPr>
        <p:txBody>
          <a:bodyPr wrap="square" lIns="0" tIns="0" rIns="0" bIns="0" rtlCol="0" anchor="ctr"/>
          <a:lstStyle/>
          <a:p>
            <a:pPr marL="0" indent="0" algn="ctr">
              <a:buNone/>
            </a:pPr>
            <a:r>
              <a:rPr lang="en-US" sz="900" dirty="0">
                <a:solidFill>
                  <a:srgbClr val="0F2540"/>
                </a:solidFill>
                <a:latin typeface="Segoe UI" pitchFamily="34" charset="0"/>
                <a:ea typeface="Segoe UI" pitchFamily="34" charset="-122"/>
                <a:cs typeface="Segoe UI" pitchFamily="34" charset="-120"/>
              </a:rPr>
              <a:t>Dependency Inventory</a:t>
            </a:r>
            <a:endParaRPr lang="en-US" sz="900" dirty="0"/>
          </a:p>
        </p:txBody>
      </p:sp>
      <p:sp>
        <p:nvSpPr>
          <p:cNvPr id="30" name="Artifact tile">
            <a:extLst>
              <a:ext uri="{C183D7F6-B498-43B3-948B-1728B52AA6E4}">
                <adec:decorative xmlns:adec="http://schemas.microsoft.com/office/drawing/2017/decorative" val="1"/>
              </a:ext>
            </a:extLst>
          </p:cNvPr>
          <p:cNvSpPr/>
          <p:nvPr/>
        </p:nvSpPr>
        <p:spPr>
          <a:xfrm>
            <a:off x="3968496" y="2816352"/>
            <a:ext cx="1572768" cy="512064"/>
          </a:xfrm>
          <a:prstGeom prst="rect">
            <a:avLst/>
          </a:prstGeom>
          <a:solidFill>
            <a:srgbClr val="EAF2FD"/>
          </a:solidFill>
          <a:ln w="12700">
            <a:solidFill>
              <a:srgbClr val="1F6FEB"/>
            </a:solidFill>
            <a:prstDash val="solid"/>
          </a:ln>
        </p:spPr>
        <p:txBody>
          <a:bodyPr/>
          <a:lstStyle/>
          <a:p>
            <a:endParaRPr lang="en-US"/>
          </a:p>
        </p:txBody>
      </p:sp>
      <p:sp>
        <p:nvSpPr>
          <p:cNvPr id="31" name="Text 29"/>
          <p:cNvSpPr/>
          <p:nvPr/>
        </p:nvSpPr>
        <p:spPr>
          <a:xfrm>
            <a:off x="4041648" y="2816352"/>
            <a:ext cx="1426464" cy="512064"/>
          </a:xfrm>
          <a:prstGeom prst="rect">
            <a:avLst/>
          </a:prstGeom>
          <a:noFill/>
          <a:ln/>
        </p:spPr>
        <p:txBody>
          <a:bodyPr wrap="square" lIns="0" tIns="0" rIns="0" bIns="0" rtlCol="0" anchor="ctr"/>
          <a:lstStyle/>
          <a:p>
            <a:pPr marL="0" indent="0" algn="ctr">
              <a:buNone/>
            </a:pPr>
            <a:r>
              <a:rPr lang="en-US" sz="900" dirty="0">
                <a:solidFill>
                  <a:srgbClr val="0F2540"/>
                </a:solidFill>
                <a:latin typeface="Segoe UI" pitchFamily="34" charset="0"/>
                <a:ea typeface="Segoe UI" pitchFamily="34" charset="-122"/>
                <a:cs typeface="Segoe UI" pitchFamily="34" charset="-120"/>
              </a:rPr>
              <a:t>Security Assessment Report</a:t>
            </a:r>
            <a:endParaRPr lang="en-US" sz="900" dirty="0"/>
          </a:p>
        </p:txBody>
      </p:sp>
      <p:sp>
        <p:nvSpPr>
          <p:cNvPr id="32" name="Artifact tile">
            <a:extLst>
              <a:ext uri="{C183D7F6-B498-43B3-948B-1728B52AA6E4}">
                <adec:decorative xmlns:adec="http://schemas.microsoft.com/office/drawing/2017/decorative" val="1"/>
              </a:ext>
            </a:extLst>
          </p:cNvPr>
          <p:cNvSpPr/>
          <p:nvPr/>
        </p:nvSpPr>
        <p:spPr>
          <a:xfrm>
            <a:off x="5678424" y="2816352"/>
            <a:ext cx="1572768" cy="512064"/>
          </a:xfrm>
          <a:prstGeom prst="rect">
            <a:avLst/>
          </a:prstGeom>
          <a:solidFill>
            <a:srgbClr val="EAF2FD"/>
          </a:solidFill>
          <a:ln w="12700">
            <a:solidFill>
              <a:srgbClr val="1F6FEB"/>
            </a:solidFill>
            <a:prstDash val="solid"/>
          </a:ln>
        </p:spPr>
        <p:txBody>
          <a:bodyPr/>
          <a:lstStyle/>
          <a:p>
            <a:endParaRPr lang="en-US"/>
          </a:p>
        </p:txBody>
      </p:sp>
      <p:sp>
        <p:nvSpPr>
          <p:cNvPr id="33" name="Text 31"/>
          <p:cNvSpPr/>
          <p:nvPr/>
        </p:nvSpPr>
        <p:spPr>
          <a:xfrm>
            <a:off x="5751576" y="2816352"/>
            <a:ext cx="1426464" cy="512064"/>
          </a:xfrm>
          <a:prstGeom prst="rect">
            <a:avLst/>
          </a:prstGeom>
          <a:noFill/>
          <a:ln/>
        </p:spPr>
        <p:txBody>
          <a:bodyPr wrap="square" lIns="0" tIns="0" rIns="0" bIns="0" rtlCol="0" anchor="ctr"/>
          <a:lstStyle/>
          <a:p>
            <a:pPr marL="0" indent="0" algn="ctr">
              <a:buNone/>
            </a:pPr>
            <a:r>
              <a:rPr lang="en-US" sz="900" dirty="0">
                <a:solidFill>
                  <a:srgbClr val="0F2540"/>
                </a:solidFill>
                <a:latin typeface="Segoe UI" pitchFamily="34" charset="0"/>
                <a:ea typeface="Segoe UI" pitchFamily="34" charset="-122"/>
                <a:cs typeface="Segoe UI" pitchFamily="34" charset="-120"/>
              </a:rPr>
              <a:t>Baseline Test Strategy</a:t>
            </a:r>
            <a:endParaRPr lang="en-US" sz="900" dirty="0"/>
          </a:p>
        </p:txBody>
      </p:sp>
      <p:sp>
        <p:nvSpPr>
          <p:cNvPr id="34" name="Artifact tile">
            <a:extLst>
              <a:ext uri="{C183D7F6-B498-43B3-948B-1728B52AA6E4}">
                <adec:decorative xmlns:adec="http://schemas.microsoft.com/office/drawing/2017/decorative" val="1"/>
              </a:ext>
            </a:extLst>
          </p:cNvPr>
          <p:cNvSpPr/>
          <p:nvPr/>
        </p:nvSpPr>
        <p:spPr>
          <a:xfrm>
            <a:off x="7388352" y="2816352"/>
            <a:ext cx="1572768" cy="512064"/>
          </a:xfrm>
          <a:prstGeom prst="rect">
            <a:avLst/>
          </a:prstGeom>
          <a:solidFill>
            <a:srgbClr val="EAF2FD"/>
          </a:solidFill>
          <a:ln w="12700">
            <a:solidFill>
              <a:srgbClr val="1F6FEB"/>
            </a:solidFill>
            <a:prstDash val="solid"/>
          </a:ln>
        </p:spPr>
        <p:txBody>
          <a:bodyPr/>
          <a:lstStyle/>
          <a:p>
            <a:endParaRPr lang="en-US"/>
          </a:p>
        </p:txBody>
      </p:sp>
      <p:sp>
        <p:nvSpPr>
          <p:cNvPr id="35" name="Text 33"/>
          <p:cNvSpPr/>
          <p:nvPr/>
        </p:nvSpPr>
        <p:spPr>
          <a:xfrm>
            <a:off x="7461504" y="2816352"/>
            <a:ext cx="1426464" cy="512064"/>
          </a:xfrm>
          <a:prstGeom prst="rect">
            <a:avLst/>
          </a:prstGeom>
          <a:noFill/>
          <a:ln/>
        </p:spPr>
        <p:txBody>
          <a:bodyPr wrap="square" lIns="0" tIns="0" rIns="0" bIns="0" rtlCol="0" anchor="ctr"/>
          <a:lstStyle/>
          <a:p>
            <a:pPr marL="0" indent="0" algn="ctr">
              <a:buNone/>
            </a:pPr>
            <a:r>
              <a:rPr lang="en-US" sz="900" dirty="0">
                <a:solidFill>
                  <a:srgbClr val="0F2540"/>
                </a:solidFill>
                <a:latin typeface="Segoe UI" pitchFamily="34" charset="0"/>
                <a:ea typeface="Segoe UI" pitchFamily="34" charset="-122"/>
                <a:cs typeface="Segoe UI" pitchFamily="34" charset="-120"/>
              </a:rPr>
              <a:t>Baseline Test Results</a:t>
            </a:r>
            <a:endParaRPr lang="en-US" sz="900" dirty="0"/>
          </a:p>
        </p:txBody>
      </p:sp>
      <p:sp>
        <p:nvSpPr>
          <p:cNvPr id="36" name="Artifact tile">
            <a:extLst>
              <a:ext uri="{C183D7F6-B498-43B3-948B-1728B52AA6E4}">
                <adec:decorative xmlns:adec="http://schemas.microsoft.com/office/drawing/2017/decorative" val="1"/>
              </a:ext>
            </a:extLst>
          </p:cNvPr>
          <p:cNvSpPr/>
          <p:nvPr/>
        </p:nvSpPr>
        <p:spPr>
          <a:xfrm>
            <a:off x="548640" y="3474720"/>
            <a:ext cx="1572768" cy="512064"/>
          </a:xfrm>
          <a:prstGeom prst="rect">
            <a:avLst/>
          </a:prstGeom>
          <a:solidFill>
            <a:srgbClr val="EAF2FD"/>
          </a:solidFill>
          <a:ln w="12700">
            <a:solidFill>
              <a:srgbClr val="1F6FEB"/>
            </a:solidFill>
            <a:prstDash val="solid"/>
          </a:ln>
        </p:spPr>
        <p:txBody>
          <a:bodyPr/>
          <a:lstStyle/>
          <a:p>
            <a:endParaRPr lang="en-US"/>
          </a:p>
        </p:txBody>
      </p:sp>
      <p:sp>
        <p:nvSpPr>
          <p:cNvPr id="37" name="Text 35"/>
          <p:cNvSpPr/>
          <p:nvPr/>
        </p:nvSpPr>
        <p:spPr>
          <a:xfrm>
            <a:off x="621792" y="3474720"/>
            <a:ext cx="1426464" cy="512064"/>
          </a:xfrm>
          <a:prstGeom prst="rect">
            <a:avLst/>
          </a:prstGeom>
          <a:noFill/>
          <a:ln/>
        </p:spPr>
        <p:txBody>
          <a:bodyPr wrap="square" lIns="0" tIns="0" rIns="0" bIns="0" rtlCol="0" anchor="ctr"/>
          <a:lstStyle/>
          <a:p>
            <a:pPr marL="0" indent="0" algn="ctr">
              <a:buNone/>
            </a:pPr>
            <a:r>
              <a:rPr lang="en-US" sz="900" dirty="0">
                <a:solidFill>
                  <a:srgbClr val="0F2540"/>
                </a:solidFill>
                <a:latin typeface="Segoe UI" pitchFamily="34" charset="0"/>
                <a:ea typeface="Segoe UI" pitchFamily="34" charset="-122"/>
                <a:cs typeface="Segoe UI" pitchFamily="34" charset="-120"/>
              </a:rPr>
              <a:t>Migration Plan</a:t>
            </a:r>
            <a:endParaRPr lang="en-US" sz="900" dirty="0"/>
          </a:p>
        </p:txBody>
      </p:sp>
      <p:sp>
        <p:nvSpPr>
          <p:cNvPr id="38" name="Artifact tile">
            <a:extLst>
              <a:ext uri="{C183D7F6-B498-43B3-948B-1728B52AA6E4}">
                <adec:decorative xmlns:adec="http://schemas.microsoft.com/office/drawing/2017/decorative" val="1"/>
              </a:ext>
            </a:extLst>
          </p:cNvPr>
          <p:cNvSpPr/>
          <p:nvPr/>
        </p:nvSpPr>
        <p:spPr>
          <a:xfrm>
            <a:off x="2258568" y="3474720"/>
            <a:ext cx="1572768" cy="512064"/>
          </a:xfrm>
          <a:prstGeom prst="rect">
            <a:avLst/>
          </a:prstGeom>
          <a:solidFill>
            <a:srgbClr val="EAF2FD"/>
          </a:solidFill>
          <a:ln w="12700">
            <a:solidFill>
              <a:srgbClr val="1F6FEB"/>
            </a:solidFill>
            <a:prstDash val="solid"/>
          </a:ln>
        </p:spPr>
        <p:txBody>
          <a:bodyPr/>
          <a:lstStyle/>
          <a:p>
            <a:endParaRPr lang="en-US"/>
          </a:p>
        </p:txBody>
      </p:sp>
      <p:sp>
        <p:nvSpPr>
          <p:cNvPr id="39" name="Text 37"/>
          <p:cNvSpPr/>
          <p:nvPr/>
        </p:nvSpPr>
        <p:spPr>
          <a:xfrm>
            <a:off x="2331720" y="3474720"/>
            <a:ext cx="1426464" cy="512064"/>
          </a:xfrm>
          <a:prstGeom prst="rect">
            <a:avLst/>
          </a:prstGeom>
          <a:noFill/>
          <a:ln/>
        </p:spPr>
        <p:txBody>
          <a:bodyPr wrap="square" lIns="0" tIns="0" rIns="0" bIns="0" rtlCol="0" anchor="ctr"/>
          <a:lstStyle/>
          <a:p>
            <a:pPr marL="0" indent="0" algn="ctr">
              <a:buNone/>
            </a:pPr>
            <a:r>
              <a:rPr lang="en-US" sz="900" dirty="0">
                <a:solidFill>
                  <a:srgbClr val="0F2540"/>
                </a:solidFill>
                <a:latin typeface="Segoe UI" pitchFamily="34" charset="0"/>
                <a:ea typeface="Segoe UI" pitchFamily="34" charset="-122"/>
                <a:cs typeface="Segoe UI" pitchFamily="34" charset="-120"/>
              </a:rPr>
              <a:t>Migration Change Log</a:t>
            </a:r>
            <a:endParaRPr lang="en-US" sz="900" dirty="0"/>
          </a:p>
        </p:txBody>
      </p:sp>
      <p:sp>
        <p:nvSpPr>
          <p:cNvPr id="40" name="Artifact tile">
            <a:extLst>
              <a:ext uri="{C183D7F6-B498-43B3-948B-1728B52AA6E4}">
                <adec:decorative xmlns:adec="http://schemas.microsoft.com/office/drawing/2017/decorative" val="1"/>
              </a:ext>
            </a:extLst>
          </p:cNvPr>
          <p:cNvSpPr/>
          <p:nvPr/>
        </p:nvSpPr>
        <p:spPr>
          <a:xfrm>
            <a:off x="3968496" y="3474720"/>
            <a:ext cx="1572768" cy="512064"/>
          </a:xfrm>
          <a:prstGeom prst="rect">
            <a:avLst/>
          </a:prstGeom>
          <a:solidFill>
            <a:srgbClr val="EAF2FD"/>
          </a:solidFill>
          <a:ln w="12700">
            <a:solidFill>
              <a:srgbClr val="1F6FEB"/>
            </a:solidFill>
            <a:prstDash val="solid"/>
          </a:ln>
        </p:spPr>
        <p:txBody>
          <a:bodyPr/>
          <a:lstStyle/>
          <a:p>
            <a:endParaRPr lang="en-US"/>
          </a:p>
        </p:txBody>
      </p:sp>
      <p:sp>
        <p:nvSpPr>
          <p:cNvPr id="41" name="Text 39"/>
          <p:cNvSpPr/>
          <p:nvPr/>
        </p:nvSpPr>
        <p:spPr>
          <a:xfrm>
            <a:off x="4041648" y="3474720"/>
            <a:ext cx="1426464" cy="512064"/>
          </a:xfrm>
          <a:prstGeom prst="rect">
            <a:avLst/>
          </a:prstGeom>
          <a:noFill/>
          <a:ln/>
        </p:spPr>
        <p:txBody>
          <a:bodyPr wrap="square" lIns="0" tIns="0" rIns="0" bIns="0" rtlCol="0" anchor="ctr"/>
          <a:lstStyle/>
          <a:p>
            <a:pPr marL="0" indent="0" algn="ctr">
              <a:buNone/>
            </a:pPr>
            <a:r>
              <a:rPr lang="en-US" sz="900" dirty="0">
                <a:solidFill>
                  <a:srgbClr val="0F2540"/>
                </a:solidFill>
                <a:latin typeface="Segoe UI" pitchFamily="34" charset="0"/>
                <a:ea typeface="Segoe UI" pitchFamily="34" charset="-122"/>
                <a:cs typeface="Segoe UI" pitchFamily="34" charset="-120"/>
              </a:rPr>
              <a:t>Build &amp; Compilation Results</a:t>
            </a:r>
            <a:endParaRPr lang="en-US" sz="900" dirty="0"/>
          </a:p>
        </p:txBody>
      </p:sp>
      <p:sp>
        <p:nvSpPr>
          <p:cNvPr id="42" name="Artifact tile">
            <a:extLst>
              <a:ext uri="{C183D7F6-B498-43B3-948B-1728B52AA6E4}">
                <adec:decorative xmlns:adec="http://schemas.microsoft.com/office/drawing/2017/decorative" val="1"/>
              </a:ext>
            </a:extLst>
          </p:cNvPr>
          <p:cNvSpPr/>
          <p:nvPr/>
        </p:nvSpPr>
        <p:spPr>
          <a:xfrm>
            <a:off x="5678424" y="3474720"/>
            <a:ext cx="1572768" cy="512064"/>
          </a:xfrm>
          <a:prstGeom prst="rect">
            <a:avLst/>
          </a:prstGeom>
          <a:solidFill>
            <a:srgbClr val="EAF2FD"/>
          </a:solidFill>
          <a:ln w="12700">
            <a:solidFill>
              <a:srgbClr val="1F6FEB"/>
            </a:solidFill>
            <a:prstDash val="solid"/>
          </a:ln>
        </p:spPr>
        <p:txBody>
          <a:bodyPr/>
          <a:lstStyle/>
          <a:p>
            <a:endParaRPr lang="en-US"/>
          </a:p>
        </p:txBody>
      </p:sp>
      <p:sp>
        <p:nvSpPr>
          <p:cNvPr id="43" name="Text 41"/>
          <p:cNvSpPr/>
          <p:nvPr/>
        </p:nvSpPr>
        <p:spPr>
          <a:xfrm>
            <a:off x="5751576" y="3474720"/>
            <a:ext cx="1426464" cy="512064"/>
          </a:xfrm>
          <a:prstGeom prst="rect">
            <a:avLst/>
          </a:prstGeom>
          <a:noFill/>
          <a:ln/>
        </p:spPr>
        <p:txBody>
          <a:bodyPr wrap="square" lIns="0" tIns="0" rIns="0" bIns="0" rtlCol="0" anchor="ctr"/>
          <a:lstStyle/>
          <a:p>
            <a:pPr marL="0" indent="0" algn="ctr">
              <a:buNone/>
            </a:pPr>
            <a:r>
              <a:rPr lang="en-US" sz="900" dirty="0">
                <a:solidFill>
                  <a:srgbClr val="0F2540"/>
                </a:solidFill>
                <a:latin typeface="Segoe UI" pitchFamily="34" charset="0"/>
                <a:ea typeface="Segoe UI" pitchFamily="34" charset="-122"/>
                <a:cs typeface="Segoe UI" pitchFamily="34" charset="-120"/>
              </a:rPr>
              <a:t>Post-Migration Test Results</a:t>
            </a:r>
            <a:endParaRPr lang="en-US" sz="900" dirty="0"/>
          </a:p>
        </p:txBody>
      </p:sp>
      <p:sp>
        <p:nvSpPr>
          <p:cNvPr id="44" name="Artifact tile">
            <a:extLst>
              <a:ext uri="{C183D7F6-B498-43B3-948B-1728B52AA6E4}">
                <adec:decorative xmlns:adec="http://schemas.microsoft.com/office/drawing/2017/decorative" val="1"/>
              </a:ext>
            </a:extLst>
          </p:cNvPr>
          <p:cNvSpPr/>
          <p:nvPr/>
        </p:nvSpPr>
        <p:spPr>
          <a:xfrm>
            <a:off x="7388352" y="3474720"/>
            <a:ext cx="1572768" cy="512064"/>
          </a:xfrm>
          <a:prstGeom prst="rect">
            <a:avLst/>
          </a:prstGeom>
          <a:solidFill>
            <a:srgbClr val="EAF2FD"/>
          </a:solidFill>
          <a:ln w="12700">
            <a:solidFill>
              <a:srgbClr val="1F6FEB"/>
            </a:solidFill>
            <a:prstDash val="solid"/>
          </a:ln>
        </p:spPr>
        <p:txBody>
          <a:bodyPr/>
          <a:lstStyle/>
          <a:p>
            <a:endParaRPr lang="en-US"/>
          </a:p>
        </p:txBody>
      </p:sp>
      <p:sp>
        <p:nvSpPr>
          <p:cNvPr id="45" name="Text 43"/>
          <p:cNvSpPr/>
          <p:nvPr/>
        </p:nvSpPr>
        <p:spPr>
          <a:xfrm>
            <a:off x="7461504" y="3474720"/>
            <a:ext cx="1426464" cy="512064"/>
          </a:xfrm>
          <a:prstGeom prst="rect">
            <a:avLst/>
          </a:prstGeom>
          <a:noFill/>
          <a:ln/>
        </p:spPr>
        <p:txBody>
          <a:bodyPr wrap="square" lIns="0" tIns="0" rIns="0" bIns="0" rtlCol="0" anchor="ctr"/>
          <a:lstStyle/>
          <a:p>
            <a:pPr marL="0" indent="0" algn="ctr">
              <a:buNone/>
            </a:pPr>
            <a:r>
              <a:rPr lang="en-US" sz="900" dirty="0">
                <a:solidFill>
                  <a:srgbClr val="0F2540"/>
                </a:solidFill>
                <a:latin typeface="Segoe UI" pitchFamily="34" charset="0"/>
                <a:ea typeface="Segoe UI" pitchFamily="34" charset="-122"/>
                <a:cs typeface="Segoe UI" pitchFamily="34" charset="-120"/>
              </a:rPr>
              <a:t>Final Validation Report</a:t>
            </a:r>
            <a:endParaRPr lang="en-US" sz="900" dirty="0"/>
          </a:p>
        </p:txBody>
      </p:sp>
      <p:sp>
        <p:nvSpPr>
          <p:cNvPr id="46" name="Repository to artifacts connector">
            <a:extLst>
              <a:ext uri="{C183D7F6-B498-43B3-948B-1728B52AA6E4}">
                <adec:decorative xmlns:adec="http://schemas.microsoft.com/office/drawing/2017/decorative" val="1"/>
              </a:ext>
            </a:extLst>
          </p:cNvPr>
          <p:cNvSpPr/>
          <p:nvPr/>
        </p:nvSpPr>
        <p:spPr>
          <a:xfrm>
            <a:off x="1335024" y="2468880"/>
            <a:ext cx="0" cy="347472"/>
          </a:xfrm>
          <a:prstGeom prst="line">
            <a:avLst/>
          </a:prstGeom>
          <a:noFill/>
          <a:ln w="15875">
            <a:solidFill>
              <a:srgbClr val="44546A"/>
            </a:solidFill>
            <a:prstDash val="solid"/>
            <a:tailEnd type="triangle"/>
          </a:ln>
        </p:spPr>
        <p:txBody>
          <a:bodyPr/>
          <a:lstStyle/>
          <a:p>
            <a:endParaRPr lang="en-US"/>
          </a:p>
        </p:txBody>
      </p:sp>
      <p:sp>
        <p:nvSpPr>
          <p:cNvPr id="47" name="Repository to artifacts connector">
            <a:extLst>
              <a:ext uri="{C183D7F6-B498-43B3-948B-1728B52AA6E4}">
                <adec:decorative xmlns:adec="http://schemas.microsoft.com/office/drawing/2017/decorative" val="1"/>
              </a:ext>
            </a:extLst>
          </p:cNvPr>
          <p:cNvSpPr/>
          <p:nvPr/>
        </p:nvSpPr>
        <p:spPr>
          <a:xfrm>
            <a:off x="3044952" y="2468880"/>
            <a:ext cx="0" cy="347472"/>
          </a:xfrm>
          <a:prstGeom prst="line">
            <a:avLst/>
          </a:prstGeom>
          <a:noFill/>
          <a:ln w="15875">
            <a:solidFill>
              <a:srgbClr val="44546A"/>
            </a:solidFill>
            <a:prstDash val="solid"/>
            <a:tailEnd type="triangle"/>
          </a:ln>
        </p:spPr>
        <p:txBody>
          <a:bodyPr/>
          <a:lstStyle/>
          <a:p>
            <a:endParaRPr lang="en-US"/>
          </a:p>
        </p:txBody>
      </p:sp>
      <p:sp>
        <p:nvSpPr>
          <p:cNvPr id="48" name="Repository to artifacts connector">
            <a:extLst>
              <a:ext uri="{C183D7F6-B498-43B3-948B-1728B52AA6E4}">
                <adec:decorative xmlns:adec="http://schemas.microsoft.com/office/drawing/2017/decorative" val="1"/>
              </a:ext>
            </a:extLst>
          </p:cNvPr>
          <p:cNvSpPr/>
          <p:nvPr/>
        </p:nvSpPr>
        <p:spPr>
          <a:xfrm>
            <a:off x="4754880" y="2468880"/>
            <a:ext cx="0" cy="347472"/>
          </a:xfrm>
          <a:prstGeom prst="line">
            <a:avLst/>
          </a:prstGeom>
          <a:noFill/>
          <a:ln w="15875">
            <a:solidFill>
              <a:srgbClr val="44546A"/>
            </a:solidFill>
            <a:prstDash val="solid"/>
            <a:tailEnd type="triangle"/>
          </a:ln>
        </p:spPr>
        <p:txBody>
          <a:bodyPr/>
          <a:lstStyle/>
          <a:p>
            <a:endParaRPr lang="en-US"/>
          </a:p>
        </p:txBody>
      </p:sp>
      <p:sp>
        <p:nvSpPr>
          <p:cNvPr id="49" name="Repository to artifacts connector">
            <a:extLst>
              <a:ext uri="{C183D7F6-B498-43B3-948B-1728B52AA6E4}">
                <adec:decorative xmlns:adec="http://schemas.microsoft.com/office/drawing/2017/decorative" val="1"/>
              </a:ext>
            </a:extLst>
          </p:cNvPr>
          <p:cNvSpPr/>
          <p:nvPr/>
        </p:nvSpPr>
        <p:spPr>
          <a:xfrm>
            <a:off x="6464808" y="2468880"/>
            <a:ext cx="0" cy="347472"/>
          </a:xfrm>
          <a:prstGeom prst="line">
            <a:avLst/>
          </a:prstGeom>
          <a:noFill/>
          <a:ln w="15875">
            <a:solidFill>
              <a:srgbClr val="44546A"/>
            </a:solidFill>
            <a:prstDash val="solid"/>
            <a:tailEnd type="triangle"/>
          </a:ln>
        </p:spPr>
        <p:txBody>
          <a:bodyPr/>
          <a:lstStyle/>
          <a:p>
            <a:endParaRPr lang="en-US"/>
          </a:p>
        </p:txBody>
      </p:sp>
      <p:sp>
        <p:nvSpPr>
          <p:cNvPr id="50" name="Repository to artifacts connector">
            <a:extLst>
              <a:ext uri="{C183D7F6-B498-43B3-948B-1728B52AA6E4}">
                <adec:decorative xmlns:adec="http://schemas.microsoft.com/office/drawing/2017/decorative" val="1"/>
              </a:ext>
            </a:extLst>
          </p:cNvPr>
          <p:cNvSpPr/>
          <p:nvPr/>
        </p:nvSpPr>
        <p:spPr>
          <a:xfrm>
            <a:off x="8174736" y="2468880"/>
            <a:ext cx="0" cy="347472"/>
          </a:xfrm>
          <a:prstGeom prst="line">
            <a:avLst/>
          </a:prstGeom>
          <a:noFill/>
          <a:ln w="15875">
            <a:solidFill>
              <a:srgbClr val="44546A"/>
            </a:solidFill>
            <a:prstDash val="solid"/>
            <a:tailEnd type="triangle"/>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F6FEB"/>
          </a:solidFill>
          <a:ln w="12700">
            <a:solidFill>
              <a:srgbClr val="1F6FEB"/>
            </a:solidFill>
            <a:prstDash val="solid"/>
          </a:ln>
        </p:spPr>
        <p:txBody>
          <a:bodyPr/>
          <a:lstStyle/>
          <a:p>
            <a:endParaRPr lang="en-US"/>
          </a:p>
        </p:txBody>
      </p:sp>
      <p:sp>
        <p:nvSpPr>
          <p:cNvPr id="3" name="Text 1"/>
          <p:cNvSpPr/>
          <p:nvPr/>
        </p:nvSpPr>
        <p:spPr>
          <a:xfrm>
            <a:off x="411480" y="237744"/>
            <a:ext cx="548640" cy="411480"/>
          </a:xfrm>
          <a:prstGeom prst="rect">
            <a:avLst/>
          </a:prstGeom>
          <a:noFill/>
          <a:ln/>
        </p:spPr>
        <p:txBody>
          <a:bodyPr wrap="square" lIns="0" tIns="0" rIns="0" bIns="0" rtlCol="0" anchor="ctr"/>
          <a:lstStyle/>
          <a:p>
            <a:pPr marL="0" indent="0">
              <a:buNone/>
            </a:pPr>
            <a:r>
              <a:rPr lang="en-US" sz="2000" b="1" dirty="0">
                <a:solidFill>
                  <a:srgbClr val="9DC2F5"/>
                </a:solidFill>
                <a:latin typeface="Segoe UI" pitchFamily="34" charset="0"/>
                <a:ea typeface="Segoe UI" pitchFamily="34" charset="-122"/>
                <a:cs typeface="Segoe UI" pitchFamily="34" charset="-120"/>
              </a:rPr>
              <a:t>09</a:t>
            </a:r>
            <a:endParaRPr lang="en-US" sz="2000" dirty="0"/>
          </a:p>
        </p:txBody>
      </p:sp>
      <p:sp>
        <p:nvSpPr>
          <p:cNvPr id="4" name="Text 2"/>
          <p:cNvSpPr/>
          <p:nvPr/>
        </p:nvSpPr>
        <p:spPr>
          <a:xfrm>
            <a:off x="960120" y="219456"/>
            <a:ext cx="5669280" cy="457200"/>
          </a:xfrm>
          <a:prstGeom prst="rect">
            <a:avLst/>
          </a:prstGeom>
          <a:noFill/>
          <a:ln/>
        </p:spPr>
        <p:txBody>
          <a:bodyPr wrap="square" lIns="0" tIns="0" rIns="0" bIns="0" rtlCol="0" anchor="ctr"/>
          <a:lstStyle/>
          <a:p>
            <a:pPr marL="0" indent="0">
              <a:buNone/>
            </a:pPr>
            <a:r>
              <a:rPr lang="en-US" sz="2400" b="1" dirty="0">
                <a:solidFill>
                  <a:srgbClr val="0F2540"/>
                </a:solidFill>
                <a:latin typeface="Segoe UI" pitchFamily="34" charset="0"/>
                <a:ea typeface="Segoe UI" pitchFamily="34" charset="-122"/>
                <a:cs typeface="Segoe UI" pitchFamily="34" charset="-120"/>
              </a:rPr>
              <a:t>Plug-and-Play Agent Architecture</a:t>
            </a:r>
            <a:endParaRPr lang="en-US" sz="2400" dirty="0"/>
          </a:p>
        </p:txBody>
      </p:sp>
      <p:sp>
        <p:nvSpPr>
          <p:cNvPr id="5" name="State label chip">
            <a:extLst>
              <a:ext uri="{C183D7F6-B498-43B3-948B-1728B52AA6E4}">
                <adec:decorative xmlns:adec="http://schemas.microsoft.com/office/drawing/2017/decorative" val="1"/>
              </a:ext>
            </a:extLst>
          </p:cNvPr>
          <p:cNvSpPr/>
          <p:nvPr/>
        </p:nvSpPr>
        <p:spPr>
          <a:xfrm>
            <a:off x="6812280" y="274320"/>
            <a:ext cx="1920240" cy="347472"/>
          </a:xfrm>
          <a:prstGeom prst="rect">
            <a:avLst/>
          </a:prstGeom>
          <a:solidFill>
            <a:srgbClr val="F3F6FA"/>
          </a:solidFill>
          <a:ln w="12700">
            <a:solidFill>
              <a:srgbClr val="44546A"/>
            </a:solidFill>
            <a:prstDash val="solid"/>
          </a:ln>
        </p:spPr>
        <p:txBody>
          <a:bodyPr/>
          <a:lstStyle/>
          <a:p>
            <a:endParaRPr lang="en-US"/>
          </a:p>
        </p:txBody>
      </p:sp>
      <p:sp>
        <p:nvSpPr>
          <p:cNvPr id="6" name="Text 4"/>
          <p:cNvSpPr/>
          <p:nvPr/>
        </p:nvSpPr>
        <p:spPr>
          <a:xfrm>
            <a:off x="6812280" y="274320"/>
            <a:ext cx="1920240" cy="347472"/>
          </a:xfrm>
          <a:prstGeom prst="rect">
            <a:avLst/>
          </a:prstGeom>
          <a:noFill/>
          <a:ln/>
        </p:spPr>
        <p:txBody>
          <a:bodyPr wrap="square" lIns="0" tIns="0" rIns="0" bIns="0" rtlCol="0" anchor="ctr"/>
          <a:lstStyle/>
          <a:p>
            <a:pPr marL="0" indent="0" algn="ctr">
              <a:buNone/>
            </a:pPr>
            <a:r>
              <a:rPr lang="en-US" sz="1000" b="1" kern="0" spc="150" dirty="0">
                <a:solidFill>
                  <a:srgbClr val="44546A"/>
                </a:solidFill>
                <a:latin typeface="Segoe UI" pitchFamily="34" charset="0"/>
                <a:ea typeface="Segoe UI" pitchFamily="34" charset="-122"/>
                <a:cs typeface="Segoe UI" pitchFamily="34" charset="-120"/>
              </a:rPr>
              <a:t>FUTURE VISION</a:t>
            </a:r>
            <a:endParaRPr lang="en-US" sz="1000" dirty="0"/>
          </a:p>
        </p:txBody>
      </p:sp>
      <p:sp>
        <p:nvSpPr>
          <p:cNvPr id="7" name="Header rule">
            <a:extLst>
              <a:ext uri="{C183D7F6-B498-43B3-948B-1728B52AA6E4}">
                <adec:decorative xmlns:adec="http://schemas.microsoft.com/office/drawing/2017/decorative" val="1"/>
              </a:ext>
            </a:extLst>
          </p:cNvPr>
          <p:cNvSpPr/>
          <p:nvPr/>
        </p:nvSpPr>
        <p:spPr>
          <a:xfrm>
            <a:off x="411480" y="768096"/>
            <a:ext cx="8321040" cy="0"/>
          </a:xfrm>
          <a:prstGeom prst="line">
            <a:avLst/>
          </a:prstGeom>
          <a:noFill/>
          <a:ln w="12700">
            <a:solidFill>
              <a:srgbClr val="D6E2F2"/>
            </a:solidFill>
            <a:prstDash val="solid"/>
          </a:ln>
        </p:spPr>
        <p:txBody>
          <a:bodyPr/>
          <a:lstStyle/>
          <a:p>
            <a:endParaRPr lang="en-US"/>
          </a:p>
        </p:txBody>
      </p:sp>
      <p:sp>
        <p:nvSpPr>
          <p:cNvPr id="8" name="Text 6"/>
          <p:cNvSpPr/>
          <p:nvPr/>
        </p:nvSpPr>
        <p:spPr>
          <a:xfrm>
            <a:off x="411480" y="877824"/>
            <a:ext cx="8321040" cy="274320"/>
          </a:xfrm>
          <a:prstGeom prst="rect">
            <a:avLst/>
          </a:prstGeom>
          <a:noFill/>
          <a:ln/>
        </p:spPr>
        <p:txBody>
          <a:bodyPr wrap="square" lIns="0" tIns="0" rIns="0" bIns="0" rtlCol="0" anchor="ctr"/>
          <a:lstStyle/>
          <a:p>
            <a:pPr marL="0" indent="0">
              <a:buNone/>
            </a:pPr>
            <a:r>
              <a:rPr lang="en-US" sz="1150" dirty="0">
                <a:solidFill>
                  <a:srgbClr val="44546A"/>
                </a:solidFill>
                <a:latin typeface="Segoe UI" pitchFamily="34" charset="0"/>
                <a:ea typeface="Segoe UI" pitchFamily="34" charset="-122"/>
                <a:cs typeface="Segoe UI" pitchFamily="34" charset="-120"/>
              </a:rPr>
              <a:t>New analysis agents can be added to the workflow without redesigning the platform.</a:t>
            </a:r>
            <a:endParaRPr lang="en-US" sz="1150" dirty="0"/>
          </a:p>
        </p:txBody>
      </p:sp>
      <p:sp>
        <p:nvSpPr>
          <p:cNvPr id="9" name="Core platform block">
            <a:extLst>
              <a:ext uri="{C183D7F6-B498-43B3-948B-1728B52AA6E4}">
                <adec:decorative xmlns:adec="http://schemas.microsoft.com/office/drawing/2017/decorative" val="1"/>
              </a:ext>
            </a:extLst>
          </p:cNvPr>
          <p:cNvSpPr/>
          <p:nvPr/>
        </p:nvSpPr>
        <p:spPr>
          <a:xfrm>
            <a:off x="411480" y="1280160"/>
            <a:ext cx="2148840" cy="2926080"/>
          </a:xfrm>
          <a:prstGeom prst="rect">
            <a:avLst/>
          </a:prstGeom>
          <a:solidFill>
            <a:srgbClr val="0F2540"/>
          </a:solidFill>
          <a:ln w="12700">
            <a:solidFill>
              <a:srgbClr val="0F2540"/>
            </a:solidFill>
            <a:prstDash val="solid"/>
          </a:ln>
        </p:spPr>
        <p:txBody>
          <a:bodyPr/>
          <a:lstStyle/>
          <a:p>
            <a:endParaRPr lang="en-US"/>
          </a:p>
        </p:txBody>
      </p:sp>
      <p:sp>
        <p:nvSpPr>
          <p:cNvPr id="10" name="Text 8"/>
          <p:cNvSpPr/>
          <p:nvPr/>
        </p:nvSpPr>
        <p:spPr>
          <a:xfrm>
            <a:off x="548640" y="1463040"/>
            <a:ext cx="1874520" cy="548640"/>
          </a:xfrm>
          <a:prstGeom prst="rect">
            <a:avLst/>
          </a:prstGeom>
          <a:noFill/>
          <a:ln/>
        </p:spPr>
        <p:txBody>
          <a:bodyPr wrap="square" lIns="0" tIns="0" rIns="0" bIns="0" rtlCol="0" anchor="ctr"/>
          <a:lstStyle/>
          <a:p>
            <a:pPr marL="0" indent="0" algn="ctr">
              <a:lnSpc>
                <a:spcPct val="110000"/>
              </a:lnSpc>
              <a:buNone/>
            </a:pPr>
            <a:r>
              <a:rPr lang="en-US" sz="1150" b="1" dirty="0">
                <a:solidFill>
                  <a:srgbClr val="FFFFFF"/>
                </a:solidFill>
                <a:latin typeface="Segoe UI" pitchFamily="34" charset="0"/>
                <a:ea typeface="Segoe UI" pitchFamily="34" charset="-122"/>
                <a:cs typeface="Segoe UI" pitchFamily="34" charset="-120"/>
              </a:rPr>
              <a:t>MODERNIZATION</a:t>
            </a:r>
            <a:endParaRPr lang="en-US" sz="1150" dirty="0"/>
          </a:p>
          <a:p>
            <a:pPr marL="0" indent="0" algn="ctr">
              <a:lnSpc>
                <a:spcPct val="110000"/>
              </a:lnSpc>
              <a:buNone/>
            </a:pPr>
            <a:r>
              <a:rPr lang="en-US" sz="1150" b="1" dirty="0">
                <a:solidFill>
                  <a:srgbClr val="FFFFFF"/>
                </a:solidFill>
                <a:latin typeface="Segoe UI" pitchFamily="34" charset="0"/>
                <a:ea typeface="Segoe UI" pitchFamily="34" charset="-122"/>
                <a:cs typeface="Segoe UI" pitchFamily="34" charset="-120"/>
              </a:rPr>
              <a:t>PLATFORM CORE</a:t>
            </a:r>
            <a:endParaRPr lang="en-US" sz="1150" dirty="0"/>
          </a:p>
        </p:txBody>
      </p:sp>
      <p:sp>
        <p:nvSpPr>
          <p:cNvPr id="11" name="Text 9"/>
          <p:cNvSpPr/>
          <p:nvPr/>
        </p:nvSpPr>
        <p:spPr>
          <a:xfrm>
            <a:off x="640080" y="2194560"/>
            <a:ext cx="1783080" cy="1280160"/>
          </a:xfrm>
          <a:prstGeom prst="rect">
            <a:avLst/>
          </a:prstGeom>
          <a:noFill/>
          <a:ln/>
        </p:spPr>
        <p:txBody>
          <a:bodyPr wrap="square" lIns="0" tIns="0" rIns="0" bIns="0" rtlCol="0" anchor="ctr"/>
          <a:lstStyle/>
          <a:p>
            <a:pPr marL="342900" indent="-342900">
              <a:spcAft>
                <a:spcPts val="500"/>
              </a:spcAft>
              <a:buSzPct val="100000"/>
              <a:buChar char="•"/>
            </a:pPr>
            <a:r>
              <a:rPr lang="en-US" sz="950" dirty="0">
                <a:solidFill>
                  <a:srgbClr val="B9CBE2"/>
                </a:solidFill>
                <a:latin typeface="Segoe UI" pitchFamily="34" charset="0"/>
                <a:ea typeface="Segoe UI" pitchFamily="34" charset="-122"/>
                <a:cs typeface="Segoe UI" pitchFamily="34" charset="-120"/>
              </a:rPr>
              <a:t>Orchestration</a:t>
            </a:r>
            <a:endParaRPr lang="en-US" sz="950" dirty="0"/>
          </a:p>
          <a:p>
            <a:pPr marL="342900" indent="-342900">
              <a:spcAft>
                <a:spcPts val="500"/>
              </a:spcAft>
              <a:buSzPct val="100000"/>
              <a:buChar char="•"/>
            </a:pPr>
            <a:r>
              <a:rPr lang="en-US" sz="950" dirty="0">
                <a:solidFill>
                  <a:srgbClr val="B9CBE2"/>
                </a:solidFill>
                <a:latin typeface="Segoe UI" pitchFamily="34" charset="0"/>
                <a:ea typeface="Segoe UI" pitchFamily="34" charset="-122"/>
                <a:cs typeface="Segoe UI" pitchFamily="34" charset="-120"/>
              </a:rPr>
              <a:t>Shared artifacts</a:t>
            </a:r>
            <a:endParaRPr lang="en-US" sz="950" dirty="0"/>
          </a:p>
          <a:p>
            <a:pPr marL="342900" indent="-342900">
              <a:spcAft>
                <a:spcPts val="500"/>
              </a:spcAft>
              <a:buSzPct val="100000"/>
              <a:buChar char="•"/>
            </a:pPr>
            <a:r>
              <a:rPr lang="en-US" sz="950" dirty="0">
                <a:solidFill>
                  <a:srgbClr val="B9CBE2"/>
                </a:solidFill>
                <a:latin typeface="Segoe UI" pitchFamily="34" charset="0"/>
                <a:ea typeface="Segoe UI" pitchFamily="34" charset="-122"/>
                <a:cs typeface="Segoe UI" pitchFamily="34" charset="-120"/>
              </a:rPr>
              <a:t>Agent registry</a:t>
            </a:r>
            <a:endParaRPr lang="en-US" sz="950" dirty="0"/>
          </a:p>
          <a:p>
            <a:pPr marL="342900" indent="-342900">
              <a:spcAft>
                <a:spcPts val="500"/>
              </a:spcAft>
              <a:buSzPct val="100000"/>
              <a:buChar char="•"/>
            </a:pPr>
            <a:r>
              <a:rPr lang="en-US" sz="950" dirty="0">
                <a:solidFill>
                  <a:srgbClr val="B9CBE2"/>
                </a:solidFill>
                <a:latin typeface="Segoe UI" pitchFamily="34" charset="0"/>
                <a:ea typeface="Segoe UI" pitchFamily="34" charset="-122"/>
                <a:cs typeface="Segoe UI" pitchFamily="34" charset="-120"/>
              </a:rPr>
              <a:t>Safety controls</a:t>
            </a:r>
            <a:endParaRPr lang="en-US" sz="950" dirty="0"/>
          </a:p>
        </p:txBody>
      </p:sp>
      <p:sp>
        <p:nvSpPr>
          <p:cNvPr id="12" name="Text 10"/>
          <p:cNvSpPr/>
          <p:nvPr/>
        </p:nvSpPr>
        <p:spPr>
          <a:xfrm>
            <a:off x="548640" y="3767328"/>
            <a:ext cx="1874520" cy="365760"/>
          </a:xfrm>
          <a:prstGeom prst="rect">
            <a:avLst/>
          </a:prstGeom>
          <a:noFill/>
          <a:ln/>
        </p:spPr>
        <p:txBody>
          <a:bodyPr wrap="square" lIns="0" tIns="0" rIns="0" bIns="0" rtlCol="0" anchor="ctr"/>
          <a:lstStyle/>
          <a:p>
            <a:pPr marL="0" indent="0" algn="ctr">
              <a:buNone/>
            </a:pPr>
            <a:r>
              <a:rPr lang="en-US" sz="950" i="1" dirty="0">
                <a:solidFill>
                  <a:srgbClr val="9DC2F5"/>
                </a:solidFill>
                <a:latin typeface="Segoe UI" pitchFamily="34" charset="0"/>
                <a:ea typeface="Segoe UI" pitchFamily="34" charset="-122"/>
                <a:cs typeface="Segoe UI" pitchFamily="34" charset="-120"/>
              </a:rPr>
              <a:t>Standard agent interface</a:t>
            </a:r>
            <a:endParaRPr lang="en-US" sz="950" dirty="0"/>
          </a:p>
        </p:txBody>
      </p:sp>
      <p:sp>
        <p:nvSpPr>
          <p:cNvPr id="13" name="Flow connector">
            <a:extLst>
              <a:ext uri="{C183D7F6-B498-43B3-948B-1728B52AA6E4}">
                <adec:decorative xmlns:adec="http://schemas.microsoft.com/office/drawing/2017/decorative" val="1"/>
              </a:ext>
            </a:extLst>
          </p:cNvPr>
          <p:cNvSpPr/>
          <p:nvPr/>
        </p:nvSpPr>
        <p:spPr>
          <a:xfrm>
            <a:off x="2578608" y="2743200"/>
            <a:ext cx="301752" cy="0"/>
          </a:xfrm>
          <a:prstGeom prst="line">
            <a:avLst/>
          </a:prstGeom>
          <a:noFill/>
          <a:ln w="22225">
            <a:solidFill>
              <a:srgbClr val="1F6FEB"/>
            </a:solidFill>
            <a:prstDash val="solid"/>
            <a:tailEnd type="triangle"/>
          </a:ln>
        </p:spPr>
        <p:txBody>
          <a:bodyPr/>
          <a:lstStyle/>
          <a:p>
            <a:endParaRPr lang="en-US"/>
          </a:p>
        </p:txBody>
      </p:sp>
      <p:sp>
        <p:nvSpPr>
          <p:cNvPr id="14" name="Text 12"/>
          <p:cNvSpPr/>
          <p:nvPr/>
        </p:nvSpPr>
        <p:spPr>
          <a:xfrm>
            <a:off x="3017520" y="1261872"/>
            <a:ext cx="5715000" cy="237744"/>
          </a:xfrm>
          <a:prstGeom prst="rect">
            <a:avLst/>
          </a:prstGeom>
          <a:noFill/>
          <a:ln/>
        </p:spPr>
        <p:txBody>
          <a:bodyPr wrap="square" lIns="0" tIns="0" rIns="0" bIns="0" rtlCol="0" anchor="ctr"/>
          <a:lstStyle/>
          <a:p>
            <a:pPr marL="0" indent="0">
              <a:buNone/>
            </a:pPr>
            <a:r>
              <a:rPr lang="en-US" sz="950" b="1" kern="0" spc="150" dirty="0">
                <a:solidFill>
                  <a:srgbClr val="0B4AA2"/>
                </a:solidFill>
                <a:latin typeface="Segoe UI" pitchFamily="34" charset="0"/>
                <a:ea typeface="Segoe UI" pitchFamily="34" charset="-122"/>
                <a:cs typeface="Segoe UI" pitchFamily="34" charset="-120"/>
              </a:rPr>
              <a:t>PLUG-IN AGENTS</a:t>
            </a:r>
            <a:endParaRPr lang="en-US" sz="950" dirty="0"/>
          </a:p>
        </p:txBody>
      </p:sp>
      <p:sp>
        <p:nvSpPr>
          <p:cNvPr id="15" name="Plug-in agent slot">
            <a:extLst>
              <a:ext uri="{C183D7F6-B498-43B3-948B-1728B52AA6E4}">
                <adec:decorative xmlns:adec="http://schemas.microsoft.com/office/drawing/2017/decorative" val="1"/>
              </a:ext>
            </a:extLst>
          </p:cNvPr>
          <p:cNvSpPr/>
          <p:nvPr/>
        </p:nvSpPr>
        <p:spPr>
          <a:xfrm>
            <a:off x="3017520" y="1572768"/>
            <a:ext cx="1828800" cy="749808"/>
          </a:xfrm>
          <a:prstGeom prst="rect">
            <a:avLst/>
          </a:prstGeom>
          <a:solidFill>
            <a:srgbClr val="FFFFFF"/>
          </a:solidFill>
          <a:ln w="12700">
            <a:solidFill>
              <a:srgbClr val="1F6FEB"/>
            </a:solidFill>
            <a:prstDash val="dash"/>
          </a:ln>
        </p:spPr>
        <p:txBody>
          <a:bodyPr/>
          <a:lstStyle/>
          <a:p>
            <a:endParaRPr lang="en-US"/>
          </a:p>
        </p:txBody>
      </p:sp>
      <p:sp>
        <p:nvSpPr>
          <p:cNvPr id="16" name="Text 14"/>
          <p:cNvSpPr/>
          <p:nvPr/>
        </p:nvSpPr>
        <p:spPr>
          <a:xfrm>
            <a:off x="3090672" y="1572768"/>
            <a:ext cx="1682496" cy="749808"/>
          </a:xfrm>
          <a:prstGeom prst="rect">
            <a:avLst/>
          </a:prstGeom>
          <a:noFill/>
          <a:ln/>
        </p:spPr>
        <p:txBody>
          <a:bodyPr wrap="square" lIns="0" tIns="0" rIns="0" bIns="0" rtlCol="0" anchor="ctr"/>
          <a:lstStyle/>
          <a:p>
            <a:pPr marL="0" indent="0" algn="ctr">
              <a:buNone/>
            </a:pPr>
            <a:r>
              <a:rPr lang="en-US" sz="850" dirty="0">
                <a:solidFill>
                  <a:srgbClr val="0F2540"/>
                </a:solidFill>
                <a:latin typeface="Segoe UI" pitchFamily="34" charset="0"/>
                <a:ea typeface="Segoe UI" pitchFamily="34" charset="-122"/>
                <a:cs typeface="Segoe UI" pitchFamily="34" charset="-120"/>
              </a:rPr>
              <a:t>API Compatibility Analysis Agent</a:t>
            </a:r>
            <a:endParaRPr lang="en-US" sz="850" dirty="0"/>
          </a:p>
        </p:txBody>
      </p:sp>
      <p:sp>
        <p:nvSpPr>
          <p:cNvPr id="17" name="Plug-in agent slot">
            <a:extLst>
              <a:ext uri="{C183D7F6-B498-43B3-948B-1728B52AA6E4}">
                <adec:decorative xmlns:adec="http://schemas.microsoft.com/office/drawing/2017/decorative" val="1"/>
              </a:ext>
            </a:extLst>
          </p:cNvPr>
          <p:cNvSpPr/>
          <p:nvPr/>
        </p:nvSpPr>
        <p:spPr>
          <a:xfrm>
            <a:off x="4965192" y="1572768"/>
            <a:ext cx="1828800" cy="749808"/>
          </a:xfrm>
          <a:prstGeom prst="rect">
            <a:avLst/>
          </a:prstGeom>
          <a:solidFill>
            <a:srgbClr val="FFFFFF"/>
          </a:solidFill>
          <a:ln w="12700">
            <a:solidFill>
              <a:srgbClr val="1F6FEB"/>
            </a:solidFill>
            <a:prstDash val="dash"/>
          </a:ln>
        </p:spPr>
        <p:txBody>
          <a:bodyPr/>
          <a:lstStyle/>
          <a:p>
            <a:endParaRPr lang="en-US"/>
          </a:p>
        </p:txBody>
      </p:sp>
      <p:sp>
        <p:nvSpPr>
          <p:cNvPr id="18" name="Text 16"/>
          <p:cNvSpPr/>
          <p:nvPr/>
        </p:nvSpPr>
        <p:spPr>
          <a:xfrm>
            <a:off x="5038344" y="1572768"/>
            <a:ext cx="1682496" cy="749808"/>
          </a:xfrm>
          <a:prstGeom prst="rect">
            <a:avLst/>
          </a:prstGeom>
          <a:noFill/>
          <a:ln/>
        </p:spPr>
        <p:txBody>
          <a:bodyPr wrap="square" lIns="0" tIns="0" rIns="0" bIns="0" rtlCol="0" anchor="ctr"/>
          <a:lstStyle/>
          <a:p>
            <a:pPr marL="0" indent="0" algn="ctr">
              <a:buNone/>
            </a:pPr>
            <a:r>
              <a:rPr lang="en-US" sz="850" dirty="0">
                <a:solidFill>
                  <a:srgbClr val="0F2540"/>
                </a:solidFill>
                <a:latin typeface="Segoe UI" pitchFamily="34" charset="0"/>
                <a:ea typeface="Segoe UI" pitchFamily="34" charset="-122"/>
                <a:cs typeface="Segoe UI" pitchFamily="34" charset="-120"/>
              </a:rPr>
              <a:t>Database &amp; SQL Analysis Agent</a:t>
            </a:r>
            <a:endParaRPr lang="en-US" sz="850" dirty="0"/>
          </a:p>
        </p:txBody>
      </p:sp>
      <p:sp>
        <p:nvSpPr>
          <p:cNvPr id="19" name="Plug-in agent slot">
            <a:extLst>
              <a:ext uri="{C183D7F6-B498-43B3-948B-1728B52AA6E4}">
                <adec:decorative xmlns:adec="http://schemas.microsoft.com/office/drawing/2017/decorative" val="1"/>
              </a:ext>
            </a:extLst>
          </p:cNvPr>
          <p:cNvSpPr/>
          <p:nvPr/>
        </p:nvSpPr>
        <p:spPr>
          <a:xfrm>
            <a:off x="6912864" y="1572768"/>
            <a:ext cx="1828800" cy="749808"/>
          </a:xfrm>
          <a:prstGeom prst="rect">
            <a:avLst/>
          </a:prstGeom>
          <a:solidFill>
            <a:srgbClr val="FFFFFF"/>
          </a:solidFill>
          <a:ln w="12700">
            <a:solidFill>
              <a:srgbClr val="1F6FEB"/>
            </a:solidFill>
            <a:prstDash val="dash"/>
          </a:ln>
        </p:spPr>
        <p:txBody>
          <a:bodyPr/>
          <a:lstStyle/>
          <a:p>
            <a:endParaRPr lang="en-US"/>
          </a:p>
        </p:txBody>
      </p:sp>
      <p:sp>
        <p:nvSpPr>
          <p:cNvPr id="20" name="Text 18"/>
          <p:cNvSpPr/>
          <p:nvPr/>
        </p:nvSpPr>
        <p:spPr>
          <a:xfrm>
            <a:off x="6986016" y="1572768"/>
            <a:ext cx="1682496" cy="749808"/>
          </a:xfrm>
          <a:prstGeom prst="rect">
            <a:avLst/>
          </a:prstGeom>
          <a:noFill/>
          <a:ln/>
        </p:spPr>
        <p:txBody>
          <a:bodyPr wrap="square" lIns="0" tIns="0" rIns="0" bIns="0" rtlCol="0" anchor="ctr"/>
          <a:lstStyle/>
          <a:p>
            <a:pPr marL="0" indent="0" algn="ctr">
              <a:buNone/>
            </a:pPr>
            <a:r>
              <a:rPr lang="en-US" sz="850" dirty="0">
                <a:solidFill>
                  <a:srgbClr val="0F2540"/>
                </a:solidFill>
                <a:latin typeface="Segoe UI" pitchFamily="34" charset="0"/>
                <a:ea typeface="Segoe UI" pitchFamily="34" charset="-122"/>
                <a:cs typeface="Segoe UI" pitchFamily="34" charset="-120"/>
              </a:rPr>
              <a:t>SOAP-to-REST Migration Agent</a:t>
            </a:r>
            <a:endParaRPr lang="en-US" sz="850" dirty="0"/>
          </a:p>
        </p:txBody>
      </p:sp>
      <p:sp>
        <p:nvSpPr>
          <p:cNvPr id="21" name="Plug-in agent slot">
            <a:extLst>
              <a:ext uri="{C183D7F6-B498-43B3-948B-1728B52AA6E4}">
                <adec:decorative xmlns:adec="http://schemas.microsoft.com/office/drawing/2017/decorative" val="1"/>
              </a:ext>
            </a:extLst>
          </p:cNvPr>
          <p:cNvSpPr/>
          <p:nvPr/>
        </p:nvSpPr>
        <p:spPr>
          <a:xfrm>
            <a:off x="3017520" y="2450592"/>
            <a:ext cx="1828800" cy="749808"/>
          </a:xfrm>
          <a:prstGeom prst="rect">
            <a:avLst/>
          </a:prstGeom>
          <a:solidFill>
            <a:srgbClr val="FFFFFF"/>
          </a:solidFill>
          <a:ln w="12700">
            <a:solidFill>
              <a:srgbClr val="1F6FEB"/>
            </a:solidFill>
            <a:prstDash val="dash"/>
          </a:ln>
        </p:spPr>
        <p:txBody>
          <a:bodyPr/>
          <a:lstStyle/>
          <a:p>
            <a:endParaRPr lang="en-US"/>
          </a:p>
        </p:txBody>
      </p:sp>
      <p:sp>
        <p:nvSpPr>
          <p:cNvPr id="22" name="Text 20"/>
          <p:cNvSpPr/>
          <p:nvPr/>
        </p:nvSpPr>
        <p:spPr>
          <a:xfrm>
            <a:off x="3090672" y="2450592"/>
            <a:ext cx="1682496" cy="749808"/>
          </a:xfrm>
          <a:prstGeom prst="rect">
            <a:avLst/>
          </a:prstGeom>
          <a:noFill/>
          <a:ln/>
        </p:spPr>
        <p:txBody>
          <a:bodyPr wrap="square" lIns="0" tIns="0" rIns="0" bIns="0" rtlCol="0" anchor="ctr"/>
          <a:lstStyle/>
          <a:p>
            <a:pPr marL="0" indent="0" algn="ctr">
              <a:buNone/>
            </a:pPr>
            <a:r>
              <a:rPr lang="en-US" sz="850" dirty="0">
                <a:solidFill>
                  <a:srgbClr val="0F2540"/>
                </a:solidFill>
                <a:latin typeface="Segoe UI" pitchFamily="34" charset="0"/>
                <a:ea typeface="Segoe UI" pitchFamily="34" charset="-122"/>
                <a:cs typeface="Segoe UI" pitchFamily="34" charset="-120"/>
              </a:rPr>
              <a:t>Configuration Migration Agent</a:t>
            </a:r>
            <a:endParaRPr lang="en-US" sz="850" dirty="0"/>
          </a:p>
        </p:txBody>
      </p:sp>
      <p:sp>
        <p:nvSpPr>
          <p:cNvPr id="23" name="Plug-in agent slot">
            <a:extLst>
              <a:ext uri="{C183D7F6-B498-43B3-948B-1728B52AA6E4}">
                <adec:decorative xmlns:adec="http://schemas.microsoft.com/office/drawing/2017/decorative" val="1"/>
              </a:ext>
            </a:extLst>
          </p:cNvPr>
          <p:cNvSpPr/>
          <p:nvPr/>
        </p:nvSpPr>
        <p:spPr>
          <a:xfrm>
            <a:off x="4965192" y="2450592"/>
            <a:ext cx="1828800" cy="749808"/>
          </a:xfrm>
          <a:prstGeom prst="rect">
            <a:avLst/>
          </a:prstGeom>
          <a:solidFill>
            <a:srgbClr val="FFFFFF"/>
          </a:solidFill>
          <a:ln w="12700">
            <a:solidFill>
              <a:srgbClr val="1F6FEB"/>
            </a:solidFill>
            <a:prstDash val="dash"/>
          </a:ln>
        </p:spPr>
        <p:txBody>
          <a:bodyPr/>
          <a:lstStyle/>
          <a:p>
            <a:endParaRPr lang="en-US"/>
          </a:p>
        </p:txBody>
      </p:sp>
      <p:sp>
        <p:nvSpPr>
          <p:cNvPr id="24" name="Text 22"/>
          <p:cNvSpPr/>
          <p:nvPr/>
        </p:nvSpPr>
        <p:spPr>
          <a:xfrm>
            <a:off x="5038344" y="2450592"/>
            <a:ext cx="1682496" cy="749808"/>
          </a:xfrm>
          <a:prstGeom prst="rect">
            <a:avLst/>
          </a:prstGeom>
          <a:noFill/>
          <a:ln/>
        </p:spPr>
        <p:txBody>
          <a:bodyPr wrap="square" lIns="0" tIns="0" rIns="0" bIns="0" rtlCol="0" anchor="ctr"/>
          <a:lstStyle/>
          <a:p>
            <a:pPr marL="0" indent="0" algn="ctr">
              <a:buNone/>
            </a:pPr>
            <a:r>
              <a:rPr lang="en-US" sz="850" dirty="0">
                <a:solidFill>
                  <a:srgbClr val="0F2540"/>
                </a:solidFill>
                <a:latin typeface="Segoe UI" pitchFamily="34" charset="0"/>
                <a:ea typeface="Segoe UI" pitchFamily="34" charset="-122"/>
                <a:cs typeface="Segoe UI" pitchFamily="34" charset="-120"/>
              </a:rPr>
              <a:t>Performance Analysis Agent</a:t>
            </a:r>
            <a:endParaRPr lang="en-US" sz="850" dirty="0"/>
          </a:p>
        </p:txBody>
      </p:sp>
      <p:sp>
        <p:nvSpPr>
          <p:cNvPr id="25" name="Plug-in agent slot">
            <a:extLst>
              <a:ext uri="{C183D7F6-B498-43B3-948B-1728B52AA6E4}">
                <adec:decorative xmlns:adec="http://schemas.microsoft.com/office/drawing/2017/decorative" val="1"/>
              </a:ext>
            </a:extLst>
          </p:cNvPr>
          <p:cNvSpPr/>
          <p:nvPr/>
        </p:nvSpPr>
        <p:spPr>
          <a:xfrm>
            <a:off x="6912864" y="2450592"/>
            <a:ext cx="1828800" cy="749808"/>
          </a:xfrm>
          <a:prstGeom prst="rect">
            <a:avLst/>
          </a:prstGeom>
          <a:solidFill>
            <a:srgbClr val="FFFFFF"/>
          </a:solidFill>
          <a:ln w="12700">
            <a:solidFill>
              <a:srgbClr val="1F6FEB"/>
            </a:solidFill>
            <a:prstDash val="dash"/>
          </a:ln>
        </p:spPr>
        <p:txBody>
          <a:bodyPr/>
          <a:lstStyle/>
          <a:p>
            <a:endParaRPr lang="en-US"/>
          </a:p>
        </p:txBody>
      </p:sp>
      <p:sp>
        <p:nvSpPr>
          <p:cNvPr id="26" name="Text 24"/>
          <p:cNvSpPr/>
          <p:nvPr/>
        </p:nvSpPr>
        <p:spPr>
          <a:xfrm>
            <a:off x="6986016" y="2450592"/>
            <a:ext cx="1682496" cy="749808"/>
          </a:xfrm>
          <a:prstGeom prst="rect">
            <a:avLst/>
          </a:prstGeom>
          <a:noFill/>
          <a:ln/>
        </p:spPr>
        <p:txBody>
          <a:bodyPr wrap="square" lIns="0" tIns="0" rIns="0" bIns="0" rtlCol="0" anchor="ctr"/>
          <a:lstStyle/>
          <a:p>
            <a:pPr marL="0" indent="0" algn="ctr">
              <a:buNone/>
            </a:pPr>
            <a:r>
              <a:rPr lang="en-US" sz="850" dirty="0">
                <a:solidFill>
                  <a:srgbClr val="0F2540"/>
                </a:solidFill>
                <a:latin typeface="Segoe UI" pitchFamily="34" charset="0"/>
                <a:ea typeface="Segoe UI" pitchFamily="34" charset="-122"/>
                <a:cs typeface="Segoe UI" pitchFamily="34" charset="-120"/>
              </a:rPr>
              <a:t>Observability &amp; Logging Agent</a:t>
            </a:r>
            <a:endParaRPr lang="en-US" sz="850" dirty="0"/>
          </a:p>
        </p:txBody>
      </p:sp>
      <p:sp>
        <p:nvSpPr>
          <p:cNvPr id="27" name="Plug-in agent slot">
            <a:extLst>
              <a:ext uri="{C183D7F6-B498-43B3-948B-1728B52AA6E4}">
                <adec:decorative xmlns:adec="http://schemas.microsoft.com/office/drawing/2017/decorative" val="1"/>
              </a:ext>
            </a:extLst>
          </p:cNvPr>
          <p:cNvSpPr/>
          <p:nvPr/>
        </p:nvSpPr>
        <p:spPr>
          <a:xfrm>
            <a:off x="3017520" y="3328416"/>
            <a:ext cx="1828800" cy="749808"/>
          </a:xfrm>
          <a:prstGeom prst="rect">
            <a:avLst/>
          </a:prstGeom>
          <a:solidFill>
            <a:srgbClr val="FFFFFF"/>
          </a:solidFill>
          <a:ln w="12700">
            <a:solidFill>
              <a:srgbClr val="1F6FEB"/>
            </a:solidFill>
            <a:prstDash val="dash"/>
          </a:ln>
        </p:spPr>
        <p:txBody>
          <a:bodyPr/>
          <a:lstStyle/>
          <a:p>
            <a:endParaRPr lang="en-US"/>
          </a:p>
        </p:txBody>
      </p:sp>
      <p:sp>
        <p:nvSpPr>
          <p:cNvPr id="28" name="Text 26"/>
          <p:cNvSpPr/>
          <p:nvPr/>
        </p:nvSpPr>
        <p:spPr>
          <a:xfrm>
            <a:off x="3090672" y="3328416"/>
            <a:ext cx="1682496" cy="749808"/>
          </a:xfrm>
          <a:prstGeom prst="rect">
            <a:avLst/>
          </a:prstGeom>
          <a:noFill/>
          <a:ln/>
        </p:spPr>
        <p:txBody>
          <a:bodyPr wrap="square" lIns="0" tIns="0" rIns="0" bIns="0" rtlCol="0" anchor="ctr"/>
          <a:lstStyle/>
          <a:p>
            <a:pPr marL="0" indent="0" algn="ctr">
              <a:buNone/>
            </a:pPr>
            <a:r>
              <a:rPr lang="en-US" sz="850" dirty="0">
                <a:solidFill>
                  <a:srgbClr val="0F2540"/>
                </a:solidFill>
                <a:latin typeface="Segoe UI" pitchFamily="34" charset="0"/>
                <a:ea typeface="Segoe UI" pitchFamily="34" charset="-122"/>
                <a:cs typeface="Segoe UI" pitchFamily="34" charset="-120"/>
              </a:rPr>
              <a:t>Cloud Readiness Assessment Agent</a:t>
            </a:r>
            <a:endParaRPr lang="en-US" sz="850" dirty="0"/>
          </a:p>
        </p:txBody>
      </p:sp>
      <p:sp>
        <p:nvSpPr>
          <p:cNvPr id="29" name="Plug-in agent slot">
            <a:extLst>
              <a:ext uri="{C183D7F6-B498-43B3-948B-1728B52AA6E4}">
                <adec:decorative xmlns:adec="http://schemas.microsoft.com/office/drawing/2017/decorative" val="1"/>
              </a:ext>
            </a:extLst>
          </p:cNvPr>
          <p:cNvSpPr/>
          <p:nvPr/>
        </p:nvSpPr>
        <p:spPr>
          <a:xfrm>
            <a:off x="4965192" y="3328416"/>
            <a:ext cx="1828800" cy="749808"/>
          </a:xfrm>
          <a:prstGeom prst="rect">
            <a:avLst/>
          </a:prstGeom>
          <a:solidFill>
            <a:srgbClr val="FFFFFF"/>
          </a:solidFill>
          <a:ln w="12700">
            <a:solidFill>
              <a:srgbClr val="1F6FEB"/>
            </a:solidFill>
            <a:prstDash val="dash"/>
          </a:ln>
        </p:spPr>
        <p:txBody>
          <a:bodyPr/>
          <a:lstStyle/>
          <a:p>
            <a:endParaRPr lang="en-US"/>
          </a:p>
        </p:txBody>
      </p:sp>
      <p:sp>
        <p:nvSpPr>
          <p:cNvPr id="30" name="Text 28"/>
          <p:cNvSpPr/>
          <p:nvPr/>
        </p:nvSpPr>
        <p:spPr>
          <a:xfrm>
            <a:off x="5038344" y="3328416"/>
            <a:ext cx="1682496" cy="749808"/>
          </a:xfrm>
          <a:prstGeom prst="rect">
            <a:avLst/>
          </a:prstGeom>
          <a:noFill/>
          <a:ln/>
        </p:spPr>
        <p:txBody>
          <a:bodyPr wrap="square" lIns="0" tIns="0" rIns="0" bIns="0" rtlCol="0" anchor="ctr"/>
          <a:lstStyle/>
          <a:p>
            <a:pPr marL="0" indent="0" algn="ctr">
              <a:buNone/>
            </a:pPr>
            <a:r>
              <a:rPr lang="en-US" sz="850" dirty="0">
                <a:solidFill>
                  <a:srgbClr val="0F2540"/>
                </a:solidFill>
                <a:latin typeface="Segoe UI" pitchFamily="34" charset="0"/>
                <a:ea typeface="Segoe UI" pitchFamily="34" charset="-122"/>
                <a:cs typeface="Segoe UI" pitchFamily="34" charset="-120"/>
              </a:rPr>
              <a:t>License Compliance Agent</a:t>
            </a:r>
            <a:endParaRPr lang="en-US" sz="850" dirty="0"/>
          </a:p>
        </p:txBody>
      </p:sp>
      <p:sp>
        <p:nvSpPr>
          <p:cNvPr id="31" name="Plug-in agent slot">
            <a:extLst>
              <a:ext uri="{C183D7F6-B498-43B3-948B-1728B52AA6E4}">
                <adec:decorative xmlns:adec="http://schemas.microsoft.com/office/drawing/2017/decorative" val="1"/>
              </a:ext>
            </a:extLst>
          </p:cNvPr>
          <p:cNvSpPr/>
          <p:nvPr/>
        </p:nvSpPr>
        <p:spPr>
          <a:xfrm>
            <a:off x="6912864" y="3328416"/>
            <a:ext cx="1828800" cy="749808"/>
          </a:xfrm>
          <a:prstGeom prst="rect">
            <a:avLst/>
          </a:prstGeom>
          <a:solidFill>
            <a:srgbClr val="FFFFFF"/>
          </a:solidFill>
          <a:ln w="12700">
            <a:solidFill>
              <a:srgbClr val="1F6FEB"/>
            </a:solidFill>
            <a:prstDash val="dash"/>
          </a:ln>
        </p:spPr>
        <p:txBody>
          <a:bodyPr/>
          <a:lstStyle/>
          <a:p>
            <a:endParaRPr lang="en-US"/>
          </a:p>
        </p:txBody>
      </p:sp>
      <p:sp>
        <p:nvSpPr>
          <p:cNvPr id="32" name="Text 30"/>
          <p:cNvSpPr/>
          <p:nvPr/>
        </p:nvSpPr>
        <p:spPr>
          <a:xfrm>
            <a:off x="6986016" y="3328416"/>
            <a:ext cx="1682496" cy="749808"/>
          </a:xfrm>
          <a:prstGeom prst="rect">
            <a:avLst/>
          </a:prstGeom>
          <a:noFill/>
          <a:ln/>
        </p:spPr>
        <p:txBody>
          <a:bodyPr wrap="square" lIns="0" tIns="0" rIns="0" bIns="0" rtlCol="0" anchor="ctr"/>
          <a:lstStyle/>
          <a:p>
            <a:pPr marL="0" indent="0" algn="ctr">
              <a:buNone/>
            </a:pPr>
            <a:r>
              <a:rPr lang="en-US" sz="850" dirty="0">
                <a:solidFill>
                  <a:srgbClr val="0F2540"/>
                </a:solidFill>
                <a:latin typeface="Segoe UI" pitchFamily="34" charset="0"/>
                <a:ea typeface="Segoe UI" pitchFamily="34" charset="-122"/>
                <a:cs typeface="Segoe UI" pitchFamily="34" charset="-120"/>
              </a:rPr>
              <a:t>Documentation Generation Agent</a:t>
            </a:r>
            <a:endParaRPr lang="en-US" sz="850" dirty="0"/>
          </a:p>
        </p:txBody>
      </p:sp>
      <p:sp>
        <p:nvSpPr>
          <p:cNvPr id="33" name="Text 31"/>
          <p:cNvSpPr/>
          <p:nvPr/>
        </p:nvSpPr>
        <p:spPr>
          <a:xfrm>
            <a:off x="3017520" y="4261104"/>
            <a:ext cx="5715000" cy="256032"/>
          </a:xfrm>
          <a:prstGeom prst="rect">
            <a:avLst/>
          </a:prstGeom>
          <a:noFill/>
          <a:ln/>
        </p:spPr>
        <p:txBody>
          <a:bodyPr wrap="square" lIns="0" tIns="0" rIns="0" bIns="0" rtlCol="0" anchor="ctr"/>
          <a:lstStyle/>
          <a:p>
            <a:pPr marL="0" indent="0">
              <a:buNone/>
            </a:pPr>
            <a:r>
              <a:rPr lang="en-US" sz="900" i="1" dirty="0">
                <a:solidFill>
                  <a:srgbClr val="44546A"/>
                </a:solidFill>
                <a:latin typeface="Segoe UI" pitchFamily="34" charset="0"/>
                <a:ea typeface="Segoe UI" pitchFamily="34" charset="-122"/>
                <a:cs typeface="Segoe UI" pitchFamily="34" charset="-120"/>
              </a:rPr>
              <a:t>Dashed outlines indicate candidate future agents — none are implemented today.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F6FEB"/>
          </a:solidFill>
          <a:ln w="12700">
            <a:solidFill>
              <a:srgbClr val="1F6FEB"/>
            </a:solidFill>
            <a:prstDash val="solid"/>
          </a:ln>
        </p:spPr>
        <p:txBody>
          <a:bodyPr/>
          <a:lstStyle/>
          <a:p>
            <a:endParaRPr lang="en-US"/>
          </a:p>
        </p:txBody>
      </p:sp>
      <p:sp>
        <p:nvSpPr>
          <p:cNvPr id="3" name="Text 1"/>
          <p:cNvSpPr/>
          <p:nvPr/>
        </p:nvSpPr>
        <p:spPr>
          <a:xfrm>
            <a:off x="411480" y="237744"/>
            <a:ext cx="548640" cy="411480"/>
          </a:xfrm>
          <a:prstGeom prst="rect">
            <a:avLst/>
          </a:prstGeom>
          <a:noFill/>
          <a:ln/>
        </p:spPr>
        <p:txBody>
          <a:bodyPr wrap="square" lIns="0" tIns="0" rIns="0" bIns="0" rtlCol="0" anchor="ctr"/>
          <a:lstStyle/>
          <a:p>
            <a:pPr marL="0" indent="0">
              <a:buNone/>
            </a:pPr>
            <a:r>
              <a:rPr lang="en-US" sz="2000" b="1" dirty="0">
                <a:solidFill>
                  <a:srgbClr val="9DC2F5"/>
                </a:solidFill>
                <a:latin typeface="Segoe UI" pitchFamily="34" charset="0"/>
                <a:ea typeface="Segoe UI" pitchFamily="34" charset="-122"/>
                <a:cs typeface="Segoe UI" pitchFamily="34" charset="-120"/>
              </a:rPr>
              <a:t>10</a:t>
            </a:r>
            <a:endParaRPr lang="en-US" sz="2000" dirty="0"/>
          </a:p>
        </p:txBody>
      </p:sp>
      <p:sp>
        <p:nvSpPr>
          <p:cNvPr id="4" name="Text 2"/>
          <p:cNvSpPr/>
          <p:nvPr/>
        </p:nvSpPr>
        <p:spPr>
          <a:xfrm>
            <a:off x="960120" y="219456"/>
            <a:ext cx="5669280" cy="457200"/>
          </a:xfrm>
          <a:prstGeom prst="rect">
            <a:avLst/>
          </a:prstGeom>
          <a:noFill/>
          <a:ln/>
        </p:spPr>
        <p:txBody>
          <a:bodyPr wrap="square" lIns="0" tIns="0" rIns="0" bIns="0" rtlCol="0" anchor="ctr"/>
          <a:lstStyle/>
          <a:p>
            <a:pPr marL="0" indent="0">
              <a:buNone/>
            </a:pPr>
            <a:r>
              <a:rPr lang="en-US" sz="2400" b="1" dirty="0">
                <a:solidFill>
                  <a:srgbClr val="0F2540"/>
                </a:solidFill>
                <a:latin typeface="Segoe UI" pitchFamily="34" charset="0"/>
                <a:ea typeface="Segoe UI" pitchFamily="34" charset="-122"/>
                <a:cs typeface="Segoe UI" pitchFamily="34" charset="-120"/>
              </a:rPr>
              <a:t>Safety and Governance</a:t>
            </a:r>
            <a:endParaRPr lang="en-US" sz="2400" dirty="0"/>
          </a:p>
        </p:txBody>
      </p:sp>
      <p:sp>
        <p:nvSpPr>
          <p:cNvPr id="5" name="State label chip">
            <a:extLst>
              <a:ext uri="{C183D7F6-B498-43B3-948B-1728B52AA6E4}">
                <adec:decorative xmlns:adec="http://schemas.microsoft.com/office/drawing/2017/decorative" val="1"/>
              </a:ext>
            </a:extLst>
          </p:cNvPr>
          <p:cNvSpPr/>
          <p:nvPr/>
        </p:nvSpPr>
        <p:spPr>
          <a:xfrm>
            <a:off x="6812280" y="274320"/>
            <a:ext cx="1920240" cy="347472"/>
          </a:xfrm>
          <a:prstGeom prst="rect">
            <a:avLst/>
          </a:prstGeom>
          <a:solidFill>
            <a:srgbClr val="F3F6FA"/>
          </a:solidFill>
          <a:ln w="12700">
            <a:solidFill>
              <a:srgbClr val="44546A"/>
            </a:solidFill>
            <a:prstDash val="solid"/>
          </a:ln>
        </p:spPr>
        <p:txBody>
          <a:bodyPr/>
          <a:lstStyle/>
          <a:p>
            <a:endParaRPr lang="en-US"/>
          </a:p>
        </p:txBody>
      </p:sp>
      <p:sp>
        <p:nvSpPr>
          <p:cNvPr id="6" name="Text 4"/>
          <p:cNvSpPr/>
          <p:nvPr/>
        </p:nvSpPr>
        <p:spPr>
          <a:xfrm>
            <a:off x="6812280" y="274320"/>
            <a:ext cx="1920240" cy="347472"/>
          </a:xfrm>
          <a:prstGeom prst="rect">
            <a:avLst/>
          </a:prstGeom>
          <a:noFill/>
          <a:ln/>
        </p:spPr>
        <p:txBody>
          <a:bodyPr wrap="square" lIns="0" tIns="0" rIns="0" bIns="0" rtlCol="0" anchor="ctr"/>
          <a:lstStyle/>
          <a:p>
            <a:pPr marL="0" indent="0" algn="ctr">
              <a:buNone/>
            </a:pPr>
            <a:r>
              <a:rPr lang="en-US" sz="1000" b="1" kern="0" spc="150" dirty="0">
                <a:solidFill>
                  <a:srgbClr val="44546A"/>
                </a:solidFill>
                <a:latin typeface="Segoe UI" pitchFamily="34" charset="0"/>
                <a:ea typeface="Segoe UI" pitchFamily="34" charset="-122"/>
                <a:cs typeface="Segoe UI" pitchFamily="34" charset="-120"/>
              </a:rPr>
              <a:t>FUTURE VISION</a:t>
            </a:r>
            <a:endParaRPr lang="en-US" sz="1000" dirty="0"/>
          </a:p>
        </p:txBody>
      </p:sp>
      <p:sp>
        <p:nvSpPr>
          <p:cNvPr id="7" name="Header rule">
            <a:extLst>
              <a:ext uri="{C183D7F6-B498-43B3-948B-1728B52AA6E4}">
                <adec:decorative xmlns:adec="http://schemas.microsoft.com/office/drawing/2017/decorative" val="1"/>
              </a:ext>
            </a:extLst>
          </p:cNvPr>
          <p:cNvSpPr/>
          <p:nvPr/>
        </p:nvSpPr>
        <p:spPr>
          <a:xfrm>
            <a:off x="411480" y="768096"/>
            <a:ext cx="8321040" cy="0"/>
          </a:xfrm>
          <a:prstGeom prst="line">
            <a:avLst/>
          </a:prstGeom>
          <a:noFill/>
          <a:ln w="12700">
            <a:solidFill>
              <a:srgbClr val="D6E2F2"/>
            </a:solidFill>
            <a:prstDash val="solid"/>
          </a:ln>
        </p:spPr>
        <p:txBody>
          <a:bodyPr/>
          <a:lstStyle/>
          <a:p>
            <a:endParaRPr lang="en-US"/>
          </a:p>
        </p:txBody>
      </p:sp>
      <p:sp>
        <p:nvSpPr>
          <p:cNvPr id="8" name="Governance card">
            <a:extLst>
              <a:ext uri="{C183D7F6-B498-43B3-948B-1728B52AA6E4}">
                <adec:decorative xmlns:adec="http://schemas.microsoft.com/office/drawing/2017/decorative" val="1"/>
              </a:ext>
            </a:extLst>
          </p:cNvPr>
          <p:cNvSpPr/>
          <p:nvPr/>
        </p:nvSpPr>
        <p:spPr>
          <a:xfrm>
            <a:off x="411480" y="960120"/>
            <a:ext cx="2679192" cy="2011680"/>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9" name="Governance card header">
            <a:extLst>
              <a:ext uri="{C183D7F6-B498-43B3-948B-1728B52AA6E4}">
                <adec:decorative xmlns:adec="http://schemas.microsoft.com/office/drawing/2017/decorative" val="1"/>
              </a:ext>
            </a:extLst>
          </p:cNvPr>
          <p:cNvSpPr/>
          <p:nvPr/>
        </p:nvSpPr>
        <p:spPr>
          <a:xfrm>
            <a:off x="411480" y="960120"/>
            <a:ext cx="2679192" cy="402336"/>
          </a:xfrm>
          <a:prstGeom prst="rect">
            <a:avLst/>
          </a:prstGeom>
          <a:solidFill>
            <a:srgbClr val="1F6FEB"/>
          </a:solidFill>
          <a:ln w="12700">
            <a:solidFill>
              <a:srgbClr val="1F6FEB"/>
            </a:solidFill>
            <a:prstDash val="solid"/>
          </a:ln>
        </p:spPr>
        <p:txBody>
          <a:bodyPr/>
          <a:lstStyle/>
          <a:p>
            <a:endParaRPr lang="en-US"/>
          </a:p>
        </p:txBody>
      </p:sp>
      <p:sp>
        <p:nvSpPr>
          <p:cNvPr id="10" name="Text 8"/>
          <p:cNvSpPr/>
          <p:nvPr/>
        </p:nvSpPr>
        <p:spPr>
          <a:xfrm>
            <a:off x="576072" y="960120"/>
            <a:ext cx="2404872" cy="402336"/>
          </a:xfrm>
          <a:prstGeom prst="rect">
            <a:avLst/>
          </a:prstGeom>
          <a:noFill/>
          <a:ln/>
        </p:spPr>
        <p:txBody>
          <a:bodyPr wrap="square" lIns="0" tIns="0" rIns="0" bIns="0"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Before changes</a:t>
            </a:r>
            <a:endParaRPr lang="en-US" sz="1100" dirty="0"/>
          </a:p>
        </p:txBody>
      </p:sp>
      <p:sp>
        <p:nvSpPr>
          <p:cNvPr id="11" name="Text 9"/>
          <p:cNvSpPr/>
          <p:nvPr/>
        </p:nvSpPr>
        <p:spPr>
          <a:xfrm>
            <a:off x="612648" y="1490472"/>
            <a:ext cx="2313432" cy="1353312"/>
          </a:xfrm>
          <a:prstGeom prst="rect">
            <a:avLst/>
          </a:prstGeom>
          <a:noFill/>
          <a:ln/>
        </p:spPr>
        <p:txBody>
          <a:bodyPr wrap="square" lIns="0" tIns="0" rIns="0" bIns="0" rtlCol="0" anchor="ctr"/>
          <a:lstStyle/>
          <a:p>
            <a:pPr marL="342900" indent="-342900">
              <a:spcAft>
                <a:spcPts val="700"/>
              </a:spcAft>
              <a:buSzPct val="100000"/>
              <a:buChar char="•"/>
            </a:pPr>
            <a:r>
              <a:rPr lang="en-US" sz="1000" dirty="0">
                <a:solidFill>
                  <a:srgbClr val="44546A"/>
                </a:solidFill>
                <a:latin typeface="Segoe UI" pitchFamily="34" charset="0"/>
                <a:ea typeface="Segoe UI" pitchFamily="34" charset="-122"/>
                <a:cs typeface="Segoe UI" pitchFamily="34" charset="-120"/>
              </a:rPr>
              <a:t>Read-only analysis first</a:t>
            </a:r>
            <a:endParaRPr lang="en-US" sz="1000" dirty="0"/>
          </a:p>
          <a:p>
            <a:pPr marL="342900" indent="-342900">
              <a:spcAft>
                <a:spcPts val="700"/>
              </a:spcAft>
              <a:buSzPct val="100000"/>
              <a:buChar char="•"/>
            </a:pPr>
            <a:r>
              <a:rPr lang="en-US" sz="1000" dirty="0">
                <a:solidFill>
                  <a:srgbClr val="44546A"/>
                </a:solidFill>
                <a:latin typeface="Segoe UI" pitchFamily="34" charset="0"/>
                <a:ea typeface="Segoe UI" pitchFamily="34" charset="-122"/>
                <a:cs typeface="Segoe UI" pitchFamily="34" charset="-120"/>
              </a:rPr>
              <a:t>Explicit approval to proceed</a:t>
            </a:r>
            <a:endParaRPr lang="en-US" sz="1000" dirty="0"/>
          </a:p>
          <a:p>
            <a:pPr marL="342900" indent="-342900">
              <a:spcAft>
                <a:spcPts val="700"/>
              </a:spcAft>
              <a:buSzPct val="100000"/>
              <a:buChar char="•"/>
            </a:pPr>
            <a:r>
              <a:rPr lang="en-US" sz="1000" dirty="0">
                <a:solidFill>
                  <a:srgbClr val="44546A"/>
                </a:solidFill>
                <a:latin typeface="Segoe UI" pitchFamily="34" charset="0"/>
                <a:ea typeface="Segoe UI" pitchFamily="34" charset="-122"/>
                <a:cs typeface="Segoe UI" pitchFamily="34" charset="-120"/>
              </a:rPr>
              <a:t>Restricted file-system access</a:t>
            </a:r>
            <a:endParaRPr lang="en-US" sz="1000" dirty="0"/>
          </a:p>
        </p:txBody>
      </p:sp>
      <p:sp>
        <p:nvSpPr>
          <p:cNvPr id="12" name="Governance card">
            <a:extLst>
              <a:ext uri="{C183D7F6-B498-43B3-948B-1728B52AA6E4}">
                <adec:decorative xmlns:adec="http://schemas.microsoft.com/office/drawing/2017/decorative" val="1"/>
              </a:ext>
            </a:extLst>
          </p:cNvPr>
          <p:cNvSpPr/>
          <p:nvPr/>
        </p:nvSpPr>
        <p:spPr>
          <a:xfrm>
            <a:off x="3227832" y="960120"/>
            <a:ext cx="2679192" cy="2011680"/>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13" name="Governance card header">
            <a:extLst>
              <a:ext uri="{C183D7F6-B498-43B3-948B-1728B52AA6E4}">
                <adec:decorative xmlns:adec="http://schemas.microsoft.com/office/drawing/2017/decorative" val="1"/>
              </a:ext>
            </a:extLst>
          </p:cNvPr>
          <p:cNvSpPr/>
          <p:nvPr/>
        </p:nvSpPr>
        <p:spPr>
          <a:xfrm>
            <a:off x="3227832" y="960120"/>
            <a:ext cx="2679192" cy="402336"/>
          </a:xfrm>
          <a:prstGeom prst="rect">
            <a:avLst/>
          </a:prstGeom>
          <a:solidFill>
            <a:srgbClr val="0B4AA2"/>
          </a:solidFill>
          <a:ln w="12700">
            <a:solidFill>
              <a:srgbClr val="0B4AA2"/>
            </a:solidFill>
            <a:prstDash val="solid"/>
          </a:ln>
        </p:spPr>
        <p:txBody>
          <a:bodyPr/>
          <a:lstStyle/>
          <a:p>
            <a:endParaRPr lang="en-US"/>
          </a:p>
        </p:txBody>
      </p:sp>
      <p:sp>
        <p:nvSpPr>
          <p:cNvPr id="14" name="Text 12"/>
          <p:cNvSpPr/>
          <p:nvPr/>
        </p:nvSpPr>
        <p:spPr>
          <a:xfrm>
            <a:off x="3392424" y="960120"/>
            <a:ext cx="2404872" cy="402336"/>
          </a:xfrm>
          <a:prstGeom prst="rect">
            <a:avLst/>
          </a:prstGeom>
          <a:noFill/>
          <a:ln/>
        </p:spPr>
        <p:txBody>
          <a:bodyPr wrap="square" lIns="0" tIns="0" rIns="0" bIns="0"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During changes</a:t>
            </a:r>
            <a:endParaRPr lang="en-US" sz="1100" dirty="0"/>
          </a:p>
        </p:txBody>
      </p:sp>
      <p:sp>
        <p:nvSpPr>
          <p:cNvPr id="15" name="Text 13"/>
          <p:cNvSpPr/>
          <p:nvPr/>
        </p:nvSpPr>
        <p:spPr>
          <a:xfrm>
            <a:off x="3429000" y="1490472"/>
            <a:ext cx="2313432" cy="1353312"/>
          </a:xfrm>
          <a:prstGeom prst="rect">
            <a:avLst/>
          </a:prstGeom>
          <a:noFill/>
          <a:ln/>
        </p:spPr>
        <p:txBody>
          <a:bodyPr wrap="square" lIns="0" tIns="0" rIns="0" bIns="0" rtlCol="0" anchor="ctr"/>
          <a:lstStyle/>
          <a:p>
            <a:pPr marL="342900" indent="-342900">
              <a:spcAft>
                <a:spcPts val="700"/>
              </a:spcAft>
              <a:buSzPct val="100000"/>
              <a:buChar char="•"/>
            </a:pPr>
            <a:r>
              <a:rPr lang="en-US" sz="1000" dirty="0">
                <a:solidFill>
                  <a:srgbClr val="44546A"/>
                </a:solidFill>
                <a:latin typeface="Segoe UI" pitchFamily="34" charset="0"/>
                <a:ea typeface="Segoe UI" pitchFamily="34" charset="-122"/>
                <a:cs typeface="Segoe UI" pitchFamily="34" charset="-120"/>
              </a:rPr>
              <a:t>Version control checkpoints</a:t>
            </a:r>
            <a:endParaRPr lang="en-US" sz="1000" dirty="0"/>
          </a:p>
          <a:p>
            <a:pPr marL="342900" indent="-342900">
              <a:spcAft>
                <a:spcPts val="700"/>
              </a:spcAft>
              <a:buSzPct val="100000"/>
              <a:buChar char="•"/>
            </a:pPr>
            <a:r>
              <a:rPr lang="en-US" sz="1000" dirty="0">
                <a:solidFill>
                  <a:srgbClr val="44546A"/>
                </a:solidFill>
                <a:latin typeface="Segoe UI" pitchFamily="34" charset="0"/>
                <a:ea typeface="Segoe UI" pitchFamily="34" charset="-122"/>
                <a:cs typeface="Segoe UI" pitchFamily="34" charset="-120"/>
              </a:rPr>
              <a:t>Backup and rollback capability</a:t>
            </a:r>
            <a:endParaRPr lang="en-US" sz="1000" dirty="0"/>
          </a:p>
          <a:p>
            <a:pPr marL="342900" indent="-342900">
              <a:spcAft>
                <a:spcPts val="700"/>
              </a:spcAft>
              <a:buSzPct val="100000"/>
              <a:buChar char="•"/>
            </a:pPr>
            <a:r>
              <a:rPr lang="en-US" sz="1000" dirty="0">
                <a:solidFill>
                  <a:srgbClr val="44546A"/>
                </a:solidFill>
                <a:latin typeface="Segoe UI" pitchFamily="34" charset="0"/>
                <a:ea typeface="Segoe UI" pitchFamily="34" charset="-122"/>
                <a:cs typeface="Segoe UI" pitchFamily="34" charset="-120"/>
              </a:rPr>
              <a:t>Build validation after changes</a:t>
            </a:r>
            <a:endParaRPr lang="en-US" sz="1000" dirty="0"/>
          </a:p>
        </p:txBody>
      </p:sp>
      <p:sp>
        <p:nvSpPr>
          <p:cNvPr id="16" name="Governance card">
            <a:extLst>
              <a:ext uri="{C183D7F6-B498-43B3-948B-1728B52AA6E4}">
                <adec:decorative xmlns:adec="http://schemas.microsoft.com/office/drawing/2017/decorative" val="1"/>
              </a:ext>
            </a:extLst>
          </p:cNvPr>
          <p:cNvSpPr/>
          <p:nvPr/>
        </p:nvSpPr>
        <p:spPr>
          <a:xfrm>
            <a:off x="6044184" y="960120"/>
            <a:ext cx="2679192" cy="2011680"/>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17" name="Governance card header">
            <a:extLst>
              <a:ext uri="{C183D7F6-B498-43B3-948B-1728B52AA6E4}">
                <adec:decorative xmlns:adec="http://schemas.microsoft.com/office/drawing/2017/decorative" val="1"/>
              </a:ext>
            </a:extLst>
          </p:cNvPr>
          <p:cNvSpPr/>
          <p:nvPr/>
        </p:nvSpPr>
        <p:spPr>
          <a:xfrm>
            <a:off x="6044184" y="960120"/>
            <a:ext cx="2679192" cy="402336"/>
          </a:xfrm>
          <a:prstGeom prst="rect">
            <a:avLst/>
          </a:prstGeom>
          <a:solidFill>
            <a:srgbClr val="0E8F8F"/>
          </a:solidFill>
          <a:ln w="12700">
            <a:solidFill>
              <a:srgbClr val="0E8F8F"/>
            </a:solidFill>
            <a:prstDash val="solid"/>
          </a:ln>
        </p:spPr>
        <p:txBody>
          <a:bodyPr/>
          <a:lstStyle/>
          <a:p>
            <a:endParaRPr lang="en-US"/>
          </a:p>
        </p:txBody>
      </p:sp>
      <p:sp>
        <p:nvSpPr>
          <p:cNvPr id="18" name="Text 16"/>
          <p:cNvSpPr/>
          <p:nvPr/>
        </p:nvSpPr>
        <p:spPr>
          <a:xfrm>
            <a:off x="6208776" y="960120"/>
            <a:ext cx="2404872" cy="402336"/>
          </a:xfrm>
          <a:prstGeom prst="rect">
            <a:avLst/>
          </a:prstGeom>
          <a:noFill/>
          <a:ln/>
        </p:spPr>
        <p:txBody>
          <a:bodyPr wrap="square" lIns="0" tIns="0" rIns="0" bIns="0"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Before completion</a:t>
            </a:r>
            <a:endParaRPr lang="en-US" sz="1100" dirty="0"/>
          </a:p>
        </p:txBody>
      </p:sp>
      <p:sp>
        <p:nvSpPr>
          <p:cNvPr id="19" name="Text 17"/>
          <p:cNvSpPr/>
          <p:nvPr/>
        </p:nvSpPr>
        <p:spPr>
          <a:xfrm>
            <a:off x="6245352" y="1490472"/>
            <a:ext cx="2313432" cy="1353312"/>
          </a:xfrm>
          <a:prstGeom prst="rect">
            <a:avLst/>
          </a:prstGeom>
          <a:noFill/>
          <a:ln/>
        </p:spPr>
        <p:txBody>
          <a:bodyPr wrap="square" lIns="0" tIns="0" rIns="0" bIns="0" rtlCol="0" anchor="ctr"/>
          <a:lstStyle/>
          <a:p>
            <a:pPr marL="342900" indent="-342900">
              <a:spcAft>
                <a:spcPts val="700"/>
              </a:spcAft>
              <a:buSzPct val="100000"/>
              <a:buChar char="•"/>
            </a:pPr>
            <a:r>
              <a:rPr lang="en-US" sz="1000" dirty="0">
                <a:solidFill>
                  <a:srgbClr val="44546A"/>
                </a:solidFill>
                <a:latin typeface="Segoe UI" pitchFamily="34" charset="0"/>
                <a:ea typeface="Segoe UI" pitchFamily="34" charset="-122"/>
                <a:cs typeface="Segoe UI" pitchFamily="34" charset="-120"/>
              </a:rPr>
              <a:t>Test validation required</a:t>
            </a:r>
            <a:endParaRPr lang="en-US" sz="1000" dirty="0"/>
          </a:p>
          <a:p>
            <a:pPr marL="342900" indent="-342900">
              <a:spcAft>
                <a:spcPts val="700"/>
              </a:spcAft>
              <a:buSzPct val="100000"/>
              <a:buChar char="•"/>
            </a:pPr>
            <a:r>
              <a:rPr lang="en-US" sz="1000" dirty="0">
                <a:solidFill>
                  <a:srgbClr val="44546A"/>
                </a:solidFill>
                <a:latin typeface="Segoe UI" pitchFamily="34" charset="0"/>
                <a:ea typeface="Segoe UI" pitchFamily="34" charset="-122"/>
                <a:cs typeface="Segoe UI" pitchFamily="34" charset="-120"/>
              </a:rPr>
              <a:t>Human review for high-risk changes</a:t>
            </a:r>
            <a:endParaRPr lang="en-US" sz="1000" dirty="0"/>
          </a:p>
          <a:p>
            <a:pPr marL="342900" indent="-342900">
              <a:spcAft>
                <a:spcPts val="700"/>
              </a:spcAft>
              <a:buSzPct val="100000"/>
              <a:buChar char="•"/>
            </a:pPr>
            <a:r>
              <a:rPr lang="en-US" sz="1000" dirty="0">
                <a:solidFill>
                  <a:srgbClr val="44546A"/>
                </a:solidFill>
                <a:latin typeface="Segoe UI" pitchFamily="34" charset="0"/>
                <a:ea typeface="Segoe UI" pitchFamily="34" charset="-122"/>
                <a:cs typeface="Segoe UI" pitchFamily="34" charset="-120"/>
              </a:rPr>
              <a:t>Audit trail and change reports</a:t>
            </a:r>
            <a:endParaRPr lang="en-US" sz="1000" dirty="0"/>
          </a:p>
        </p:txBody>
      </p:sp>
      <p:sp>
        <p:nvSpPr>
          <p:cNvPr id="20" name="Deployment rule bar">
            <a:extLst>
              <a:ext uri="{C183D7F6-B498-43B3-948B-1728B52AA6E4}">
                <adec:decorative xmlns:adec="http://schemas.microsoft.com/office/drawing/2017/decorative" val="1"/>
              </a:ext>
            </a:extLst>
          </p:cNvPr>
          <p:cNvSpPr/>
          <p:nvPr/>
        </p:nvSpPr>
        <p:spPr>
          <a:xfrm>
            <a:off x="411480" y="3154680"/>
            <a:ext cx="8321040" cy="502920"/>
          </a:xfrm>
          <a:prstGeom prst="rect">
            <a:avLst/>
          </a:prstGeom>
          <a:solidFill>
            <a:srgbClr val="F6F9FD"/>
          </a:solidFill>
          <a:ln w="12700">
            <a:solidFill>
              <a:srgbClr val="D6E2F2"/>
            </a:solidFill>
            <a:prstDash val="solid"/>
          </a:ln>
        </p:spPr>
        <p:txBody>
          <a:bodyPr/>
          <a:lstStyle/>
          <a:p>
            <a:endParaRPr lang="en-US"/>
          </a:p>
        </p:txBody>
      </p:sp>
      <p:sp>
        <p:nvSpPr>
          <p:cNvPr id="21" name="Text 19"/>
          <p:cNvSpPr/>
          <p:nvPr/>
        </p:nvSpPr>
        <p:spPr>
          <a:xfrm>
            <a:off x="411480" y="3154680"/>
            <a:ext cx="8321040" cy="502920"/>
          </a:xfrm>
          <a:prstGeom prst="rect">
            <a:avLst/>
          </a:prstGeom>
          <a:noFill/>
          <a:ln/>
        </p:spPr>
        <p:txBody>
          <a:bodyPr wrap="square" lIns="0" tIns="0" rIns="0" bIns="0" rtlCol="0" anchor="ctr"/>
          <a:lstStyle/>
          <a:p>
            <a:pPr marL="0" indent="0" algn="ctr">
              <a:buNone/>
            </a:pPr>
            <a:r>
              <a:rPr lang="en-US" sz="1100" b="1" dirty="0">
                <a:solidFill>
                  <a:srgbClr val="0B4AA2"/>
                </a:solidFill>
                <a:latin typeface="Segoe UI" pitchFamily="34" charset="0"/>
                <a:ea typeface="Segoe UI" pitchFamily="34" charset="-122"/>
                <a:cs typeface="Segoe UI" pitchFamily="34" charset="-120"/>
              </a:rPr>
              <a:t>No unverified production deployment — automated changes never bypass the validation gates</a:t>
            </a:r>
            <a:endParaRPr lang="en-US" sz="1100" dirty="0"/>
          </a:p>
        </p:txBody>
      </p:sp>
      <p:sp>
        <p:nvSpPr>
          <p:cNvPr id="22" name="Key message banner">
            <a:extLst>
              <a:ext uri="{C183D7F6-B498-43B3-948B-1728B52AA6E4}">
                <adec:decorative xmlns:adec="http://schemas.microsoft.com/office/drawing/2017/decorative" val="1"/>
              </a:ext>
            </a:extLst>
          </p:cNvPr>
          <p:cNvSpPr/>
          <p:nvPr/>
        </p:nvSpPr>
        <p:spPr>
          <a:xfrm>
            <a:off x="411480" y="3785616"/>
            <a:ext cx="8321040" cy="658368"/>
          </a:xfrm>
          <a:prstGeom prst="rect">
            <a:avLst/>
          </a:prstGeom>
          <a:solidFill>
            <a:srgbClr val="0F2540"/>
          </a:solidFill>
          <a:ln w="12700">
            <a:solidFill>
              <a:srgbClr val="0F2540"/>
            </a:solidFill>
            <a:prstDash val="solid"/>
          </a:ln>
        </p:spPr>
        <p:txBody>
          <a:bodyPr/>
          <a:lstStyle/>
          <a:p>
            <a:endParaRPr lang="en-US"/>
          </a:p>
        </p:txBody>
      </p:sp>
      <p:sp>
        <p:nvSpPr>
          <p:cNvPr id="23" name="Text 21"/>
          <p:cNvSpPr/>
          <p:nvPr/>
        </p:nvSpPr>
        <p:spPr>
          <a:xfrm>
            <a:off x="411480" y="3785616"/>
            <a:ext cx="8321040" cy="658368"/>
          </a:xfrm>
          <a:prstGeom prst="rect">
            <a:avLst/>
          </a:prstGeom>
          <a:noFill/>
          <a:ln/>
        </p:spPr>
        <p:txBody>
          <a:bodyPr wrap="square" lIns="0" tIns="0" rIns="0" bIns="0" rtlCol="0" anchor="ctr"/>
          <a:lstStyle/>
          <a:p>
            <a:pPr marL="0" indent="0" algn="ctr">
              <a:buNone/>
            </a:pPr>
            <a:r>
              <a:rPr lang="en-US" sz="1350" b="1" dirty="0">
                <a:solidFill>
                  <a:srgbClr val="FFFFFF"/>
                </a:solidFill>
                <a:latin typeface="Segoe UI" pitchFamily="34" charset="0"/>
                <a:ea typeface="Segoe UI" pitchFamily="34" charset="-122"/>
                <a:cs typeface="Segoe UI" pitchFamily="34" charset="-120"/>
              </a:rPr>
              <a:t>Successful compilation alone does not guarantee functional correctness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F6FEB"/>
          </a:solidFill>
          <a:ln w="12700">
            <a:solidFill>
              <a:srgbClr val="1F6FEB"/>
            </a:solidFill>
            <a:prstDash val="solid"/>
          </a:ln>
        </p:spPr>
        <p:txBody>
          <a:bodyPr/>
          <a:lstStyle/>
          <a:p>
            <a:endParaRPr lang="en-US"/>
          </a:p>
        </p:txBody>
      </p:sp>
      <p:sp>
        <p:nvSpPr>
          <p:cNvPr id="3" name="Text 1"/>
          <p:cNvSpPr/>
          <p:nvPr/>
        </p:nvSpPr>
        <p:spPr>
          <a:xfrm>
            <a:off x="411480" y="237744"/>
            <a:ext cx="548640" cy="411480"/>
          </a:xfrm>
          <a:prstGeom prst="rect">
            <a:avLst/>
          </a:prstGeom>
          <a:noFill/>
          <a:ln/>
        </p:spPr>
        <p:txBody>
          <a:bodyPr wrap="square" lIns="0" tIns="0" rIns="0" bIns="0" rtlCol="0" anchor="ctr"/>
          <a:lstStyle/>
          <a:p>
            <a:pPr marL="0" indent="0">
              <a:buNone/>
            </a:pPr>
            <a:r>
              <a:rPr lang="en-US" sz="2000" b="1" dirty="0">
                <a:solidFill>
                  <a:srgbClr val="9DC2F5"/>
                </a:solidFill>
                <a:latin typeface="Segoe UI" pitchFamily="34" charset="0"/>
                <a:ea typeface="Segoe UI" pitchFamily="34" charset="-122"/>
                <a:cs typeface="Segoe UI" pitchFamily="34" charset="-120"/>
              </a:rPr>
              <a:t>11</a:t>
            </a:r>
            <a:endParaRPr lang="en-US" sz="2000" dirty="0"/>
          </a:p>
        </p:txBody>
      </p:sp>
      <p:sp>
        <p:nvSpPr>
          <p:cNvPr id="4" name="Text 2"/>
          <p:cNvSpPr/>
          <p:nvPr/>
        </p:nvSpPr>
        <p:spPr>
          <a:xfrm>
            <a:off x="960120" y="219456"/>
            <a:ext cx="5669280" cy="457200"/>
          </a:xfrm>
          <a:prstGeom prst="rect">
            <a:avLst/>
          </a:prstGeom>
          <a:noFill/>
          <a:ln/>
        </p:spPr>
        <p:txBody>
          <a:bodyPr wrap="square" lIns="0" tIns="0" rIns="0" bIns="0" rtlCol="0" anchor="ctr"/>
          <a:lstStyle/>
          <a:p>
            <a:pPr marL="0" indent="0">
              <a:buNone/>
            </a:pPr>
            <a:r>
              <a:rPr lang="en-US" sz="2400" b="1" dirty="0">
                <a:solidFill>
                  <a:srgbClr val="0F2540"/>
                </a:solidFill>
                <a:latin typeface="Segoe UI" pitchFamily="34" charset="0"/>
                <a:ea typeface="Segoe UI" pitchFamily="34" charset="-122"/>
                <a:cs typeface="Segoe UI" pitchFamily="34" charset="-120"/>
              </a:rPr>
              <a:t>Expected Benefits</a:t>
            </a:r>
            <a:endParaRPr lang="en-US" sz="2400" dirty="0"/>
          </a:p>
        </p:txBody>
      </p:sp>
      <p:sp>
        <p:nvSpPr>
          <p:cNvPr id="5" name="State label chip">
            <a:extLst>
              <a:ext uri="{C183D7F6-B498-43B3-948B-1728B52AA6E4}">
                <adec:decorative xmlns:adec="http://schemas.microsoft.com/office/drawing/2017/decorative" val="1"/>
              </a:ext>
            </a:extLst>
          </p:cNvPr>
          <p:cNvSpPr/>
          <p:nvPr/>
        </p:nvSpPr>
        <p:spPr>
          <a:xfrm>
            <a:off x="6812280" y="274320"/>
            <a:ext cx="1920240" cy="347472"/>
          </a:xfrm>
          <a:prstGeom prst="rect">
            <a:avLst/>
          </a:prstGeom>
          <a:solidFill>
            <a:srgbClr val="F3F6FA"/>
          </a:solidFill>
          <a:ln w="12700">
            <a:solidFill>
              <a:srgbClr val="44546A"/>
            </a:solidFill>
            <a:prstDash val="solid"/>
          </a:ln>
        </p:spPr>
        <p:txBody>
          <a:bodyPr/>
          <a:lstStyle/>
          <a:p>
            <a:endParaRPr lang="en-US"/>
          </a:p>
        </p:txBody>
      </p:sp>
      <p:sp>
        <p:nvSpPr>
          <p:cNvPr id="6" name="Text 4"/>
          <p:cNvSpPr/>
          <p:nvPr/>
        </p:nvSpPr>
        <p:spPr>
          <a:xfrm>
            <a:off x="6812280" y="274320"/>
            <a:ext cx="1920240" cy="347472"/>
          </a:xfrm>
          <a:prstGeom prst="rect">
            <a:avLst/>
          </a:prstGeom>
          <a:noFill/>
          <a:ln/>
        </p:spPr>
        <p:txBody>
          <a:bodyPr wrap="square" lIns="0" tIns="0" rIns="0" bIns="0" rtlCol="0" anchor="ctr"/>
          <a:lstStyle/>
          <a:p>
            <a:pPr marL="0" indent="0" algn="ctr">
              <a:buNone/>
            </a:pPr>
            <a:r>
              <a:rPr lang="en-US" sz="1000" b="1" kern="0" spc="150" dirty="0">
                <a:solidFill>
                  <a:srgbClr val="44546A"/>
                </a:solidFill>
                <a:latin typeface="Segoe UI" pitchFamily="34" charset="0"/>
                <a:ea typeface="Segoe UI" pitchFamily="34" charset="-122"/>
                <a:cs typeface="Segoe UI" pitchFamily="34" charset="-120"/>
              </a:rPr>
              <a:t>FUTURE VISION</a:t>
            </a:r>
            <a:endParaRPr lang="en-US" sz="1000" dirty="0"/>
          </a:p>
        </p:txBody>
      </p:sp>
      <p:sp>
        <p:nvSpPr>
          <p:cNvPr id="7" name="Header rule">
            <a:extLst>
              <a:ext uri="{C183D7F6-B498-43B3-948B-1728B52AA6E4}">
                <adec:decorative xmlns:adec="http://schemas.microsoft.com/office/drawing/2017/decorative" val="1"/>
              </a:ext>
            </a:extLst>
          </p:cNvPr>
          <p:cNvSpPr/>
          <p:nvPr/>
        </p:nvSpPr>
        <p:spPr>
          <a:xfrm>
            <a:off x="411480" y="768096"/>
            <a:ext cx="8321040" cy="0"/>
          </a:xfrm>
          <a:prstGeom prst="line">
            <a:avLst/>
          </a:prstGeom>
          <a:noFill/>
          <a:ln w="12700">
            <a:solidFill>
              <a:srgbClr val="D6E2F2"/>
            </a:solidFill>
            <a:prstDash val="solid"/>
          </a:ln>
        </p:spPr>
        <p:txBody>
          <a:bodyPr/>
          <a:lstStyle/>
          <a:p>
            <a:endParaRPr lang="en-US"/>
          </a:p>
        </p:txBody>
      </p:sp>
      <p:sp>
        <p:nvSpPr>
          <p:cNvPr id="8" name="Text 6"/>
          <p:cNvSpPr/>
          <p:nvPr/>
        </p:nvSpPr>
        <p:spPr>
          <a:xfrm>
            <a:off x="411480" y="877824"/>
            <a:ext cx="8321040" cy="274320"/>
          </a:xfrm>
          <a:prstGeom prst="rect">
            <a:avLst/>
          </a:prstGeom>
          <a:noFill/>
          <a:ln/>
        </p:spPr>
        <p:txBody>
          <a:bodyPr wrap="square" lIns="0" tIns="0" rIns="0" bIns="0" rtlCol="0" anchor="ctr"/>
          <a:lstStyle/>
          <a:p>
            <a:pPr marL="0" indent="0">
              <a:buNone/>
            </a:pPr>
            <a:r>
              <a:rPr lang="en-US" sz="1150" dirty="0">
                <a:solidFill>
                  <a:srgbClr val="44546A"/>
                </a:solidFill>
                <a:latin typeface="Segoe UI" pitchFamily="34" charset="0"/>
                <a:ea typeface="Segoe UI" pitchFamily="34" charset="-122"/>
                <a:cs typeface="Segoe UI" pitchFamily="34" charset="-120"/>
              </a:rPr>
              <a:t>Anticipated outcomes of the proposed platform — expected benefits, not measured results.</a:t>
            </a:r>
            <a:endParaRPr lang="en-US" sz="1150" dirty="0"/>
          </a:p>
        </p:txBody>
      </p:sp>
      <p:sp>
        <p:nvSpPr>
          <p:cNvPr id="9" name="Card container">
            <a:extLst>
              <a:ext uri="{C183D7F6-B498-43B3-948B-1728B52AA6E4}">
                <adec:decorative xmlns:adec="http://schemas.microsoft.com/office/drawing/2017/decorative" val="1"/>
              </a:ext>
            </a:extLst>
          </p:cNvPr>
          <p:cNvSpPr/>
          <p:nvPr/>
        </p:nvSpPr>
        <p:spPr>
          <a:xfrm>
            <a:off x="411480" y="1261872"/>
            <a:ext cx="2679192" cy="89611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10" name="Card accent">
            <a:extLst>
              <a:ext uri="{C183D7F6-B498-43B3-948B-1728B52AA6E4}">
                <adec:decorative xmlns:adec="http://schemas.microsoft.com/office/drawing/2017/decorative" val="1"/>
              </a:ext>
            </a:extLst>
          </p:cNvPr>
          <p:cNvSpPr/>
          <p:nvPr/>
        </p:nvSpPr>
        <p:spPr>
          <a:xfrm>
            <a:off x="411480" y="1261872"/>
            <a:ext cx="54864" cy="896112"/>
          </a:xfrm>
          <a:prstGeom prst="rect">
            <a:avLst/>
          </a:prstGeom>
          <a:solidFill>
            <a:srgbClr val="1F6FEB"/>
          </a:solidFill>
          <a:ln w="12700">
            <a:solidFill>
              <a:srgbClr val="1F6FEB"/>
            </a:solidFill>
            <a:prstDash val="solid"/>
          </a:ln>
        </p:spPr>
        <p:txBody>
          <a:bodyPr/>
          <a:lstStyle/>
          <a:p>
            <a:endParaRPr lang="en-US"/>
          </a:p>
        </p:txBody>
      </p:sp>
      <p:sp>
        <p:nvSpPr>
          <p:cNvPr id="11" name="Text 9"/>
          <p:cNvSpPr/>
          <p:nvPr/>
        </p:nvSpPr>
        <p:spPr>
          <a:xfrm>
            <a:off x="594360" y="1371600"/>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Reduced manual effort</a:t>
            </a:r>
            <a:endParaRPr lang="en-US" sz="1250" dirty="0"/>
          </a:p>
        </p:txBody>
      </p:sp>
      <p:sp>
        <p:nvSpPr>
          <p:cNvPr id="12" name="Text 10"/>
          <p:cNvSpPr/>
          <p:nvPr/>
        </p:nvSpPr>
        <p:spPr>
          <a:xfrm>
            <a:off x="594360" y="1682496"/>
            <a:ext cx="2359152" cy="36576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Less hand analysis of code and dependencies</a:t>
            </a:r>
            <a:endParaRPr lang="en-US" sz="950" dirty="0"/>
          </a:p>
        </p:txBody>
      </p:sp>
      <p:sp>
        <p:nvSpPr>
          <p:cNvPr id="13" name="Card container">
            <a:extLst>
              <a:ext uri="{C183D7F6-B498-43B3-948B-1728B52AA6E4}">
                <adec:decorative xmlns:adec="http://schemas.microsoft.com/office/drawing/2017/decorative" val="1"/>
              </a:ext>
            </a:extLst>
          </p:cNvPr>
          <p:cNvSpPr/>
          <p:nvPr/>
        </p:nvSpPr>
        <p:spPr>
          <a:xfrm>
            <a:off x="3227832" y="1261872"/>
            <a:ext cx="2679192" cy="89611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14" name="Card accent">
            <a:extLst>
              <a:ext uri="{C183D7F6-B498-43B3-948B-1728B52AA6E4}">
                <adec:decorative xmlns:adec="http://schemas.microsoft.com/office/drawing/2017/decorative" val="1"/>
              </a:ext>
            </a:extLst>
          </p:cNvPr>
          <p:cNvSpPr/>
          <p:nvPr/>
        </p:nvSpPr>
        <p:spPr>
          <a:xfrm>
            <a:off x="3227832" y="1261872"/>
            <a:ext cx="54864" cy="896112"/>
          </a:xfrm>
          <a:prstGeom prst="rect">
            <a:avLst/>
          </a:prstGeom>
          <a:solidFill>
            <a:srgbClr val="0B4AA2"/>
          </a:solidFill>
          <a:ln w="12700">
            <a:solidFill>
              <a:srgbClr val="0B4AA2"/>
            </a:solidFill>
            <a:prstDash val="solid"/>
          </a:ln>
        </p:spPr>
        <p:txBody>
          <a:bodyPr/>
          <a:lstStyle/>
          <a:p>
            <a:endParaRPr lang="en-US"/>
          </a:p>
        </p:txBody>
      </p:sp>
      <p:sp>
        <p:nvSpPr>
          <p:cNvPr id="15" name="Text 13"/>
          <p:cNvSpPr/>
          <p:nvPr/>
        </p:nvSpPr>
        <p:spPr>
          <a:xfrm>
            <a:off x="3410712" y="1371600"/>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Faster assessment</a:t>
            </a:r>
            <a:endParaRPr lang="en-US" sz="1250" dirty="0"/>
          </a:p>
        </p:txBody>
      </p:sp>
      <p:sp>
        <p:nvSpPr>
          <p:cNvPr id="16" name="Text 14"/>
          <p:cNvSpPr/>
          <p:nvPr/>
        </p:nvSpPr>
        <p:spPr>
          <a:xfrm>
            <a:off x="3410712" y="1682496"/>
            <a:ext cx="2359152" cy="36576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Modernization findings in minutes, not weeks</a:t>
            </a:r>
            <a:endParaRPr lang="en-US" sz="950" dirty="0"/>
          </a:p>
        </p:txBody>
      </p:sp>
      <p:sp>
        <p:nvSpPr>
          <p:cNvPr id="17" name="Card container">
            <a:extLst>
              <a:ext uri="{C183D7F6-B498-43B3-948B-1728B52AA6E4}">
                <adec:decorative xmlns:adec="http://schemas.microsoft.com/office/drawing/2017/decorative" val="1"/>
              </a:ext>
            </a:extLst>
          </p:cNvPr>
          <p:cNvSpPr/>
          <p:nvPr/>
        </p:nvSpPr>
        <p:spPr>
          <a:xfrm>
            <a:off x="6044184" y="1261872"/>
            <a:ext cx="2679192" cy="89611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18" name="Card accent">
            <a:extLst>
              <a:ext uri="{C183D7F6-B498-43B3-948B-1728B52AA6E4}">
                <adec:decorative xmlns:adec="http://schemas.microsoft.com/office/drawing/2017/decorative" val="1"/>
              </a:ext>
            </a:extLst>
          </p:cNvPr>
          <p:cNvSpPr/>
          <p:nvPr/>
        </p:nvSpPr>
        <p:spPr>
          <a:xfrm>
            <a:off x="6044184" y="1261872"/>
            <a:ext cx="54864" cy="896112"/>
          </a:xfrm>
          <a:prstGeom prst="rect">
            <a:avLst/>
          </a:prstGeom>
          <a:solidFill>
            <a:srgbClr val="0E8F8F"/>
          </a:solidFill>
          <a:ln w="12700">
            <a:solidFill>
              <a:srgbClr val="0E8F8F"/>
            </a:solidFill>
            <a:prstDash val="solid"/>
          </a:ln>
        </p:spPr>
        <p:txBody>
          <a:bodyPr/>
          <a:lstStyle/>
          <a:p>
            <a:endParaRPr lang="en-US"/>
          </a:p>
        </p:txBody>
      </p:sp>
      <p:sp>
        <p:nvSpPr>
          <p:cNvPr id="19" name="Text 17"/>
          <p:cNvSpPr/>
          <p:nvPr/>
        </p:nvSpPr>
        <p:spPr>
          <a:xfrm>
            <a:off x="6227064" y="1371600"/>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Better code visibility</a:t>
            </a:r>
            <a:endParaRPr lang="en-US" sz="1250" dirty="0"/>
          </a:p>
        </p:txBody>
      </p:sp>
      <p:sp>
        <p:nvSpPr>
          <p:cNvPr id="20" name="Text 18"/>
          <p:cNvSpPr/>
          <p:nvPr/>
        </p:nvSpPr>
        <p:spPr>
          <a:xfrm>
            <a:off x="6227064" y="1682496"/>
            <a:ext cx="2359152" cy="36576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Clear view of legacy technologies in use</a:t>
            </a:r>
            <a:endParaRPr lang="en-US" sz="950" dirty="0"/>
          </a:p>
        </p:txBody>
      </p:sp>
      <p:sp>
        <p:nvSpPr>
          <p:cNvPr id="21" name="Card container">
            <a:extLst>
              <a:ext uri="{C183D7F6-B498-43B3-948B-1728B52AA6E4}">
                <adec:decorative xmlns:adec="http://schemas.microsoft.com/office/drawing/2017/decorative" val="1"/>
              </a:ext>
            </a:extLst>
          </p:cNvPr>
          <p:cNvSpPr/>
          <p:nvPr/>
        </p:nvSpPr>
        <p:spPr>
          <a:xfrm>
            <a:off x="411480" y="2304288"/>
            <a:ext cx="2679192" cy="89611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22" name="Card accent">
            <a:extLst>
              <a:ext uri="{C183D7F6-B498-43B3-948B-1728B52AA6E4}">
                <adec:decorative xmlns:adec="http://schemas.microsoft.com/office/drawing/2017/decorative" val="1"/>
              </a:ext>
            </a:extLst>
          </p:cNvPr>
          <p:cNvSpPr/>
          <p:nvPr/>
        </p:nvSpPr>
        <p:spPr>
          <a:xfrm>
            <a:off x="411480" y="2304288"/>
            <a:ext cx="54864" cy="896112"/>
          </a:xfrm>
          <a:prstGeom prst="rect">
            <a:avLst/>
          </a:prstGeom>
          <a:solidFill>
            <a:srgbClr val="1F6FEB"/>
          </a:solidFill>
          <a:ln w="12700">
            <a:solidFill>
              <a:srgbClr val="1F6FEB"/>
            </a:solidFill>
            <a:prstDash val="solid"/>
          </a:ln>
        </p:spPr>
        <p:txBody>
          <a:bodyPr/>
          <a:lstStyle/>
          <a:p>
            <a:endParaRPr lang="en-US"/>
          </a:p>
        </p:txBody>
      </p:sp>
      <p:sp>
        <p:nvSpPr>
          <p:cNvPr id="23" name="Text 21"/>
          <p:cNvSpPr/>
          <p:nvPr/>
        </p:nvSpPr>
        <p:spPr>
          <a:xfrm>
            <a:off x="594360" y="2414016"/>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Reusable capabilities</a:t>
            </a:r>
            <a:endParaRPr lang="en-US" sz="1250" dirty="0"/>
          </a:p>
        </p:txBody>
      </p:sp>
      <p:sp>
        <p:nvSpPr>
          <p:cNvPr id="24" name="Text 22"/>
          <p:cNvSpPr/>
          <p:nvPr/>
        </p:nvSpPr>
        <p:spPr>
          <a:xfrm>
            <a:off x="594360" y="2724912"/>
            <a:ext cx="2359152" cy="36576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Security and testing usable across projects</a:t>
            </a:r>
            <a:endParaRPr lang="en-US" sz="950" dirty="0"/>
          </a:p>
        </p:txBody>
      </p:sp>
      <p:sp>
        <p:nvSpPr>
          <p:cNvPr id="25" name="Card container">
            <a:extLst>
              <a:ext uri="{C183D7F6-B498-43B3-948B-1728B52AA6E4}">
                <adec:decorative xmlns:adec="http://schemas.microsoft.com/office/drawing/2017/decorative" val="1"/>
              </a:ext>
            </a:extLst>
          </p:cNvPr>
          <p:cNvSpPr/>
          <p:nvPr/>
        </p:nvSpPr>
        <p:spPr>
          <a:xfrm>
            <a:off x="3227832" y="2304288"/>
            <a:ext cx="2679192" cy="89611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26" name="Card accent">
            <a:extLst>
              <a:ext uri="{C183D7F6-B498-43B3-948B-1728B52AA6E4}">
                <adec:decorative xmlns:adec="http://schemas.microsoft.com/office/drawing/2017/decorative" val="1"/>
              </a:ext>
            </a:extLst>
          </p:cNvPr>
          <p:cNvSpPr/>
          <p:nvPr/>
        </p:nvSpPr>
        <p:spPr>
          <a:xfrm>
            <a:off x="3227832" y="2304288"/>
            <a:ext cx="54864" cy="896112"/>
          </a:xfrm>
          <a:prstGeom prst="rect">
            <a:avLst/>
          </a:prstGeom>
          <a:solidFill>
            <a:srgbClr val="0B4AA2"/>
          </a:solidFill>
          <a:ln w="12700">
            <a:solidFill>
              <a:srgbClr val="0B4AA2"/>
            </a:solidFill>
            <a:prstDash val="solid"/>
          </a:ln>
        </p:spPr>
        <p:txBody>
          <a:bodyPr/>
          <a:lstStyle/>
          <a:p>
            <a:endParaRPr lang="en-US"/>
          </a:p>
        </p:txBody>
      </p:sp>
      <p:sp>
        <p:nvSpPr>
          <p:cNvPr id="27" name="Text 25"/>
          <p:cNvSpPr/>
          <p:nvPr/>
        </p:nvSpPr>
        <p:spPr>
          <a:xfrm>
            <a:off x="3410712" y="2414016"/>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Structured planning</a:t>
            </a:r>
            <a:endParaRPr lang="en-US" sz="1250" dirty="0"/>
          </a:p>
        </p:txBody>
      </p:sp>
      <p:sp>
        <p:nvSpPr>
          <p:cNvPr id="28" name="Text 26"/>
          <p:cNvSpPr/>
          <p:nvPr/>
        </p:nvSpPr>
        <p:spPr>
          <a:xfrm>
            <a:off x="3410712" y="2724912"/>
            <a:ext cx="2359152" cy="36576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Phased, dependency-aware migration plans</a:t>
            </a:r>
            <a:endParaRPr lang="en-US" sz="950" dirty="0"/>
          </a:p>
        </p:txBody>
      </p:sp>
      <p:sp>
        <p:nvSpPr>
          <p:cNvPr id="29" name="Card container">
            <a:extLst>
              <a:ext uri="{C183D7F6-B498-43B3-948B-1728B52AA6E4}">
                <adec:decorative xmlns:adec="http://schemas.microsoft.com/office/drawing/2017/decorative" val="1"/>
              </a:ext>
            </a:extLst>
          </p:cNvPr>
          <p:cNvSpPr/>
          <p:nvPr/>
        </p:nvSpPr>
        <p:spPr>
          <a:xfrm>
            <a:off x="6044184" y="2304288"/>
            <a:ext cx="2679192" cy="89611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30" name="Card accent">
            <a:extLst>
              <a:ext uri="{C183D7F6-B498-43B3-948B-1728B52AA6E4}">
                <adec:decorative xmlns:adec="http://schemas.microsoft.com/office/drawing/2017/decorative" val="1"/>
              </a:ext>
            </a:extLst>
          </p:cNvPr>
          <p:cNvSpPr/>
          <p:nvPr/>
        </p:nvSpPr>
        <p:spPr>
          <a:xfrm>
            <a:off x="6044184" y="2304288"/>
            <a:ext cx="54864" cy="896112"/>
          </a:xfrm>
          <a:prstGeom prst="rect">
            <a:avLst/>
          </a:prstGeom>
          <a:solidFill>
            <a:srgbClr val="0E8F8F"/>
          </a:solidFill>
          <a:ln w="12700">
            <a:solidFill>
              <a:srgbClr val="0E8F8F"/>
            </a:solidFill>
            <a:prstDash val="solid"/>
          </a:ln>
        </p:spPr>
        <p:txBody>
          <a:bodyPr/>
          <a:lstStyle/>
          <a:p>
            <a:endParaRPr lang="en-US"/>
          </a:p>
        </p:txBody>
      </p:sp>
      <p:sp>
        <p:nvSpPr>
          <p:cNvPr id="31" name="Text 29"/>
          <p:cNvSpPr/>
          <p:nvPr/>
        </p:nvSpPr>
        <p:spPr>
          <a:xfrm>
            <a:off x="6227064" y="2414016"/>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Traceable transformation</a:t>
            </a:r>
            <a:endParaRPr lang="en-US" sz="1250" dirty="0"/>
          </a:p>
        </p:txBody>
      </p:sp>
      <p:sp>
        <p:nvSpPr>
          <p:cNvPr id="32" name="Text 30"/>
          <p:cNvSpPr/>
          <p:nvPr/>
        </p:nvSpPr>
        <p:spPr>
          <a:xfrm>
            <a:off x="6227064" y="2724912"/>
            <a:ext cx="2359152" cy="36576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Every change logged and reviewable</a:t>
            </a:r>
            <a:endParaRPr lang="en-US" sz="950" dirty="0"/>
          </a:p>
        </p:txBody>
      </p:sp>
      <p:sp>
        <p:nvSpPr>
          <p:cNvPr id="33" name="Card container">
            <a:extLst>
              <a:ext uri="{C183D7F6-B498-43B3-948B-1728B52AA6E4}">
                <adec:decorative xmlns:adec="http://schemas.microsoft.com/office/drawing/2017/decorative" val="1"/>
              </a:ext>
            </a:extLst>
          </p:cNvPr>
          <p:cNvSpPr/>
          <p:nvPr/>
        </p:nvSpPr>
        <p:spPr>
          <a:xfrm>
            <a:off x="411480" y="3346704"/>
            <a:ext cx="2679192" cy="89611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34" name="Card accent">
            <a:extLst>
              <a:ext uri="{C183D7F6-B498-43B3-948B-1728B52AA6E4}">
                <adec:decorative xmlns:adec="http://schemas.microsoft.com/office/drawing/2017/decorative" val="1"/>
              </a:ext>
            </a:extLst>
          </p:cNvPr>
          <p:cNvSpPr/>
          <p:nvPr/>
        </p:nvSpPr>
        <p:spPr>
          <a:xfrm>
            <a:off x="411480" y="3346704"/>
            <a:ext cx="54864" cy="896112"/>
          </a:xfrm>
          <a:prstGeom prst="rect">
            <a:avLst/>
          </a:prstGeom>
          <a:solidFill>
            <a:srgbClr val="1F6FEB"/>
          </a:solidFill>
          <a:ln w="12700">
            <a:solidFill>
              <a:srgbClr val="1F6FEB"/>
            </a:solidFill>
            <a:prstDash val="solid"/>
          </a:ln>
        </p:spPr>
        <p:txBody>
          <a:bodyPr/>
          <a:lstStyle/>
          <a:p>
            <a:endParaRPr lang="en-US"/>
          </a:p>
        </p:txBody>
      </p:sp>
      <p:sp>
        <p:nvSpPr>
          <p:cNvPr id="35" name="Text 33"/>
          <p:cNvSpPr/>
          <p:nvPr/>
        </p:nvSpPr>
        <p:spPr>
          <a:xfrm>
            <a:off x="594360" y="3456432"/>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Automated build verification</a:t>
            </a:r>
            <a:endParaRPr lang="en-US" sz="1250" dirty="0"/>
          </a:p>
        </p:txBody>
      </p:sp>
      <p:sp>
        <p:nvSpPr>
          <p:cNvPr id="36" name="Text 34"/>
          <p:cNvSpPr/>
          <p:nvPr/>
        </p:nvSpPr>
        <p:spPr>
          <a:xfrm>
            <a:off x="594360" y="3767328"/>
            <a:ext cx="2359152" cy="36576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Build-and-fix cycle under safety controls</a:t>
            </a:r>
            <a:endParaRPr lang="en-US" sz="950" dirty="0"/>
          </a:p>
        </p:txBody>
      </p:sp>
      <p:sp>
        <p:nvSpPr>
          <p:cNvPr id="37" name="Card container">
            <a:extLst>
              <a:ext uri="{C183D7F6-B498-43B3-948B-1728B52AA6E4}">
                <adec:decorative xmlns:adec="http://schemas.microsoft.com/office/drawing/2017/decorative" val="1"/>
              </a:ext>
            </a:extLst>
          </p:cNvPr>
          <p:cNvSpPr/>
          <p:nvPr/>
        </p:nvSpPr>
        <p:spPr>
          <a:xfrm>
            <a:off x="3227832" y="3346704"/>
            <a:ext cx="2679192" cy="89611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38" name="Card accent">
            <a:extLst>
              <a:ext uri="{C183D7F6-B498-43B3-948B-1728B52AA6E4}">
                <adec:decorative xmlns:adec="http://schemas.microsoft.com/office/drawing/2017/decorative" val="1"/>
              </a:ext>
            </a:extLst>
          </p:cNvPr>
          <p:cNvSpPr/>
          <p:nvPr/>
        </p:nvSpPr>
        <p:spPr>
          <a:xfrm>
            <a:off x="3227832" y="3346704"/>
            <a:ext cx="54864" cy="896112"/>
          </a:xfrm>
          <a:prstGeom prst="rect">
            <a:avLst/>
          </a:prstGeom>
          <a:solidFill>
            <a:srgbClr val="0B4AA2"/>
          </a:solidFill>
          <a:ln w="12700">
            <a:solidFill>
              <a:srgbClr val="0B4AA2"/>
            </a:solidFill>
            <a:prstDash val="solid"/>
          </a:ln>
        </p:spPr>
        <p:txBody>
          <a:bodyPr/>
          <a:lstStyle/>
          <a:p>
            <a:endParaRPr lang="en-US"/>
          </a:p>
        </p:txBody>
      </p:sp>
      <p:sp>
        <p:nvSpPr>
          <p:cNvPr id="39" name="Text 37"/>
          <p:cNvSpPr/>
          <p:nvPr/>
        </p:nvSpPr>
        <p:spPr>
          <a:xfrm>
            <a:off x="3410712" y="3456432"/>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Regression detection</a:t>
            </a:r>
            <a:endParaRPr lang="en-US" sz="1250" dirty="0"/>
          </a:p>
        </p:txBody>
      </p:sp>
      <p:sp>
        <p:nvSpPr>
          <p:cNvPr id="40" name="Text 38"/>
          <p:cNvSpPr/>
          <p:nvPr/>
        </p:nvSpPr>
        <p:spPr>
          <a:xfrm>
            <a:off x="3410712" y="3767328"/>
            <a:ext cx="2359152" cy="36576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Baseline vs. post-migration comparison</a:t>
            </a:r>
            <a:endParaRPr lang="en-US" sz="950" dirty="0"/>
          </a:p>
        </p:txBody>
      </p:sp>
      <p:sp>
        <p:nvSpPr>
          <p:cNvPr id="41" name="Card container">
            <a:extLst>
              <a:ext uri="{C183D7F6-B498-43B3-948B-1728B52AA6E4}">
                <adec:decorative xmlns:adec="http://schemas.microsoft.com/office/drawing/2017/decorative" val="1"/>
              </a:ext>
            </a:extLst>
          </p:cNvPr>
          <p:cNvSpPr/>
          <p:nvPr/>
        </p:nvSpPr>
        <p:spPr>
          <a:xfrm>
            <a:off x="6044184" y="3346704"/>
            <a:ext cx="2679192" cy="896112"/>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42" name="Card accent">
            <a:extLst>
              <a:ext uri="{C183D7F6-B498-43B3-948B-1728B52AA6E4}">
                <adec:decorative xmlns:adec="http://schemas.microsoft.com/office/drawing/2017/decorative" val="1"/>
              </a:ext>
            </a:extLst>
          </p:cNvPr>
          <p:cNvSpPr/>
          <p:nvPr/>
        </p:nvSpPr>
        <p:spPr>
          <a:xfrm>
            <a:off x="6044184" y="3346704"/>
            <a:ext cx="54864" cy="896112"/>
          </a:xfrm>
          <a:prstGeom prst="rect">
            <a:avLst/>
          </a:prstGeom>
          <a:solidFill>
            <a:srgbClr val="0E8F8F"/>
          </a:solidFill>
          <a:ln w="12700">
            <a:solidFill>
              <a:srgbClr val="0E8F8F"/>
            </a:solidFill>
            <a:prstDash val="solid"/>
          </a:ln>
        </p:spPr>
        <p:txBody>
          <a:bodyPr/>
          <a:lstStyle/>
          <a:p>
            <a:endParaRPr lang="en-US"/>
          </a:p>
        </p:txBody>
      </p:sp>
      <p:sp>
        <p:nvSpPr>
          <p:cNvPr id="43" name="Text 41"/>
          <p:cNvSpPr/>
          <p:nvPr/>
        </p:nvSpPr>
        <p:spPr>
          <a:xfrm>
            <a:off x="6227064" y="3456432"/>
            <a:ext cx="2359152" cy="292608"/>
          </a:xfrm>
          <a:prstGeom prst="rect">
            <a:avLst/>
          </a:prstGeom>
          <a:noFill/>
          <a:ln/>
        </p:spPr>
        <p:txBody>
          <a:bodyPr wrap="square" lIns="0" tIns="0" rIns="0" bIns="0" rtlCol="0" anchor="ctr"/>
          <a:lstStyle/>
          <a:p>
            <a:pPr marL="0" indent="0">
              <a:buNone/>
            </a:pPr>
            <a:r>
              <a:rPr lang="en-US" sz="1250" b="1" dirty="0">
                <a:solidFill>
                  <a:srgbClr val="0F2540"/>
                </a:solidFill>
                <a:latin typeface="Segoe UI" pitchFamily="34" charset="0"/>
                <a:ea typeface="Segoe UI" pitchFamily="34" charset="-122"/>
                <a:cs typeface="Segoe UI" pitchFamily="34" charset="-120"/>
              </a:rPr>
              <a:t>Extensible architecture</a:t>
            </a:r>
            <a:endParaRPr lang="en-US" sz="1250" dirty="0"/>
          </a:p>
        </p:txBody>
      </p:sp>
      <p:sp>
        <p:nvSpPr>
          <p:cNvPr id="44" name="Text 42"/>
          <p:cNvSpPr/>
          <p:nvPr/>
        </p:nvSpPr>
        <p:spPr>
          <a:xfrm>
            <a:off x="6227064" y="3767328"/>
            <a:ext cx="2359152" cy="365760"/>
          </a:xfrm>
          <a:prstGeom prst="rect">
            <a:avLst/>
          </a:prstGeom>
          <a:noFill/>
          <a:ln/>
        </p:spPr>
        <p:txBody>
          <a:bodyPr wrap="square" lIns="0" tIns="0" rIns="0" bIns="0" rtlCol="0" anchor="ctr"/>
          <a:lstStyle/>
          <a:p>
            <a:pPr marL="0" indent="0">
              <a:lnSpc>
                <a:spcPct val="120000"/>
              </a:lnSpc>
              <a:buNone/>
            </a:pPr>
            <a:r>
              <a:rPr lang="en-US" sz="950" dirty="0">
                <a:solidFill>
                  <a:srgbClr val="44546A"/>
                </a:solidFill>
                <a:latin typeface="Segoe UI" pitchFamily="34" charset="0"/>
                <a:ea typeface="Segoe UI" pitchFamily="34" charset="-122"/>
                <a:cs typeface="Segoe UI" pitchFamily="34" charset="-120"/>
              </a:rPr>
              <a:t>Adapts to different modernization scenarios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F6FEB"/>
          </a:solidFill>
          <a:ln w="12700">
            <a:solidFill>
              <a:srgbClr val="1F6FEB"/>
            </a:solidFill>
            <a:prstDash val="solid"/>
          </a:ln>
        </p:spPr>
        <p:txBody>
          <a:bodyPr/>
          <a:lstStyle/>
          <a:p>
            <a:endParaRPr lang="en-US"/>
          </a:p>
        </p:txBody>
      </p:sp>
      <p:sp>
        <p:nvSpPr>
          <p:cNvPr id="3" name="Text 1"/>
          <p:cNvSpPr/>
          <p:nvPr/>
        </p:nvSpPr>
        <p:spPr>
          <a:xfrm>
            <a:off x="411480" y="237744"/>
            <a:ext cx="548640" cy="411480"/>
          </a:xfrm>
          <a:prstGeom prst="rect">
            <a:avLst/>
          </a:prstGeom>
          <a:noFill/>
          <a:ln/>
        </p:spPr>
        <p:txBody>
          <a:bodyPr wrap="square" lIns="0" tIns="0" rIns="0" bIns="0" rtlCol="0" anchor="ctr"/>
          <a:lstStyle/>
          <a:p>
            <a:pPr marL="0" indent="0">
              <a:buNone/>
            </a:pPr>
            <a:r>
              <a:rPr lang="en-US" sz="2000" b="1" dirty="0">
                <a:solidFill>
                  <a:srgbClr val="9DC2F5"/>
                </a:solidFill>
                <a:latin typeface="Segoe UI" pitchFamily="34" charset="0"/>
                <a:ea typeface="Segoe UI" pitchFamily="34" charset="-122"/>
                <a:cs typeface="Segoe UI" pitchFamily="34" charset="-120"/>
              </a:rPr>
              <a:t>12</a:t>
            </a:r>
            <a:endParaRPr lang="en-US" sz="2000" dirty="0"/>
          </a:p>
        </p:txBody>
      </p:sp>
      <p:sp>
        <p:nvSpPr>
          <p:cNvPr id="4" name="Text 2"/>
          <p:cNvSpPr/>
          <p:nvPr/>
        </p:nvSpPr>
        <p:spPr>
          <a:xfrm>
            <a:off x="960120" y="219456"/>
            <a:ext cx="7772400" cy="457200"/>
          </a:xfrm>
          <a:prstGeom prst="rect">
            <a:avLst/>
          </a:prstGeom>
          <a:noFill/>
          <a:ln/>
        </p:spPr>
        <p:txBody>
          <a:bodyPr wrap="square" lIns="0" tIns="0" rIns="0" bIns="0" rtlCol="0" anchor="ctr"/>
          <a:lstStyle/>
          <a:p>
            <a:pPr marL="0" indent="0">
              <a:buNone/>
            </a:pPr>
            <a:r>
              <a:rPr lang="en-US" sz="2400" b="1" dirty="0">
                <a:solidFill>
                  <a:srgbClr val="0F2540"/>
                </a:solidFill>
                <a:latin typeface="Segoe UI" pitchFamily="34" charset="0"/>
                <a:ea typeface="Segoe UI" pitchFamily="34" charset="-122"/>
                <a:cs typeface="Segoe UI" pitchFamily="34" charset="-120"/>
              </a:rPr>
              <a:t>Roadmap and Next Steps</a:t>
            </a:r>
            <a:endParaRPr lang="en-US" sz="2400" dirty="0"/>
          </a:p>
        </p:txBody>
      </p:sp>
      <p:sp>
        <p:nvSpPr>
          <p:cNvPr id="5" name="Header rule">
            <a:extLst>
              <a:ext uri="{C183D7F6-B498-43B3-948B-1728B52AA6E4}">
                <adec:decorative xmlns:adec="http://schemas.microsoft.com/office/drawing/2017/decorative" val="1"/>
              </a:ext>
            </a:extLst>
          </p:cNvPr>
          <p:cNvSpPr/>
          <p:nvPr/>
        </p:nvSpPr>
        <p:spPr>
          <a:xfrm>
            <a:off x="411480" y="768096"/>
            <a:ext cx="8321040" cy="0"/>
          </a:xfrm>
          <a:prstGeom prst="line">
            <a:avLst/>
          </a:prstGeom>
          <a:noFill/>
          <a:ln w="12700">
            <a:solidFill>
              <a:srgbClr val="D6E2F2"/>
            </a:solidFill>
            <a:prstDash val="solid"/>
          </a:ln>
        </p:spPr>
        <p:txBody>
          <a:bodyPr/>
          <a:lstStyle/>
          <a:p>
            <a:endParaRPr lang="en-US"/>
          </a:p>
        </p:txBody>
      </p:sp>
      <p:sp>
        <p:nvSpPr>
          <p:cNvPr id="6" name="Roadmap timeline">
            <a:extLst>
              <a:ext uri="{C183D7F6-B498-43B3-948B-1728B52AA6E4}">
                <adec:decorative xmlns:adec="http://schemas.microsoft.com/office/drawing/2017/decorative" val="1"/>
              </a:ext>
            </a:extLst>
          </p:cNvPr>
          <p:cNvSpPr/>
          <p:nvPr/>
        </p:nvSpPr>
        <p:spPr>
          <a:xfrm>
            <a:off x="411480" y="1115568"/>
            <a:ext cx="8321040" cy="0"/>
          </a:xfrm>
          <a:prstGeom prst="line">
            <a:avLst/>
          </a:prstGeom>
          <a:noFill/>
          <a:ln w="25400">
            <a:solidFill>
              <a:srgbClr val="D6E2F2"/>
            </a:solidFill>
            <a:prstDash val="solid"/>
          </a:ln>
        </p:spPr>
        <p:txBody>
          <a:bodyPr/>
          <a:lstStyle/>
          <a:p>
            <a:endParaRPr lang="en-US"/>
          </a:p>
        </p:txBody>
      </p:sp>
      <p:sp>
        <p:nvSpPr>
          <p:cNvPr id="7" name="Timeline node">
            <a:extLst>
              <a:ext uri="{C183D7F6-B498-43B3-948B-1728B52AA6E4}">
                <adec:decorative xmlns:adec="http://schemas.microsoft.com/office/drawing/2017/decorative" val="1"/>
              </a:ext>
            </a:extLst>
          </p:cNvPr>
          <p:cNvSpPr/>
          <p:nvPr/>
        </p:nvSpPr>
        <p:spPr>
          <a:xfrm>
            <a:off x="1152144" y="1042416"/>
            <a:ext cx="146304" cy="146304"/>
          </a:xfrm>
          <a:prstGeom prst="ellipse">
            <a:avLst/>
          </a:prstGeom>
          <a:solidFill>
            <a:srgbClr val="0B4AA2"/>
          </a:solidFill>
          <a:ln w="12700">
            <a:solidFill>
              <a:srgbClr val="0B4AA2"/>
            </a:solidFill>
            <a:prstDash val="solid"/>
          </a:ln>
        </p:spPr>
        <p:txBody>
          <a:bodyPr/>
          <a:lstStyle/>
          <a:p>
            <a:endParaRPr lang="en-US"/>
          </a:p>
        </p:txBody>
      </p:sp>
      <p:sp>
        <p:nvSpPr>
          <p:cNvPr id="8" name="Phase card">
            <a:extLst>
              <a:ext uri="{C183D7F6-B498-43B3-948B-1728B52AA6E4}">
                <adec:decorative xmlns:adec="http://schemas.microsoft.com/office/drawing/2017/decorative" val="1"/>
              </a:ext>
            </a:extLst>
          </p:cNvPr>
          <p:cNvSpPr/>
          <p:nvPr/>
        </p:nvSpPr>
        <p:spPr>
          <a:xfrm>
            <a:off x="411480" y="1325880"/>
            <a:ext cx="1627632" cy="2286000"/>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9" name="Phase card header">
            <a:extLst>
              <a:ext uri="{C183D7F6-B498-43B3-948B-1728B52AA6E4}">
                <adec:decorative xmlns:adec="http://schemas.microsoft.com/office/drawing/2017/decorative" val="1"/>
              </a:ext>
            </a:extLst>
          </p:cNvPr>
          <p:cNvSpPr/>
          <p:nvPr/>
        </p:nvSpPr>
        <p:spPr>
          <a:xfrm>
            <a:off x="411480" y="1325880"/>
            <a:ext cx="1627632" cy="694944"/>
          </a:xfrm>
          <a:prstGeom prst="rect">
            <a:avLst/>
          </a:prstGeom>
          <a:solidFill>
            <a:srgbClr val="0B4AA2"/>
          </a:solidFill>
          <a:ln w="12700">
            <a:solidFill>
              <a:srgbClr val="0B4AA2"/>
            </a:solidFill>
            <a:prstDash val="solid"/>
          </a:ln>
        </p:spPr>
        <p:txBody>
          <a:bodyPr/>
          <a:lstStyle/>
          <a:p>
            <a:endParaRPr lang="en-US"/>
          </a:p>
        </p:txBody>
      </p:sp>
      <p:sp>
        <p:nvSpPr>
          <p:cNvPr id="10" name="Text 8"/>
          <p:cNvSpPr/>
          <p:nvPr/>
        </p:nvSpPr>
        <p:spPr>
          <a:xfrm>
            <a:off x="502920" y="1380744"/>
            <a:ext cx="1444752" cy="237744"/>
          </a:xfrm>
          <a:prstGeom prst="rect">
            <a:avLst/>
          </a:prstGeom>
          <a:noFill/>
          <a:ln/>
        </p:spPr>
        <p:txBody>
          <a:bodyPr wrap="square" lIns="0" tIns="0" rIns="0" bIns="0" rtlCol="0" anchor="ctr"/>
          <a:lstStyle/>
          <a:p>
            <a:pPr marL="0" indent="0" algn="ctr">
              <a:buNone/>
            </a:pPr>
            <a:r>
              <a:rPr lang="en-US" sz="900" b="1" kern="0" spc="100" dirty="0">
                <a:solidFill>
                  <a:srgbClr val="D6E6FF"/>
                </a:solidFill>
                <a:latin typeface="Segoe UI" pitchFamily="34" charset="0"/>
                <a:ea typeface="Segoe UI" pitchFamily="34" charset="-122"/>
                <a:cs typeface="Segoe UI" pitchFamily="34" charset="-120"/>
              </a:rPr>
              <a:t>Phase 1</a:t>
            </a:r>
            <a:endParaRPr lang="en-US" sz="900" dirty="0"/>
          </a:p>
        </p:txBody>
      </p:sp>
      <p:sp>
        <p:nvSpPr>
          <p:cNvPr id="11" name="Text 9"/>
          <p:cNvSpPr/>
          <p:nvPr/>
        </p:nvSpPr>
        <p:spPr>
          <a:xfrm>
            <a:off x="484632" y="1600200"/>
            <a:ext cx="148132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Assessment</a:t>
            </a:r>
            <a:endParaRPr lang="en-US" sz="1050" dirty="0"/>
          </a:p>
        </p:txBody>
      </p:sp>
      <p:sp>
        <p:nvSpPr>
          <p:cNvPr id="12" name="Text 10"/>
          <p:cNvSpPr/>
          <p:nvPr/>
        </p:nvSpPr>
        <p:spPr>
          <a:xfrm>
            <a:off x="539496" y="2130552"/>
            <a:ext cx="1389888" cy="1371600"/>
          </a:xfrm>
          <a:prstGeom prst="rect">
            <a:avLst/>
          </a:prstGeom>
          <a:noFill/>
          <a:ln/>
        </p:spPr>
        <p:txBody>
          <a:bodyPr wrap="square" lIns="0" tIns="0" rIns="0" bIns="0" rtlCol="0" anchor="ctr"/>
          <a:lstStyle/>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Project scanning</a:t>
            </a:r>
            <a:endParaRPr lang="en-US" sz="850" dirty="0"/>
          </a:p>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Static analysis</a:t>
            </a:r>
            <a:endParaRPr lang="en-US" sz="850" dirty="0"/>
          </a:p>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Modernization findings</a:t>
            </a:r>
            <a:endParaRPr lang="en-US" sz="850" dirty="0"/>
          </a:p>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AI-assisted report</a:t>
            </a:r>
            <a:endParaRPr lang="en-US" sz="850" dirty="0"/>
          </a:p>
        </p:txBody>
      </p:sp>
      <p:sp>
        <p:nvSpPr>
          <p:cNvPr id="13" name="Phase status chip">
            <a:extLst>
              <a:ext uri="{C183D7F6-B498-43B3-948B-1728B52AA6E4}">
                <adec:decorative xmlns:adec="http://schemas.microsoft.com/office/drawing/2017/decorative" val="1"/>
              </a:ext>
            </a:extLst>
          </p:cNvPr>
          <p:cNvSpPr/>
          <p:nvPr/>
        </p:nvSpPr>
        <p:spPr>
          <a:xfrm>
            <a:off x="411480" y="3721608"/>
            <a:ext cx="1627632" cy="292608"/>
          </a:xfrm>
          <a:prstGeom prst="rect">
            <a:avLst/>
          </a:prstGeom>
          <a:solidFill>
            <a:srgbClr val="EAF2FD"/>
          </a:solidFill>
          <a:ln w="12700">
            <a:solidFill>
              <a:srgbClr val="1F6FEB"/>
            </a:solidFill>
            <a:prstDash val="solid"/>
          </a:ln>
        </p:spPr>
        <p:txBody>
          <a:bodyPr/>
          <a:lstStyle/>
          <a:p>
            <a:endParaRPr lang="en-US"/>
          </a:p>
        </p:txBody>
      </p:sp>
      <p:sp>
        <p:nvSpPr>
          <p:cNvPr id="14" name="Text 12"/>
          <p:cNvSpPr/>
          <p:nvPr/>
        </p:nvSpPr>
        <p:spPr>
          <a:xfrm>
            <a:off x="411480" y="3721608"/>
            <a:ext cx="1627632" cy="292608"/>
          </a:xfrm>
          <a:prstGeom prst="rect">
            <a:avLst/>
          </a:prstGeom>
          <a:noFill/>
          <a:ln/>
        </p:spPr>
        <p:txBody>
          <a:bodyPr wrap="square" lIns="0" tIns="0" rIns="0" bIns="0" rtlCol="0" anchor="ctr"/>
          <a:lstStyle/>
          <a:p>
            <a:pPr marL="0" indent="0" algn="ctr">
              <a:buNone/>
            </a:pPr>
            <a:r>
              <a:rPr lang="en-US" sz="800" b="1" kern="0" spc="80" dirty="0">
                <a:solidFill>
                  <a:srgbClr val="0B4AA2"/>
                </a:solidFill>
                <a:latin typeface="Segoe UI" pitchFamily="34" charset="0"/>
                <a:ea typeface="Segoe UI" pitchFamily="34" charset="-122"/>
                <a:cs typeface="Segoe UI" pitchFamily="34" charset="-120"/>
              </a:rPr>
              <a:t>CURRENT STATE</a:t>
            </a:r>
            <a:endParaRPr lang="en-US" sz="800" dirty="0"/>
          </a:p>
        </p:txBody>
      </p:sp>
      <p:sp>
        <p:nvSpPr>
          <p:cNvPr id="15" name="Timeline node">
            <a:extLst>
              <a:ext uri="{C183D7F6-B498-43B3-948B-1728B52AA6E4}">
                <adec:decorative xmlns:adec="http://schemas.microsoft.com/office/drawing/2017/decorative" val="1"/>
              </a:ext>
            </a:extLst>
          </p:cNvPr>
          <p:cNvSpPr/>
          <p:nvPr/>
        </p:nvSpPr>
        <p:spPr>
          <a:xfrm>
            <a:off x="2889504" y="1042416"/>
            <a:ext cx="146304" cy="146304"/>
          </a:xfrm>
          <a:prstGeom prst="ellipse">
            <a:avLst/>
          </a:prstGeom>
          <a:solidFill>
            <a:srgbClr val="1F6FEB"/>
          </a:solidFill>
          <a:ln w="12700">
            <a:solidFill>
              <a:srgbClr val="1F6FEB"/>
            </a:solidFill>
            <a:prstDash val="solid"/>
          </a:ln>
        </p:spPr>
        <p:txBody>
          <a:bodyPr/>
          <a:lstStyle/>
          <a:p>
            <a:endParaRPr lang="en-US"/>
          </a:p>
        </p:txBody>
      </p:sp>
      <p:sp>
        <p:nvSpPr>
          <p:cNvPr id="16" name="Phase card">
            <a:extLst>
              <a:ext uri="{C183D7F6-B498-43B3-948B-1728B52AA6E4}">
                <adec:decorative xmlns:adec="http://schemas.microsoft.com/office/drawing/2017/decorative" val="1"/>
              </a:ext>
            </a:extLst>
          </p:cNvPr>
          <p:cNvSpPr/>
          <p:nvPr/>
        </p:nvSpPr>
        <p:spPr>
          <a:xfrm>
            <a:off x="2148840" y="1325880"/>
            <a:ext cx="1627632" cy="2286000"/>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17" name="Phase card header">
            <a:extLst>
              <a:ext uri="{C183D7F6-B498-43B3-948B-1728B52AA6E4}">
                <adec:decorative xmlns:adec="http://schemas.microsoft.com/office/drawing/2017/decorative" val="1"/>
              </a:ext>
            </a:extLst>
          </p:cNvPr>
          <p:cNvSpPr/>
          <p:nvPr/>
        </p:nvSpPr>
        <p:spPr>
          <a:xfrm>
            <a:off x="2148840" y="1325880"/>
            <a:ext cx="1627632" cy="694944"/>
          </a:xfrm>
          <a:prstGeom prst="rect">
            <a:avLst/>
          </a:prstGeom>
          <a:solidFill>
            <a:srgbClr val="1F6FEB"/>
          </a:solidFill>
          <a:ln w="12700">
            <a:solidFill>
              <a:srgbClr val="1F6FEB"/>
            </a:solidFill>
            <a:prstDash val="solid"/>
          </a:ln>
        </p:spPr>
        <p:txBody>
          <a:bodyPr/>
          <a:lstStyle/>
          <a:p>
            <a:endParaRPr lang="en-US"/>
          </a:p>
        </p:txBody>
      </p:sp>
      <p:sp>
        <p:nvSpPr>
          <p:cNvPr id="18" name="Text 16"/>
          <p:cNvSpPr/>
          <p:nvPr/>
        </p:nvSpPr>
        <p:spPr>
          <a:xfrm>
            <a:off x="2240280" y="1380744"/>
            <a:ext cx="1444752" cy="237744"/>
          </a:xfrm>
          <a:prstGeom prst="rect">
            <a:avLst/>
          </a:prstGeom>
          <a:noFill/>
          <a:ln/>
        </p:spPr>
        <p:txBody>
          <a:bodyPr wrap="square" lIns="0" tIns="0" rIns="0" bIns="0" rtlCol="0" anchor="ctr"/>
          <a:lstStyle/>
          <a:p>
            <a:pPr marL="0" indent="0" algn="ctr">
              <a:buNone/>
            </a:pPr>
            <a:r>
              <a:rPr lang="en-US" sz="900" b="1" kern="0" spc="100" dirty="0">
                <a:solidFill>
                  <a:srgbClr val="D6E6FF"/>
                </a:solidFill>
                <a:latin typeface="Segoe UI" pitchFamily="34" charset="0"/>
                <a:ea typeface="Segoe UI" pitchFamily="34" charset="-122"/>
                <a:cs typeface="Segoe UI" pitchFamily="34" charset="-120"/>
              </a:rPr>
              <a:t>Phase 2</a:t>
            </a:r>
            <a:endParaRPr lang="en-US" sz="900" dirty="0"/>
          </a:p>
        </p:txBody>
      </p:sp>
      <p:sp>
        <p:nvSpPr>
          <p:cNvPr id="19" name="Text 17"/>
          <p:cNvSpPr/>
          <p:nvPr/>
        </p:nvSpPr>
        <p:spPr>
          <a:xfrm>
            <a:off x="2221992" y="1600200"/>
            <a:ext cx="148132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Specialized Analysis</a:t>
            </a:r>
            <a:endParaRPr lang="en-US" sz="1050" dirty="0"/>
          </a:p>
        </p:txBody>
      </p:sp>
      <p:sp>
        <p:nvSpPr>
          <p:cNvPr id="20" name="Text 18"/>
          <p:cNvSpPr/>
          <p:nvPr/>
        </p:nvSpPr>
        <p:spPr>
          <a:xfrm>
            <a:off x="2276856" y="2130552"/>
            <a:ext cx="1389888" cy="1371600"/>
          </a:xfrm>
          <a:prstGeom prst="rect">
            <a:avLst/>
          </a:prstGeom>
          <a:noFill/>
          <a:ln/>
        </p:spPr>
        <p:txBody>
          <a:bodyPr wrap="square" lIns="0" tIns="0" rIns="0" bIns="0" rtlCol="0" anchor="ctr"/>
          <a:lstStyle/>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Dependency analysis</a:t>
            </a:r>
            <a:endParaRPr lang="en-US" sz="850" dirty="0"/>
          </a:p>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Security analysis</a:t>
            </a:r>
            <a:endParaRPr lang="en-US" sz="850" dirty="0"/>
          </a:p>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Testing agent</a:t>
            </a:r>
            <a:endParaRPr lang="en-US" sz="850" dirty="0"/>
          </a:p>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Plug-in analyzers</a:t>
            </a:r>
            <a:endParaRPr lang="en-US" sz="850" dirty="0"/>
          </a:p>
        </p:txBody>
      </p:sp>
      <p:sp>
        <p:nvSpPr>
          <p:cNvPr id="21" name="Phase status chip">
            <a:extLst>
              <a:ext uri="{C183D7F6-B498-43B3-948B-1728B52AA6E4}">
                <adec:decorative xmlns:adec="http://schemas.microsoft.com/office/drawing/2017/decorative" val="1"/>
              </a:ext>
            </a:extLst>
          </p:cNvPr>
          <p:cNvSpPr/>
          <p:nvPr/>
        </p:nvSpPr>
        <p:spPr>
          <a:xfrm>
            <a:off x="2148840" y="3721608"/>
            <a:ext cx="1627632" cy="292608"/>
          </a:xfrm>
          <a:prstGeom prst="rect">
            <a:avLst/>
          </a:prstGeom>
          <a:solidFill>
            <a:srgbClr val="F6F9FD"/>
          </a:solidFill>
          <a:ln w="12700">
            <a:solidFill>
              <a:srgbClr val="D6E2F2"/>
            </a:solidFill>
            <a:prstDash val="solid"/>
          </a:ln>
        </p:spPr>
        <p:txBody>
          <a:bodyPr/>
          <a:lstStyle/>
          <a:p>
            <a:endParaRPr lang="en-US"/>
          </a:p>
        </p:txBody>
      </p:sp>
      <p:sp>
        <p:nvSpPr>
          <p:cNvPr id="22" name="Text 20"/>
          <p:cNvSpPr/>
          <p:nvPr/>
        </p:nvSpPr>
        <p:spPr>
          <a:xfrm>
            <a:off x="2148840" y="3721608"/>
            <a:ext cx="1627632" cy="292608"/>
          </a:xfrm>
          <a:prstGeom prst="rect">
            <a:avLst/>
          </a:prstGeom>
          <a:noFill/>
          <a:ln/>
        </p:spPr>
        <p:txBody>
          <a:bodyPr wrap="square" lIns="0" tIns="0" rIns="0" bIns="0" rtlCol="0" anchor="ctr"/>
          <a:lstStyle/>
          <a:p>
            <a:pPr marL="0" indent="0" algn="ctr">
              <a:buNone/>
            </a:pPr>
            <a:r>
              <a:rPr lang="en-US" sz="800" b="1" kern="0" spc="80" dirty="0">
                <a:solidFill>
                  <a:srgbClr val="44546A"/>
                </a:solidFill>
                <a:latin typeface="Segoe UI" pitchFamily="34" charset="0"/>
                <a:ea typeface="Segoe UI" pitchFamily="34" charset="-122"/>
                <a:cs typeface="Segoe UI" pitchFamily="34" charset="-120"/>
              </a:rPr>
              <a:t>FUTURE VISION</a:t>
            </a:r>
            <a:endParaRPr lang="en-US" sz="800" dirty="0"/>
          </a:p>
        </p:txBody>
      </p:sp>
      <p:sp>
        <p:nvSpPr>
          <p:cNvPr id="23" name="Timeline node">
            <a:extLst>
              <a:ext uri="{C183D7F6-B498-43B3-948B-1728B52AA6E4}">
                <adec:decorative xmlns:adec="http://schemas.microsoft.com/office/drawing/2017/decorative" val="1"/>
              </a:ext>
            </a:extLst>
          </p:cNvPr>
          <p:cNvSpPr/>
          <p:nvPr/>
        </p:nvSpPr>
        <p:spPr>
          <a:xfrm>
            <a:off x="4626864" y="1042416"/>
            <a:ext cx="146304" cy="146304"/>
          </a:xfrm>
          <a:prstGeom prst="ellipse">
            <a:avLst/>
          </a:prstGeom>
          <a:solidFill>
            <a:srgbClr val="1F6FEB"/>
          </a:solidFill>
          <a:ln w="12700">
            <a:solidFill>
              <a:srgbClr val="1F6FEB"/>
            </a:solidFill>
            <a:prstDash val="solid"/>
          </a:ln>
        </p:spPr>
        <p:txBody>
          <a:bodyPr/>
          <a:lstStyle/>
          <a:p>
            <a:endParaRPr lang="en-US"/>
          </a:p>
        </p:txBody>
      </p:sp>
      <p:sp>
        <p:nvSpPr>
          <p:cNvPr id="24" name="Phase card">
            <a:extLst>
              <a:ext uri="{C183D7F6-B498-43B3-948B-1728B52AA6E4}">
                <adec:decorative xmlns:adec="http://schemas.microsoft.com/office/drawing/2017/decorative" val="1"/>
              </a:ext>
            </a:extLst>
          </p:cNvPr>
          <p:cNvSpPr/>
          <p:nvPr/>
        </p:nvSpPr>
        <p:spPr>
          <a:xfrm>
            <a:off x="3886200" y="1325880"/>
            <a:ext cx="1627632" cy="2286000"/>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25" name="Phase card header">
            <a:extLst>
              <a:ext uri="{C183D7F6-B498-43B3-948B-1728B52AA6E4}">
                <adec:decorative xmlns:adec="http://schemas.microsoft.com/office/drawing/2017/decorative" val="1"/>
              </a:ext>
            </a:extLst>
          </p:cNvPr>
          <p:cNvSpPr/>
          <p:nvPr/>
        </p:nvSpPr>
        <p:spPr>
          <a:xfrm>
            <a:off x="3886200" y="1325880"/>
            <a:ext cx="1627632" cy="694944"/>
          </a:xfrm>
          <a:prstGeom prst="rect">
            <a:avLst/>
          </a:prstGeom>
          <a:solidFill>
            <a:srgbClr val="1F6FEB"/>
          </a:solidFill>
          <a:ln w="12700">
            <a:solidFill>
              <a:srgbClr val="1F6FEB"/>
            </a:solidFill>
            <a:prstDash val="solid"/>
          </a:ln>
        </p:spPr>
        <p:txBody>
          <a:bodyPr/>
          <a:lstStyle/>
          <a:p>
            <a:endParaRPr lang="en-US"/>
          </a:p>
        </p:txBody>
      </p:sp>
      <p:sp>
        <p:nvSpPr>
          <p:cNvPr id="26" name="Text 24"/>
          <p:cNvSpPr/>
          <p:nvPr/>
        </p:nvSpPr>
        <p:spPr>
          <a:xfrm>
            <a:off x="3977640" y="1380744"/>
            <a:ext cx="1444752" cy="237744"/>
          </a:xfrm>
          <a:prstGeom prst="rect">
            <a:avLst/>
          </a:prstGeom>
          <a:noFill/>
          <a:ln/>
        </p:spPr>
        <p:txBody>
          <a:bodyPr wrap="square" lIns="0" tIns="0" rIns="0" bIns="0" rtlCol="0" anchor="ctr"/>
          <a:lstStyle/>
          <a:p>
            <a:pPr marL="0" indent="0" algn="ctr">
              <a:buNone/>
            </a:pPr>
            <a:r>
              <a:rPr lang="en-US" sz="900" b="1" kern="0" spc="100" dirty="0">
                <a:solidFill>
                  <a:srgbClr val="D6E6FF"/>
                </a:solidFill>
                <a:latin typeface="Segoe UI" pitchFamily="34" charset="0"/>
                <a:ea typeface="Segoe UI" pitchFamily="34" charset="-122"/>
                <a:cs typeface="Segoe UI" pitchFamily="34" charset="-120"/>
              </a:rPr>
              <a:t>Phase 3</a:t>
            </a:r>
            <a:endParaRPr lang="en-US" sz="900" dirty="0"/>
          </a:p>
        </p:txBody>
      </p:sp>
      <p:sp>
        <p:nvSpPr>
          <p:cNvPr id="27" name="Text 25"/>
          <p:cNvSpPr/>
          <p:nvPr/>
        </p:nvSpPr>
        <p:spPr>
          <a:xfrm>
            <a:off x="3959352" y="1600200"/>
            <a:ext cx="148132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Migration Planning</a:t>
            </a:r>
            <a:endParaRPr lang="en-US" sz="1050" dirty="0"/>
          </a:p>
        </p:txBody>
      </p:sp>
      <p:sp>
        <p:nvSpPr>
          <p:cNvPr id="28" name="Text 26"/>
          <p:cNvSpPr/>
          <p:nvPr/>
        </p:nvSpPr>
        <p:spPr>
          <a:xfrm>
            <a:off x="4014216" y="2130552"/>
            <a:ext cx="1389888" cy="1371600"/>
          </a:xfrm>
          <a:prstGeom prst="rect">
            <a:avLst/>
          </a:prstGeom>
          <a:noFill/>
          <a:ln/>
        </p:spPr>
        <p:txBody>
          <a:bodyPr wrap="square" lIns="0" tIns="0" rIns="0" bIns="0" rtlCol="0" anchor="ctr"/>
          <a:lstStyle/>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Consolidated analysis</a:t>
            </a:r>
            <a:endParaRPr lang="en-US" sz="850" dirty="0"/>
          </a:p>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Migration strategy</a:t>
            </a:r>
            <a:endParaRPr lang="en-US" sz="850" dirty="0"/>
          </a:p>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Migration sequencing</a:t>
            </a:r>
            <a:endParaRPr lang="en-US" sz="850" dirty="0"/>
          </a:p>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Risk identification</a:t>
            </a:r>
            <a:endParaRPr lang="en-US" sz="850" dirty="0"/>
          </a:p>
        </p:txBody>
      </p:sp>
      <p:sp>
        <p:nvSpPr>
          <p:cNvPr id="29" name="Phase status chip">
            <a:extLst>
              <a:ext uri="{C183D7F6-B498-43B3-948B-1728B52AA6E4}">
                <adec:decorative xmlns:adec="http://schemas.microsoft.com/office/drawing/2017/decorative" val="1"/>
              </a:ext>
            </a:extLst>
          </p:cNvPr>
          <p:cNvSpPr/>
          <p:nvPr/>
        </p:nvSpPr>
        <p:spPr>
          <a:xfrm>
            <a:off x="3886200" y="3721608"/>
            <a:ext cx="1627632" cy="292608"/>
          </a:xfrm>
          <a:prstGeom prst="rect">
            <a:avLst/>
          </a:prstGeom>
          <a:solidFill>
            <a:srgbClr val="F6F9FD"/>
          </a:solidFill>
          <a:ln w="12700">
            <a:solidFill>
              <a:srgbClr val="D6E2F2"/>
            </a:solidFill>
            <a:prstDash val="solid"/>
          </a:ln>
        </p:spPr>
        <p:txBody>
          <a:bodyPr/>
          <a:lstStyle/>
          <a:p>
            <a:endParaRPr lang="en-US"/>
          </a:p>
        </p:txBody>
      </p:sp>
      <p:sp>
        <p:nvSpPr>
          <p:cNvPr id="30" name="Text 28"/>
          <p:cNvSpPr/>
          <p:nvPr/>
        </p:nvSpPr>
        <p:spPr>
          <a:xfrm>
            <a:off x="3886200" y="3721608"/>
            <a:ext cx="1627632" cy="292608"/>
          </a:xfrm>
          <a:prstGeom prst="rect">
            <a:avLst/>
          </a:prstGeom>
          <a:noFill/>
          <a:ln/>
        </p:spPr>
        <p:txBody>
          <a:bodyPr wrap="square" lIns="0" tIns="0" rIns="0" bIns="0" rtlCol="0" anchor="ctr"/>
          <a:lstStyle/>
          <a:p>
            <a:pPr marL="0" indent="0" algn="ctr">
              <a:buNone/>
            </a:pPr>
            <a:r>
              <a:rPr lang="en-US" sz="800" b="1" kern="0" spc="80" dirty="0">
                <a:solidFill>
                  <a:srgbClr val="44546A"/>
                </a:solidFill>
                <a:latin typeface="Segoe UI" pitchFamily="34" charset="0"/>
                <a:ea typeface="Segoe UI" pitchFamily="34" charset="-122"/>
                <a:cs typeface="Segoe UI" pitchFamily="34" charset="-120"/>
              </a:rPr>
              <a:t>FUTURE VISION</a:t>
            </a:r>
            <a:endParaRPr lang="en-US" sz="800" dirty="0"/>
          </a:p>
        </p:txBody>
      </p:sp>
      <p:sp>
        <p:nvSpPr>
          <p:cNvPr id="31" name="Timeline node">
            <a:extLst>
              <a:ext uri="{C183D7F6-B498-43B3-948B-1728B52AA6E4}">
                <adec:decorative xmlns:adec="http://schemas.microsoft.com/office/drawing/2017/decorative" val="1"/>
              </a:ext>
            </a:extLst>
          </p:cNvPr>
          <p:cNvSpPr/>
          <p:nvPr/>
        </p:nvSpPr>
        <p:spPr>
          <a:xfrm>
            <a:off x="6364224" y="1042416"/>
            <a:ext cx="146304" cy="146304"/>
          </a:xfrm>
          <a:prstGeom prst="ellipse">
            <a:avLst/>
          </a:prstGeom>
          <a:solidFill>
            <a:srgbClr val="7A3FBF"/>
          </a:solidFill>
          <a:ln w="12700">
            <a:solidFill>
              <a:srgbClr val="7A3FBF"/>
            </a:solidFill>
            <a:prstDash val="solid"/>
          </a:ln>
        </p:spPr>
        <p:txBody>
          <a:bodyPr/>
          <a:lstStyle/>
          <a:p>
            <a:endParaRPr lang="en-US"/>
          </a:p>
        </p:txBody>
      </p:sp>
      <p:sp>
        <p:nvSpPr>
          <p:cNvPr id="32" name="Phase card">
            <a:extLst>
              <a:ext uri="{C183D7F6-B498-43B3-948B-1728B52AA6E4}">
                <adec:decorative xmlns:adec="http://schemas.microsoft.com/office/drawing/2017/decorative" val="1"/>
              </a:ext>
            </a:extLst>
          </p:cNvPr>
          <p:cNvSpPr/>
          <p:nvPr/>
        </p:nvSpPr>
        <p:spPr>
          <a:xfrm>
            <a:off x="5623560" y="1325880"/>
            <a:ext cx="1627632" cy="2286000"/>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33" name="Phase card header">
            <a:extLst>
              <a:ext uri="{C183D7F6-B498-43B3-948B-1728B52AA6E4}">
                <adec:decorative xmlns:adec="http://schemas.microsoft.com/office/drawing/2017/decorative" val="1"/>
              </a:ext>
            </a:extLst>
          </p:cNvPr>
          <p:cNvSpPr/>
          <p:nvPr/>
        </p:nvSpPr>
        <p:spPr>
          <a:xfrm>
            <a:off x="5623560" y="1325880"/>
            <a:ext cx="1627632" cy="694944"/>
          </a:xfrm>
          <a:prstGeom prst="rect">
            <a:avLst/>
          </a:prstGeom>
          <a:solidFill>
            <a:srgbClr val="7A3FBF"/>
          </a:solidFill>
          <a:ln w="12700">
            <a:solidFill>
              <a:srgbClr val="7A3FBF"/>
            </a:solidFill>
            <a:prstDash val="solid"/>
          </a:ln>
        </p:spPr>
        <p:txBody>
          <a:bodyPr/>
          <a:lstStyle/>
          <a:p>
            <a:endParaRPr lang="en-US"/>
          </a:p>
        </p:txBody>
      </p:sp>
      <p:sp>
        <p:nvSpPr>
          <p:cNvPr id="34" name="Text 32"/>
          <p:cNvSpPr/>
          <p:nvPr/>
        </p:nvSpPr>
        <p:spPr>
          <a:xfrm>
            <a:off x="5715000" y="1380744"/>
            <a:ext cx="1444752" cy="237744"/>
          </a:xfrm>
          <a:prstGeom prst="rect">
            <a:avLst/>
          </a:prstGeom>
          <a:noFill/>
          <a:ln/>
        </p:spPr>
        <p:txBody>
          <a:bodyPr wrap="square" lIns="0" tIns="0" rIns="0" bIns="0" rtlCol="0" anchor="ctr"/>
          <a:lstStyle/>
          <a:p>
            <a:pPr marL="0" indent="0" algn="ctr">
              <a:buNone/>
            </a:pPr>
            <a:r>
              <a:rPr lang="en-US" sz="900" b="1" kern="0" spc="100" dirty="0">
                <a:solidFill>
                  <a:srgbClr val="D6E6FF"/>
                </a:solidFill>
                <a:latin typeface="Segoe UI" pitchFamily="34" charset="0"/>
                <a:ea typeface="Segoe UI" pitchFamily="34" charset="-122"/>
                <a:cs typeface="Segoe UI" pitchFamily="34" charset="-120"/>
              </a:rPr>
              <a:t>Phase 4</a:t>
            </a:r>
            <a:endParaRPr lang="en-US" sz="900" dirty="0"/>
          </a:p>
        </p:txBody>
      </p:sp>
      <p:sp>
        <p:nvSpPr>
          <p:cNvPr id="35" name="Text 33"/>
          <p:cNvSpPr/>
          <p:nvPr/>
        </p:nvSpPr>
        <p:spPr>
          <a:xfrm>
            <a:off x="5696712" y="1600200"/>
            <a:ext cx="148132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Controlled Migration</a:t>
            </a:r>
            <a:endParaRPr lang="en-US" sz="1050" dirty="0"/>
          </a:p>
        </p:txBody>
      </p:sp>
      <p:sp>
        <p:nvSpPr>
          <p:cNvPr id="36" name="Text 34"/>
          <p:cNvSpPr/>
          <p:nvPr/>
        </p:nvSpPr>
        <p:spPr>
          <a:xfrm>
            <a:off x="5751576" y="2130552"/>
            <a:ext cx="1389888" cy="1371600"/>
          </a:xfrm>
          <a:prstGeom prst="rect">
            <a:avLst/>
          </a:prstGeom>
          <a:noFill/>
          <a:ln/>
        </p:spPr>
        <p:txBody>
          <a:bodyPr wrap="square" lIns="0" tIns="0" rIns="0" bIns="0" rtlCol="0" anchor="ctr"/>
          <a:lstStyle/>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Automated code changes</a:t>
            </a:r>
            <a:endParaRPr lang="en-US" sz="850" dirty="0"/>
          </a:p>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Build-and-fix cycle</a:t>
            </a:r>
            <a:endParaRPr lang="en-US" sz="850" dirty="0"/>
          </a:p>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Change tracking</a:t>
            </a:r>
            <a:endParaRPr lang="en-US" sz="850" dirty="0"/>
          </a:p>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Human approval gates</a:t>
            </a:r>
            <a:endParaRPr lang="en-US" sz="850" dirty="0"/>
          </a:p>
        </p:txBody>
      </p:sp>
      <p:sp>
        <p:nvSpPr>
          <p:cNvPr id="37" name="Phase status chip">
            <a:extLst>
              <a:ext uri="{C183D7F6-B498-43B3-948B-1728B52AA6E4}">
                <adec:decorative xmlns:adec="http://schemas.microsoft.com/office/drawing/2017/decorative" val="1"/>
              </a:ext>
            </a:extLst>
          </p:cNvPr>
          <p:cNvSpPr/>
          <p:nvPr/>
        </p:nvSpPr>
        <p:spPr>
          <a:xfrm>
            <a:off x="5623560" y="3721608"/>
            <a:ext cx="1627632" cy="292608"/>
          </a:xfrm>
          <a:prstGeom prst="rect">
            <a:avLst/>
          </a:prstGeom>
          <a:solidFill>
            <a:srgbClr val="F6F9FD"/>
          </a:solidFill>
          <a:ln w="12700">
            <a:solidFill>
              <a:srgbClr val="D6E2F2"/>
            </a:solidFill>
            <a:prstDash val="solid"/>
          </a:ln>
        </p:spPr>
        <p:txBody>
          <a:bodyPr/>
          <a:lstStyle/>
          <a:p>
            <a:endParaRPr lang="en-US"/>
          </a:p>
        </p:txBody>
      </p:sp>
      <p:sp>
        <p:nvSpPr>
          <p:cNvPr id="38" name="Text 36"/>
          <p:cNvSpPr/>
          <p:nvPr/>
        </p:nvSpPr>
        <p:spPr>
          <a:xfrm>
            <a:off x="5623560" y="3721608"/>
            <a:ext cx="1627632" cy="292608"/>
          </a:xfrm>
          <a:prstGeom prst="rect">
            <a:avLst/>
          </a:prstGeom>
          <a:noFill/>
          <a:ln/>
        </p:spPr>
        <p:txBody>
          <a:bodyPr wrap="square" lIns="0" tIns="0" rIns="0" bIns="0" rtlCol="0" anchor="ctr"/>
          <a:lstStyle/>
          <a:p>
            <a:pPr marL="0" indent="0" algn="ctr">
              <a:buNone/>
            </a:pPr>
            <a:r>
              <a:rPr lang="en-US" sz="800" b="1" kern="0" spc="80" dirty="0">
                <a:solidFill>
                  <a:srgbClr val="44546A"/>
                </a:solidFill>
                <a:latin typeface="Segoe UI" pitchFamily="34" charset="0"/>
                <a:ea typeface="Segoe UI" pitchFamily="34" charset="-122"/>
                <a:cs typeface="Segoe UI" pitchFamily="34" charset="-120"/>
              </a:rPr>
              <a:t>FUTURE VISION</a:t>
            </a:r>
            <a:endParaRPr lang="en-US" sz="800" dirty="0"/>
          </a:p>
        </p:txBody>
      </p:sp>
      <p:sp>
        <p:nvSpPr>
          <p:cNvPr id="39" name="Timeline node">
            <a:extLst>
              <a:ext uri="{C183D7F6-B498-43B3-948B-1728B52AA6E4}">
                <adec:decorative xmlns:adec="http://schemas.microsoft.com/office/drawing/2017/decorative" val="1"/>
              </a:ext>
            </a:extLst>
          </p:cNvPr>
          <p:cNvSpPr/>
          <p:nvPr/>
        </p:nvSpPr>
        <p:spPr>
          <a:xfrm>
            <a:off x="8101584" y="1042416"/>
            <a:ext cx="146304" cy="146304"/>
          </a:xfrm>
          <a:prstGeom prst="ellipse">
            <a:avLst/>
          </a:prstGeom>
          <a:solidFill>
            <a:srgbClr val="0E8F8F"/>
          </a:solidFill>
          <a:ln w="12700">
            <a:solidFill>
              <a:srgbClr val="0E8F8F"/>
            </a:solidFill>
            <a:prstDash val="solid"/>
          </a:ln>
        </p:spPr>
        <p:txBody>
          <a:bodyPr/>
          <a:lstStyle/>
          <a:p>
            <a:endParaRPr lang="en-US"/>
          </a:p>
        </p:txBody>
      </p:sp>
      <p:sp>
        <p:nvSpPr>
          <p:cNvPr id="40" name="Phase card">
            <a:extLst>
              <a:ext uri="{C183D7F6-B498-43B3-948B-1728B52AA6E4}">
                <adec:decorative xmlns:adec="http://schemas.microsoft.com/office/drawing/2017/decorative" val="1"/>
              </a:ext>
            </a:extLst>
          </p:cNvPr>
          <p:cNvSpPr/>
          <p:nvPr/>
        </p:nvSpPr>
        <p:spPr>
          <a:xfrm>
            <a:off x="7360920" y="1325880"/>
            <a:ext cx="1627632" cy="2286000"/>
          </a:xfrm>
          <a:prstGeom prst="rect">
            <a:avLst/>
          </a:prstGeom>
          <a:solidFill>
            <a:srgbClr val="FFFFFF"/>
          </a:solidFill>
          <a:ln w="12700">
            <a:solidFill>
              <a:srgbClr val="D6E2F2"/>
            </a:solidFill>
            <a:prstDash val="solid"/>
          </a:ln>
          <a:effectLst>
            <a:outerShdw blurRad="101600" dist="25400" dir="5400000" algn="bl" rotWithShape="0">
              <a:srgbClr val="0F2540">
                <a:alpha val="10000"/>
              </a:srgbClr>
            </a:outerShdw>
          </a:effectLst>
        </p:spPr>
        <p:txBody>
          <a:bodyPr/>
          <a:lstStyle/>
          <a:p>
            <a:endParaRPr lang="en-US"/>
          </a:p>
        </p:txBody>
      </p:sp>
      <p:sp>
        <p:nvSpPr>
          <p:cNvPr id="41" name="Phase card header">
            <a:extLst>
              <a:ext uri="{C183D7F6-B498-43B3-948B-1728B52AA6E4}">
                <adec:decorative xmlns:adec="http://schemas.microsoft.com/office/drawing/2017/decorative" val="1"/>
              </a:ext>
            </a:extLst>
          </p:cNvPr>
          <p:cNvSpPr/>
          <p:nvPr/>
        </p:nvSpPr>
        <p:spPr>
          <a:xfrm>
            <a:off x="7360920" y="1325880"/>
            <a:ext cx="1627632" cy="694944"/>
          </a:xfrm>
          <a:prstGeom prst="rect">
            <a:avLst/>
          </a:prstGeom>
          <a:solidFill>
            <a:srgbClr val="0E8F8F"/>
          </a:solidFill>
          <a:ln w="12700">
            <a:solidFill>
              <a:srgbClr val="0E8F8F"/>
            </a:solidFill>
            <a:prstDash val="solid"/>
          </a:ln>
        </p:spPr>
        <p:txBody>
          <a:bodyPr/>
          <a:lstStyle/>
          <a:p>
            <a:endParaRPr lang="en-US"/>
          </a:p>
        </p:txBody>
      </p:sp>
      <p:sp>
        <p:nvSpPr>
          <p:cNvPr id="42" name="Text 40"/>
          <p:cNvSpPr/>
          <p:nvPr/>
        </p:nvSpPr>
        <p:spPr>
          <a:xfrm>
            <a:off x="7452360" y="1380744"/>
            <a:ext cx="1444752" cy="237744"/>
          </a:xfrm>
          <a:prstGeom prst="rect">
            <a:avLst/>
          </a:prstGeom>
          <a:noFill/>
          <a:ln/>
        </p:spPr>
        <p:txBody>
          <a:bodyPr wrap="square" lIns="0" tIns="0" rIns="0" bIns="0" rtlCol="0" anchor="ctr"/>
          <a:lstStyle/>
          <a:p>
            <a:pPr marL="0" indent="0" algn="ctr">
              <a:buNone/>
            </a:pPr>
            <a:r>
              <a:rPr lang="en-US" sz="900" b="1" kern="0" spc="100" dirty="0">
                <a:solidFill>
                  <a:srgbClr val="D6E6FF"/>
                </a:solidFill>
                <a:latin typeface="Segoe UI" pitchFamily="34" charset="0"/>
                <a:ea typeface="Segoe UI" pitchFamily="34" charset="-122"/>
                <a:cs typeface="Segoe UI" pitchFamily="34" charset="-120"/>
              </a:rPr>
              <a:t>Phase 5</a:t>
            </a:r>
            <a:endParaRPr lang="en-US" sz="900" dirty="0"/>
          </a:p>
        </p:txBody>
      </p:sp>
      <p:sp>
        <p:nvSpPr>
          <p:cNvPr id="43" name="Text 41"/>
          <p:cNvSpPr/>
          <p:nvPr/>
        </p:nvSpPr>
        <p:spPr>
          <a:xfrm>
            <a:off x="7434072" y="1600200"/>
            <a:ext cx="148132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Validation</a:t>
            </a:r>
            <a:endParaRPr lang="en-US" sz="1050" dirty="0"/>
          </a:p>
        </p:txBody>
      </p:sp>
      <p:sp>
        <p:nvSpPr>
          <p:cNvPr id="44" name="Text 42"/>
          <p:cNvSpPr/>
          <p:nvPr/>
        </p:nvSpPr>
        <p:spPr>
          <a:xfrm>
            <a:off x="7488936" y="2130552"/>
            <a:ext cx="1389888" cy="1371600"/>
          </a:xfrm>
          <a:prstGeom prst="rect">
            <a:avLst/>
          </a:prstGeom>
          <a:noFill/>
          <a:ln/>
        </p:spPr>
        <p:txBody>
          <a:bodyPr wrap="square" lIns="0" tIns="0" rIns="0" bIns="0" rtlCol="0" anchor="ctr"/>
          <a:lstStyle/>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Re-run baseline tests</a:t>
            </a:r>
            <a:endParaRPr lang="en-US" sz="850" dirty="0"/>
          </a:p>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Compare test results</a:t>
            </a:r>
            <a:endParaRPr lang="en-US" sz="850" dirty="0"/>
          </a:p>
          <a:p>
            <a:pPr marL="342900" indent="-342900">
              <a:spcAft>
                <a:spcPts val="500"/>
              </a:spcAft>
              <a:buSzPct val="100000"/>
              <a:buChar char="•"/>
            </a:pPr>
            <a:r>
              <a:rPr lang="en-US" sz="850" dirty="0">
                <a:solidFill>
                  <a:srgbClr val="44546A"/>
                </a:solidFill>
                <a:latin typeface="Segoe UI" pitchFamily="34" charset="0"/>
                <a:ea typeface="Segoe UI" pitchFamily="34" charset="-122"/>
                <a:cs typeface="Segoe UI" pitchFamily="34" charset="-120"/>
              </a:rPr>
              <a:t>Final validation report</a:t>
            </a:r>
            <a:endParaRPr lang="en-US" sz="850" dirty="0"/>
          </a:p>
        </p:txBody>
      </p:sp>
      <p:sp>
        <p:nvSpPr>
          <p:cNvPr id="45" name="Phase status chip">
            <a:extLst>
              <a:ext uri="{C183D7F6-B498-43B3-948B-1728B52AA6E4}">
                <adec:decorative xmlns:adec="http://schemas.microsoft.com/office/drawing/2017/decorative" val="1"/>
              </a:ext>
            </a:extLst>
          </p:cNvPr>
          <p:cNvSpPr/>
          <p:nvPr/>
        </p:nvSpPr>
        <p:spPr>
          <a:xfrm>
            <a:off x="7360920" y="3721608"/>
            <a:ext cx="1627632" cy="292608"/>
          </a:xfrm>
          <a:prstGeom prst="rect">
            <a:avLst/>
          </a:prstGeom>
          <a:solidFill>
            <a:srgbClr val="F6F9FD"/>
          </a:solidFill>
          <a:ln w="12700">
            <a:solidFill>
              <a:srgbClr val="D6E2F2"/>
            </a:solidFill>
            <a:prstDash val="solid"/>
          </a:ln>
        </p:spPr>
        <p:txBody>
          <a:bodyPr/>
          <a:lstStyle/>
          <a:p>
            <a:endParaRPr lang="en-US"/>
          </a:p>
        </p:txBody>
      </p:sp>
      <p:sp>
        <p:nvSpPr>
          <p:cNvPr id="46" name="Text 44"/>
          <p:cNvSpPr/>
          <p:nvPr/>
        </p:nvSpPr>
        <p:spPr>
          <a:xfrm>
            <a:off x="7360920" y="3721608"/>
            <a:ext cx="1627632" cy="292608"/>
          </a:xfrm>
          <a:prstGeom prst="rect">
            <a:avLst/>
          </a:prstGeom>
          <a:noFill/>
          <a:ln/>
        </p:spPr>
        <p:txBody>
          <a:bodyPr wrap="square" lIns="0" tIns="0" rIns="0" bIns="0" rtlCol="0" anchor="ctr"/>
          <a:lstStyle/>
          <a:p>
            <a:pPr marL="0" indent="0" algn="ctr">
              <a:buNone/>
            </a:pPr>
            <a:r>
              <a:rPr lang="en-US" sz="800" b="1" kern="0" spc="80" dirty="0">
                <a:solidFill>
                  <a:srgbClr val="44546A"/>
                </a:solidFill>
                <a:latin typeface="Segoe UI" pitchFamily="34" charset="0"/>
                <a:ea typeface="Segoe UI" pitchFamily="34" charset="-122"/>
                <a:cs typeface="Segoe UI" pitchFamily="34" charset="-120"/>
              </a:rPr>
              <a:t>FUTURE VISION</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540"/>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F6FEB"/>
          </a:solidFill>
          <a:ln w="12700">
            <a:solidFill>
              <a:srgbClr val="1F6FEB"/>
            </a:solidFill>
            <a:prstDash val="solid"/>
          </a:ln>
        </p:spPr>
        <p:txBody>
          <a:bodyPr/>
          <a:lstStyle/>
          <a:p>
            <a:endParaRPr lang="en-US"/>
          </a:p>
        </p:txBody>
      </p:sp>
      <p:sp>
        <p:nvSpPr>
          <p:cNvPr id="3" name="Text 1"/>
          <p:cNvSpPr/>
          <p:nvPr/>
        </p:nvSpPr>
        <p:spPr>
          <a:xfrm>
            <a:off x="548640" y="457200"/>
            <a:ext cx="3657600" cy="256032"/>
          </a:xfrm>
          <a:prstGeom prst="rect">
            <a:avLst/>
          </a:prstGeom>
          <a:noFill/>
          <a:ln/>
        </p:spPr>
        <p:txBody>
          <a:bodyPr wrap="square" lIns="0" tIns="0" rIns="0" bIns="0" rtlCol="0" anchor="ctr"/>
          <a:lstStyle/>
          <a:p>
            <a:pPr marL="0" indent="0">
              <a:buNone/>
            </a:pPr>
            <a:r>
              <a:rPr lang="en-US" sz="1000" b="1" kern="0" spc="200" dirty="0">
                <a:solidFill>
                  <a:srgbClr val="6F9FE0"/>
                </a:solidFill>
                <a:latin typeface="Segoe UI" pitchFamily="34" charset="0"/>
                <a:ea typeface="Segoe UI" pitchFamily="34" charset="-122"/>
                <a:cs typeface="Segoe UI" pitchFamily="34" charset="-120"/>
              </a:rPr>
              <a:t>CLOSING</a:t>
            </a:r>
            <a:endParaRPr lang="en-US" sz="1000" dirty="0"/>
          </a:p>
        </p:txBody>
      </p:sp>
      <p:sp>
        <p:nvSpPr>
          <p:cNvPr id="4" name="Text 2"/>
          <p:cNvSpPr/>
          <p:nvPr/>
        </p:nvSpPr>
        <p:spPr>
          <a:xfrm>
            <a:off x="548640" y="822960"/>
            <a:ext cx="8046720" cy="914400"/>
          </a:xfrm>
          <a:prstGeom prst="rect">
            <a:avLst/>
          </a:prstGeom>
          <a:noFill/>
          <a:ln/>
        </p:spPr>
        <p:txBody>
          <a:bodyPr wrap="square" lIns="0" tIns="0" rIns="0" bIns="0" rtlCol="0" anchor="ctr"/>
          <a:lstStyle/>
          <a:p>
            <a:pPr marL="0" indent="0">
              <a:lnSpc>
                <a:spcPct val="108000"/>
              </a:lnSpc>
              <a:buNone/>
            </a:pPr>
            <a:r>
              <a:rPr lang="en-US" sz="2600" b="1" dirty="0">
                <a:solidFill>
                  <a:srgbClr val="FFFFFF"/>
                </a:solidFill>
                <a:latin typeface="Segoe UI" pitchFamily="34" charset="0"/>
                <a:ea typeface="Segoe UI" pitchFamily="34" charset="-122"/>
                <a:cs typeface="Segoe UI" pitchFamily="34" charset="-120"/>
              </a:rPr>
              <a:t>Vision: Safe, Explainable, and</a:t>
            </a:r>
            <a:endParaRPr lang="en-US" sz="2600" dirty="0"/>
          </a:p>
          <a:p>
            <a:pPr marL="0" indent="0">
              <a:lnSpc>
                <a:spcPct val="108000"/>
              </a:lnSpc>
              <a:buNone/>
            </a:pPr>
            <a:r>
              <a:rPr lang="en-US" sz="2600" b="1" dirty="0">
                <a:solidFill>
                  <a:srgbClr val="FFFFFF"/>
                </a:solidFill>
                <a:latin typeface="Segoe UI" pitchFamily="34" charset="0"/>
                <a:ea typeface="Segoe UI" pitchFamily="34" charset="-122"/>
                <a:cs typeface="Segoe UI" pitchFamily="34" charset="-120"/>
              </a:rPr>
              <a:t>Extensible Java Modernization</a:t>
            </a:r>
            <a:endParaRPr lang="en-US" sz="2600" dirty="0"/>
          </a:p>
        </p:txBody>
      </p:sp>
      <p:sp>
        <p:nvSpPr>
          <p:cNvPr id="5" name="Key message card">
            <a:extLst>
              <a:ext uri="{C183D7F6-B498-43B3-948B-1728B52AA6E4}">
                <adec:decorative xmlns:adec="http://schemas.microsoft.com/office/drawing/2017/decorative" val="1"/>
              </a:ext>
            </a:extLst>
          </p:cNvPr>
          <p:cNvSpPr/>
          <p:nvPr/>
        </p:nvSpPr>
        <p:spPr>
          <a:xfrm>
            <a:off x="411480" y="2011680"/>
            <a:ext cx="1572768" cy="1325880"/>
          </a:xfrm>
          <a:prstGeom prst="rect">
            <a:avLst/>
          </a:prstGeom>
          <a:solidFill>
            <a:srgbClr val="17314F"/>
          </a:solidFill>
          <a:ln w="12700">
            <a:solidFill>
              <a:srgbClr val="2A4A70"/>
            </a:solidFill>
            <a:prstDash val="solid"/>
          </a:ln>
        </p:spPr>
        <p:txBody>
          <a:bodyPr/>
          <a:lstStyle/>
          <a:p>
            <a:endParaRPr lang="en-US"/>
          </a:p>
        </p:txBody>
      </p:sp>
      <p:sp>
        <p:nvSpPr>
          <p:cNvPr id="6" name="Card top accent">
            <a:extLst>
              <a:ext uri="{C183D7F6-B498-43B3-948B-1728B52AA6E4}">
                <adec:decorative xmlns:adec="http://schemas.microsoft.com/office/drawing/2017/decorative" val="1"/>
              </a:ext>
            </a:extLst>
          </p:cNvPr>
          <p:cNvSpPr/>
          <p:nvPr/>
        </p:nvSpPr>
        <p:spPr>
          <a:xfrm>
            <a:off x="411480" y="2011680"/>
            <a:ext cx="1572768" cy="45720"/>
          </a:xfrm>
          <a:prstGeom prst="rect">
            <a:avLst/>
          </a:prstGeom>
          <a:solidFill>
            <a:srgbClr val="1F6FEB"/>
          </a:solidFill>
          <a:ln w="12700">
            <a:solidFill>
              <a:srgbClr val="1F6FEB"/>
            </a:solidFill>
            <a:prstDash val="solid"/>
          </a:ln>
        </p:spPr>
        <p:txBody>
          <a:bodyPr/>
          <a:lstStyle/>
          <a:p>
            <a:endParaRPr lang="en-US"/>
          </a:p>
        </p:txBody>
      </p:sp>
      <p:sp>
        <p:nvSpPr>
          <p:cNvPr id="7" name="Text 5"/>
          <p:cNvSpPr/>
          <p:nvPr/>
        </p:nvSpPr>
        <p:spPr>
          <a:xfrm>
            <a:off x="548640" y="2176272"/>
            <a:ext cx="1298448" cy="274320"/>
          </a:xfrm>
          <a:prstGeom prst="rect">
            <a:avLst/>
          </a:prstGeom>
          <a:noFill/>
          <a:ln/>
        </p:spPr>
        <p:txBody>
          <a:bodyPr wrap="square" lIns="0" tIns="0" rIns="0" bIns="0" rtlCol="0" anchor="ctr"/>
          <a:lstStyle/>
          <a:p>
            <a:pPr marL="0" indent="0">
              <a:buNone/>
            </a:pPr>
            <a:r>
              <a:rPr lang="en-US" sz="1200" b="1" dirty="0">
                <a:solidFill>
                  <a:srgbClr val="8FB8ED"/>
                </a:solidFill>
                <a:latin typeface="Segoe UI" pitchFamily="34" charset="0"/>
                <a:ea typeface="Segoe UI" pitchFamily="34" charset="-122"/>
                <a:cs typeface="Segoe UI" pitchFamily="34" charset="-120"/>
              </a:rPr>
              <a:t>01</a:t>
            </a:r>
            <a:endParaRPr lang="en-US" sz="1200" dirty="0"/>
          </a:p>
        </p:txBody>
      </p:sp>
      <p:sp>
        <p:nvSpPr>
          <p:cNvPr id="8" name="Text 6"/>
          <p:cNvSpPr/>
          <p:nvPr/>
        </p:nvSpPr>
        <p:spPr>
          <a:xfrm>
            <a:off x="548640" y="2514600"/>
            <a:ext cx="1298448" cy="685800"/>
          </a:xfrm>
          <a:prstGeom prst="rect">
            <a:avLst/>
          </a:prstGeom>
          <a:noFill/>
          <a:ln/>
        </p:spPr>
        <p:txBody>
          <a:bodyPr wrap="square" lIns="0" tIns="0" rIns="0" bIns="0" rtlCol="0" anchor="ctr"/>
          <a:lstStyle/>
          <a:p>
            <a:pPr marL="0" indent="0">
              <a:lnSpc>
                <a:spcPct val="115000"/>
              </a:lnSpc>
              <a:buNone/>
            </a:pPr>
            <a:r>
              <a:rPr lang="en-US" sz="1150" b="1" dirty="0">
                <a:solidFill>
                  <a:srgbClr val="FFFFFF"/>
                </a:solidFill>
                <a:latin typeface="Segoe UI" pitchFamily="34" charset="0"/>
                <a:ea typeface="Segoe UI" pitchFamily="34" charset="-122"/>
                <a:cs typeface="Segoe UI" pitchFamily="34" charset="-120"/>
              </a:rPr>
              <a:t>Analyze before modifying</a:t>
            </a:r>
            <a:endParaRPr lang="en-US" sz="1150" dirty="0"/>
          </a:p>
        </p:txBody>
      </p:sp>
      <p:sp>
        <p:nvSpPr>
          <p:cNvPr id="9" name="Key message card">
            <a:extLst>
              <a:ext uri="{C183D7F6-B498-43B3-948B-1728B52AA6E4}">
                <adec:decorative xmlns:adec="http://schemas.microsoft.com/office/drawing/2017/decorative" val="1"/>
              </a:ext>
            </a:extLst>
          </p:cNvPr>
          <p:cNvSpPr/>
          <p:nvPr/>
        </p:nvSpPr>
        <p:spPr>
          <a:xfrm>
            <a:off x="2098548" y="2011680"/>
            <a:ext cx="1572768" cy="1325880"/>
          </a:xfrm>
          <a:prstGeom prst="rect">
            <a:avLst/>
          </a:prstGeom>
          <a:solidFill>
            <a:srgbClr val="17314F"/>
          </a:solidFill>
          <a:ln w="12700">
            <a:solidFill>
              <a:srgbClr val="2A4A70"/>
            </a:solidFill>
            <a:prstDash val="solid"/>
          </a:ln>
        </p:spPr>
        <p:txBody>
          <a:bodyPr/>
          <a:lstStyle/>
          <a:p>
            <a:endParaRPr lang="en-US"/>
          </a:p>
        </p:txBody>
      </p:sp>
      <p:sp>
        <p:nvSpPr>
          <p:cNvPr id="10" name="Card top accent">
            <a:extLst>
              <a:ext uri="{C183D7F6-B498-43B3-948B-1728B52AA6E4}">
                <adec:decorative xmlns:adec="http://schemas.microsoft.com/office/drawing/2017/decorative" val="1"/>
              </a:ext>
            </a:extLst>
          </p:cNvPr>
          <p:cNvSpPr/>
          <p:nvPr/>
        </p:nvSpPr>
        <p:spPr>
          <a:xfrm>
            <a:off x="2098548" y="2011680"/>
            <a:ext cx="1572768" cy="45720"/>
          </a:xfrm>
          <a:prstGeom prst="rect">
            <a:avLst/>
          </a:prstGeom>
          <a:solidFill>
            <a:srgbClr val="1F6FEB"/>
          </a:solidFill>
          <a:ln w="12700">
            <a:solidFill>
              <a:srgbClr val="1F6FEB"/>
            </a:solidFill>
            <a:prstDash val="solid"/>
          </a:ln>
        </p:spPr>
        <p:txBody>
          <a:bodyPr/>
          <a:lstStyle/>
          <a:p>
            <a:endParaRPr lang="en-US"/>
          </a:p>
        </p:txBody>
      </p:sp>
      <p:sp>
        <p:nvSpPr>
          <p:cNvPr id="11" name="Text 9"/>
          <p:cNvSpPr/>
          <p:nvPr/>
        </p:nvSpPr>
        <p:spPr>
          <a:xfrm>
            <a:off x="2235708" y="2176272"/>
            <a:ext cx="1298448" cy="274320"/>
          </a:xfrm>
          <a:prstGeom prst="rect">
            <a:avLst/>
          </a:prstGeom>
          <a:noFill/>
          <a:ln/>
        </p:spPr>
        <p:txBody>
          <a:bodyPr wrap="square" lIns="0" tIns="0" rIns="0" bIns="0" rtlCol="0" anchor="ctr"/>
          <a:lstStyle/>
          <a:p>
            <a:pPr marL="0" indent="0">
              <a:buNone/>
            </a:pPr>
            <a:r>
              <a:rPr lang="en-US" sz="1200" b="1" dirty="0">
                <a:solidFill>
                  <a:srgbClr val="8FB8ED"/>
                </a:solidFill>
                <a:latin typeface="Segoe UI" pitchFamily="34" charset="0"/>
                <a:ea typeface="Segoe UI" pitchFamily="34" charset="-122"/>
                <a:cs typeface="Segoe UI" pitchFamily="34" charset="-120"/>
              </a:rPr>
              <a:t>02</a:t>
            </a:r>
            <a:endParaRPr lang="en-US" sz="1200" dirty="0"/>
          </a:p>
        </p:txBody>
      </p:sp>
      <p:sp>
        <p:nvSpPr>
          <p:cNvPr id="12" name="Text 10"/>
          <p:cNvSpPr/>
          <p:nvPr/>
        </p:nvSpPr>
        <p:spPr>
          <a:xfrm>
            <a:off x="2235708" y="2514600"/>
            <a:ext cx="1298448" cy="685800"/>
          </a:xfrm>
          <a:prstGeom prst="rect">
            <a:avLst/>
          </a:prstGeom>
          <a:noFill/>
          <a:ln/>
        </p:spPr>
        <p:txBody>
          <a:bodyPr wrap="square" lIns="0" tIns="0" rIns="0" bIns="0" rtlCol="0" anchor="ctr"/>
          <a:lstStyle/>
          <a:p>
            <a:pPr marL="0" indent="0">
              <a:lnSpc>
                <a:spcPct val="115000"/>
              </a:lnSpc>
              <a:buNone/>
            </a:pPr>
            <a:r>
              <a:rPr lang="en-US" sz="1150" b="1" dirty="0">
                <a:solidFill>
                  <a:srgbClr val="FFFFFF"/>
                </a:solidFill>
                <a:latin typeface="Segoe UI" pitchFamily="34" charset="0"/>
                <a:ea typeface="Segoe UI" pitchFamily="34" charset="-122"/>
                <a:cs typeface="Segoe UI" pitchFamily="34" charset="-120"/>
              </a:rPr>
              <a:t>Plan before migrating</a:t>
            </a:r>
            <a:endParaRPr lang="en-US" sz="1150" dirty="0"/>
          </a:p>
        </p:txBody>
      </p:sp>
      <p:sp>
        <p:nvSpPr>
          <p:cNvPr id="13" name="Key message card">
            <a:extLst>
              <a:ext uri="{C183D7F6-B498-43B3-948B-1728B52AA6E4}">
                <adec:decorative xmlns:adec="http://schemas.microsoft.com/office/drawing/2017/decorative" val="1"/>
              </a:ext>
            </a:extLst>
          </p:cNvPr>
          <p:cNvSpPr/>
          <p:nvPr/>
        </p:nvSpPr>
        <p:spPr>
          <a:xfrm>
            <a:off x="3785616" y="2011680"/>
            <a:ext cx="1572768" cy="1325880"/>
          </a:xfrm>
          <a:prstGeom prst="rect">
            <a:avLst/>
          </a:prstGeom>
          <a:solidFill>
            <a:srgbClr val="17314F"/>
          </a:solidFill>
          <a:ln w="12700">
            <a:solidFill>
              <a:srgbClr val="2A4A70"/>
            </a:solidFill>
            <a:prstDash val="solid"/>
          </a:ln>
        </p:spPr>
        <p:txBody>
          <a:bodyPr/>
          <a:lstStyle/>
          <a:p>
            <a:endParaRPr lang="en-US"/>
          </a:p>
        </p:txBody>
      </p:sp>
      <p:sp>
        <p:nvSpPr>
          <p:cNvPr id="14" name="Card top accent">
            <a:extLst>
              <a:ext uri="{C183D7F6-B498-43B3-948B-1728B52AA6E4}">
                <adec:decorative xmlns:adec="http://schemas.microsoft.com/office/drawing/2017/decorative" val="1"/>
              </a:ext>
            </a:extLst>
          </p:cNvPr>
          <p:cNvSpPr/>
          <p:nvPr/>
        </p:nvSpPr>
        <p:spPr>
          <a:xfrm>
            <a:off x="3785616" y="2011680"/>
            <a:ext cx="1572768" cy="45720"/>
          </a:xfrm>
          <a:prstGeom prst="rect">
            <a:avLst/>
          </a:prstGeom>
          <a:solidFill>
            <a:srgbClr val="1F6FEB"/>
          </a:solidFill>
          <a:ln w="12700">
            <a:solidFill>
              <a:srgbClr val="1F6FEB"/>
            </a:solidFill>
            <a:prstDash val="solid"/>
          </a:ln>
        </p:spPr>
        <p:txBody>
          <a:bodyPr/>
          <a:lstStyle/>
          <a:p>
            <a:endParaRPr lang="en-US"/>
          </a:p>
        </p:txBody>
      </p:sp>
      <p:sp>
        <p:nvSpPr>
          <p:cNvPr id="15" name="Text 13"/>
          <p:cNvSpPr/>
          <p:nvPr/>
        </p:nvSpPr>
        <p:spPr>
          <a:xfrm>
            <a:off x="3922776" y="2176272"/>
            <a:ext cx="1298448" cy="274320"/>
          </a:xfrm>
          <a:prstGeom prst="rect">
            <a:avLst/>
          </a:prstGeom>
          <a:noFill/>
          <a:ln/>
        </p:spPr>
        <p:txBody>
          <a:bodyPr wrap="square" lIns="0" tIns="0" rIns="0" bIns="0" rtlCol="0" anchor="ctr"/>
          <a:lstStyle/>
          <a:p>
            <a:pPr marL="0" indent="0">
              <a:buNone/>
            </a:pPr>
            <a:r>
              <a:rPr lang="en-US" sz="1200" b="1" dirty="0">
                <a:solidFill>
                  <a:srgbClr val="8FB8ED"/>
                </a:solidFill>
                <a:latin typeface="Segoe UI" pitchFamily="34" charset="0"/>
                <a:ea typeface="Segoe UI" pitchFamily="34" charset="-122"/>
                <a:cs typeface="Segoe UI" pitchFamily="34" charset="-120"/>
              </a:rPr>
              <a:t>03</a:t>
            </a:r>
            <a:endParaRPr lang="en-US" sz="1200" dirty="0"/>
          </a:p>
        </p:txBody>
      </p:sp>
      <p:sp>
        <p:nvSpPr>
          <p:cNvPr id="16" name="Text 14"/>
          <p:cNvSpPr/>
          <p:nvPr/>
        </p:nvSpPr>
        <p:spPr>
          <a:xfrm>
            <a:off x="3922776" y="2514600"/>
            <a:ext cx="1298448" cy="685800"/>
          </a:xfrm>
          <a:prstGeom prst="rect">
            <a:avLst/>
          </a:prstGeom>
          <a:noFill/>
          <a:ln/>
        </p:spPr>
        <p:txBody>
          <a:bodyPr wrap="square" lIns="0" tIns="0" rIns="0" bIns="0" rtlCol="0" anchor="ctr"/>
          <a:lstStyle/>
          <a:p>
            <a:pPr marL="0" indent="0">
              <a:lnSpc>
                <a:spcPct val="115000"/>
              </a:lnSpc>
              <a:buNone/>
            </a:pPr>
            <a:r>
              <a:rPr lang="en-US" sz="1150" b="1" dirty="0">
                <a:solidFill>
                  <a:srgbClr val="FFFFFF"/>
                </a:solidFill>
                <a:latin typeface="Segoe UI" pitchFamily="34" charset="0"/>
                <a:ea typeface="Segoe UI" pitchFamily="34" charset="-122"/>
                <a:cs typeface="Segoe UI" pitchFamily="34" charset="-120"/>
              </a:rPr>
              <a:t>Validate before declaring success</a:t>
            </a:r>
            <a:endParaRPr lang="en-US" sz="1150" dirty="0"/>
          </a:p>
        </p:txBody>
      </p:sp>
      <p:sp>
        <p:nvSpPr>
          <p:cNvPr id="17" name="Key message card">
            <a:extLst>
              <a:ext uri="{C183D7F6-B498-43B3-948B-1728B52AA6E4}">
                <adec:decorative xmlns:adec="http://schemas.microsoft.com/office/drawing/2017/decorative" val="1"/>
              </a:ext>
            </a:extLst>
          </p:cNvPr>
          <p:cNvSpPr/>
          <p:nvPr/>
        </p:nvSpPr>
        <p:spPr>
          <a:xfrm>
            <a:off x="5472684" y="2011680"/>
            <a:ext cx="1572768" cy="1325880"/>
          </a:xfrm>
          <a:prstGeom prst="rect">
            <a:avLst/>
          </a:prstGeom>
          <a:solidFill>
            <a:srgbClr val="17314F"/>
          </a:solidFill>
          <a:ln w="12700">
            <a:solidFill>
              <a:srgbClr val="2A4A70"/>
            </a:solidFill>
            <a:prstDash val="solid"/>
          </a:ln>
        </p:spPr>
        <p:txBody>
          <a:bodyPr/>
          <a:lstStyle/>
          <a:p>
            <a:endParaRPr lang="en-US"/>
          </a:p>
        </p:txBody>
      </p:sp>
      <p:sp>
        <p:nvSpPr>
          <p:cNvPr id="18" name="Card top accent">
            <a:extLst>
              <a:ext uri="{C183D7F6-B498-43B3-948B-1728B52AA6E4}">
                <adec:decorative xmlns:adec="http://schemas.microsoft.com/office/drawing/2017/decorative" val="1"/>
              </a:ext>
            </a:extLst>
          </p:cNvPr>
          <p:cNvSpPr/>
          <p:nvPr/>
        </p:nvSpPr>
        <p:spPr>
          <a:xfrm>
            <a:off x="5472684" y="2011680"/>
            <a:ext cx="1572768" cy="45720"/>
          </a:xfrm>
          <a:prstGeom prst="rect">
            <a:avLst/>
          </a:prstGeom>
          <a:solidFill>
            <a:srgbClr val="1F6FEB"/>
          </a:solidFill>
          <a:ln w="12700">
            <a:solidFill>
              <a:srgbClr val="1F6FEB"/>
            </a:solidFill>
            <a:prstDash val="solid"/>
          </a:ln>
        </p:spPr>
        <p:txBody>
          <a:bodyPr/>
          <a:lstStyle/>
          <a:p>
            <a:endParaRPr lang="en-US"/>
          </a:p>
        </p:txBody>
      </p:sp>
      <p:sp>
        <p:nvSpPr>
          <p:cNvPr id="19" name="Text 17"/>
          <p:cNvSpPr/>
          <p:nvPr/>
        </p:nvSpPr>
        <p:spPr>
          <a:xfrm>
            <a:off x="5609844" y="2176272"/>
            <a:ext cx="1298448" cy="274320"/>
          </a:xfrm>
          <a:prstGeom prst="rect">
            <a:avLst/>
          </a:prstGeom>
          <a:noFill/>
          <a:ln/>
        </p:spPr>
        <p:txBody>
          <a:bodyPr wrap="square" lIns="0" tIns="0" rIns="0" bIns="0" rtlCol="0" anchor="ctr"/>
          <a:lstStyle/>
          <a:p>
            <a:pPr marL="0" indent="0">
              <a:buNone/>
            </a:pPr>
            <a:r>
              <a:rPr lang="en-US" sz="1200" b="1" dirty="0">
                <a:solidFill>
                  <a:srgbClr val="8FB8ED"/>
                </a:solidFill>
                <a:latin typeface="Segoe UI" pitchFamily="34" charset="0"/>
                <a:ea typeface="Segoe UI" pitchFamily="34" charset="-122"/>
                <a:cs typeface="Segoe UI" pitchFamily="34" charset="-120"/>
              </a:rPr>
              <a:t>04</a:t>
            </a:r>
            <a:endParaRPr lang="en-US" sz="1200" dirty="0"/>
          </a:p>
        </p:txBody>
      </p:sp>
      <p:sp>
        <p:nvSpPr>
          <p:cNvPr id="20" name="Text 18"/>
          <p:cNvSpPr/>
          <p:nvPr/>
        </p:nvSpPr>
        <p:spPr>
          <a:xfrm>
            <a:off x="5609844" y="2514600"/>
            <a:ext cx="1298448" cy="685800"/>
          </a:xfrm>
          <a:prstGeom prst="rect">
            <a:avLst/>
          </a:prstGeom>
          <a:noFill/>
          <a:ln/>
        </p:spPr>
        <p:txBody>
          <a:bodyPr wrap="square" lIns="0" tIns="0" rIns="0" bIns="0" rtlCol="0" anchor="ctr"/>
          <a:lstStyle/>
          <a:p>
            <a:pPr marL="0" indent="0">
              <a:lnSpc>
                <a:spcPct val="115000"/>
              </a:lnSpc>
              <a:buNone/>
            </a:pPr>
            <a:r>
              <a:rPr lang="en-US" sz="1150" b="1" dirty="0">
                <a:solidFill>
                  <a:srgbClr val="FFFFFF"/>
                </a:solidFill>
                <a:latin typeface="Segoe UI" pitchFamily="34" charset="0"/>
                <a:ea typeface="Segoe UI" pitchFamily="34" charset="-122"/>
                <a:cs typeface="Segoe UI" pitchFamily="34" charset="-120"/>
              </a:rPr>
              <a:t>Preserve business behavior</a:t>
            </a:r>
            <a:endParaRPr lang="en-US" sz="1150" dirty="0"/>
          </a:p>
        </p:txBody>
      </p:sp>
      <p:sp>
        <p:nvSpPr>
          <p:cNvPr id="21" name="Key message card">
            <a:extLst>
              <a:ext uri="{C183D7F6-B498-43B3-948B-1728B52AA6E4}">
                <adec:decorative xmlns:adec="http://schemas.microsoft.com/office/drawing/2017/decorative" val="1"/>
              </a:ext>
            </a:extLst>
          </p:cNvPr>
          <p:cNvSpPr/>
          <p:nvPr/>
        </p:nvSpPr>
        <p:spPr>
          <a:xfrm>
            <a:off x="7159752" y="2011680"/>
            <a:ext cx="1572768" cy="1325880"/>
          </a:xfrm>
          <a:prstGeom prst="rect">
            <a:avLst/>
          </a:prstGeom>
          <a:solidFill>
            <a:srgbClr val="17314F"/>
          </a:solidFill>
          <a:ln w="12700">
            <a:solidFill>
              <a:srgbClr val="2A4A70"/>
            </a:solidFill>
            <a:prstDash val="solid"/>
          </a:ln>
        </p:spPr>
        <p:txBody>
          <a:bodyPr/>
          <a:lstStyle/>
          <a:p>
            <a:endParaRPr lang="en-US"/>
          </a:p>
        </p:txBody>
      </p:sp>
      <p:sp>
        <p:nvSpPr>
          <p:cNvPr id="22" name="Card top accent">
            <a:extLst>
              <a:ext uri="{C183D7F6-B498-43B3-948B-1728B52AA6E4}">
                <adec:decorative xmlns:adec="http://schemas.microsoft.com/office/drawing/2017/decorative" val="1"/>
              </a:ext>
            </a:extLst>
          </p:cNvPr>
          <p:cNvSpPr/>
          <p:nvPr/>
        </p:nvSpPr>
        <p:spPr>
          <a:xfrm>
            <a:off x="7159752" y="2011680"/>
            <a:ext cx="1572768" cy="45720"/>
          </a:xfrm>
          <a:prstGeom prst="rect">
            <a:avLst/>
          </a:prstGeom>
          <a:solidFill>
            <a:srgbClr val="1F6FEB"/>
          </a:solidFill>
          <a:ln w="12700">
            <a:solidFill>
              <a:srgbClr val="1F6FEB"/>
            </a:solidFill>
            <a:prstDash val="solid"/>
          </a:ln>
        </p:spPr>
        <p:txBody>
          <a:bodyPr/>
          <a:lstStyle/>
          <a:p>
            <a:endParaRPr lang="en-US"/>
          </a:p>
        </p:txBody>
      </p:sp>
      <p:sp>
        <p:nvSpPr>
          <p:cNvPr id="23" name="Text 21"/>
          <p:cNvSpPr/>
          <p:nvPr/>
        </p:nvSpPr>
        <p:spPr>
          <a:xfrm>
            <a:off x="7296912" y="2176272"/>
            <a:ext cx="1298448" cy="274320"/>
          </a:xfrm>
          <a:prstGeom prst="rect">
            <a:avLst/>
          </a:prstGeom>
          <a:noFill/>
          <a:ln/>
        </p:spPr>
        <p:txBody>
          <a:bodyPr wrap="square" lIns="0" tIns="0" rIns="0" bIns="0" rtlCol="0" anchor="ctr"/>
          <a:lstStyle/>
          <a:p>
            <a:pPr marL="0" indent="0">
              <a:buNone/>
            </a:pPr>
            <a:r>
              <a:rPr lang="en-US" sz="1200" b="1" dirty="0">
                <a:solidFill>
                  <a:srgbClr val="8FB8ED"/>
                </a:solidFill>
                <a:latin typeface="Segoe UI" pitchFamily="34" charset="0"/>
                <a:ea typeface="Segoe UI" pitchFamily="34" charset="-122"/>
                <a:cs typeface="Segoe UI" pitchFamily="34" charset="-120"/>
              </a:rPr>
              <a:t>05</a:t>
            </a:r>
            <a:endParaRPr lang="en-US" sz="1200" dirty="0"/>
          </a:p>
        </p:txBody>
      </p:sp>
      <p:sp>
        <p:nvSpPr>
          <p:cNvPr id="24" name="Text 22"/>
          <p:cNvSpPr/>
          <p:nvPr/>
        </p:nvSpPr>
        <p:spPr>
          <a:xfrm>
            <a:off x="7296912" y="2514600"/>
            <a:ext cx="1298448" cy="685800"/>
          </a:xfrm>
          <a:prstGeom prst="rect">
            <a:avLst/>
          </a:prstGeom>
          <a:noFill/>
          <a:ln/>
        </p:spPr>
        <p:txBody>
          <a:bodyPr wrap="square" lIns="0" tIns="0" rIns="0" bIns="0" rtlCol="0" anchor="ctr"/>
          <a:lstStyle/>
          <a:p>
            <a:pPr marL="0" indent="0">
              <a:lnSpc>
                <a:spcPct val="115000"/>
              </a:lnSpc>
              <a:buNone/>
            </a:pPr>
            <a:r>
              <a:rPr lang="en-US" sz="1150" b="1" dirty="0">
                <a:solidFill>
                  <a:srgbClr val="FFFFFF"/>
                </a:solidFill>
                <a:latin typeface="Segoe UI" pitchFamily="34" charset="0"/>
                <a:ea typeface="Segoe UI" pitchFamily="34" charset="-122"/>
                <a:cs typeface="Segoe UI" pitchFamily="34" charset="-120"/>
              </a:rPr>
              <a:t>Enable plug-and-play capabilities</a:t>
            </a:r>
            <a:endParaRPr lang="en-US" sz="1150" dirty="0"/>
          </a:p>
        </p:txBody>
      </p:sp>
      <p:sp>
        <p:nvSpPr>
          <p:cNvPr id="25" name="Divider">
            <a:extLst>
              <a:ext uri="{C183D7F6-B498-43B3-948B-1728B52AA6E4}">
                <adec:decorative xmlns:adec="http://schemas.microsoft.com/office/drawing/2017/decorative" val="1"/>
              </a:ext>
            </a:extLst>
          </p:cNvPr>
          <p:cNvSpPr/>
          <p:nvPr/>
        </p:nvSpPr>
        <p:spPr>
          <a:xfrm>
            <a:off x="411480" y="3767328"/>
            <a:ext cx="8321040" cy="0"/>
          </a:xfrm>
          <a:prstGeom prst="line">
            <a:avLst/>
          </a:prstGeom>
          <a:noFill/>
          <a:ln w="12700">
            <a:solidFill>
              <a:srgbClr val="2A4A70"/>
            </a:solidFill>
            <a:prstDash val="solid"/>
          </a:ln>
        </p:spPr>
        <p:txBody>
          <a:bodyPr/>
          <a:lstStyle/>
          <a:p>
            <a:endParaRPr lang="en-US"/>
          </a:p>
        </p:txBody>
      </p:sp>
      <p:sp>
        <p:nvSpPr>
          <p:cNvPr id="26" name="Text 24"/>
          <p:cNvSpPr/>
          <p:nvPr/>
        </p:nvSpPr>
        <p:spPr>
          <a:xfrm>
            <a:off x="411480" y="3977640"/>
            <a:ext cx="8321040" cy="548640"/>
          </a:xfrm>
          <a:prstGeom prst="rect">
            <a:avLst/>
          </a:prstGeom>
          <a:noFill/>
          <a:ln/>
        </p:spPr>
        <p:txBody>
          <a:bodyPr wrap="square" lIns="0" tIns="0" rIns="0" bIns="0" rtlCol="0" anchor="ctr"/>
          <a:lstStyle/>
          <a:p>
            <a:pPr marL="0" indent="0" algn="ctr">
              <a:buNone/>
            </a:pPr>
            <a:r>
              <a:rPr lang="en-US" sz="1800" b="1" i="1" dirty="0">
                <a:solidFill>
                  <a:srgbClr val="9DC2F5"/>
                </a:solidFill>
                <a:latin typeface="Segoe UI" pitchFamily="34" charset="0"/>
                <a:ea typeface="Segoe UI" pitchFamily="34" charset="-122"/>
                <a:cs typeface="Segoe UI" pitchFamily="34" charset="-120"/>
              </a:rPr>
              <a:t>“From legacy code understanding to validated modernization.”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2375</Words>
  <Application>Microsoft Office PowerPoint</Application>
  <PresentationFormat>On-screen Show (16:9)</PresentationFormat>
  <Paragraphs>321</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Saxena, Poorva</dc:creator>
  <cp:lastModifiedBy>Saxena, Poorva</cp:lastModifiedBy>
  <cp:revision>1</cp:revision>
  <dcterms:created xsi:type="dcterms:W3CDTF">2026-09-21T08:21:50Z</dcterms:created>
  <dcterms:modified xsi:type="dcterms:W3CDTF">2026-09-21T08:29:12Z</dcterms:modified>
</cp:coreProperties>
</file>